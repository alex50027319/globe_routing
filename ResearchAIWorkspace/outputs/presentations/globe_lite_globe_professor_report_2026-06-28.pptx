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20a840f0234764" /><Relationship Type="http://schemas.openxmlformats.org/officeDocument/2006/relationships/extended-properties" Target="/docProps/app.xml" Id="Ree5e9d5afe9744b9" /><Relationship Type="http://schemas.openxmlformats.org/officeDocument/2006/relationships/officeDocument" Target="/ppt/presentation.xml" Id="R8af17a304f1f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5a58d7fa54052"/>
  </p:sldMasterIdLst>
  <p:notesMasterIdLst>
    <p:notesMasterId xmlns:r="http://schemas.openxmlformats.org/officeDocument/2006/relationships" r:id="R4533592460024953"/>
  </p:notesMasterIdLst>
  <p:sldIdLst>
    <p:sldId xmlns:r="http://schemas.openxmlformats.org/officeDocument/2006/relationships" id="256" r:id="R76f216c1ca8642e6"/>
    <p:sldId xmlns:r="http://schemas.openxmlformats.org/officeDocument/2006/relationships" id="257" r:id="R2134e04ce32a4970"/>
    <p:sldId xmlns:r="http://schemas.openxmlformats.org/officeDocument/2006/relationships" id="258" r:id="R2b5c407861764857"/>
    <p:sldId xmlns:r="http://schemas.openxmlformats.org/officeDocument/2006/relationships" id="259" r:id="Rde8d0f1817964028"/>
    <p:sldId xmlns:r="http://schemas.openxmlformats.org/officeDocument/2006/relationships" id="260" r:id="Redb487a61f834339"/>
    <p:sldId xmlns:r="http://schemas.openxmlformats.org/officeDocument/2006/relationships" id="261" r:id="Re6668c762a834f16"/>
    <p:sldId xmlns:r="http://schemas.openxmlformats.org/officeDocument/2006/relationships" id="262" r:id="Rda6edc8c933142ea"/>
    <p:sldId xmlns:r="http://schemas.openxmlformats.org/officeDocument/2006/relationships" id="263" r:id="R251028a4d7cd417f"/>
    <p:sldId xmlns:r="http://schemas.openxmlformats.org/officeDocument/2006/relationships" id="264" r:id="Rb8a5fe0aa41d4951"/>
    <p:sldId xmlns:r="http://schemas.openxmlformats.org/officeDocument/2006/relationships" id="265" r:id="R0a4681bace0a478e"/>
    <p:sldId xmlns:r="http://schemas.openxmlformats.org/officeDocument/2006/relationships" id="266" r:id="R4bb3194fb5ea415c"/>
    <p:sldId xmlns:r="http://schemas.openxmlformats.org/officeDocument/2006/relationships" id="267" r:id="R536caa42c7e64b3b"/>
    <p:sldId xmlns:r="http://schemas.openxmlformats.org/officeDocument/2006/relationships" id="268" r:id="R068bd9f532994e76"/>
    <p:sldId xmlns:r="http://schemas.openxmlformats.org/officeDocument/2006/relationships" id="269" r:id="R6b6acc73e66e4d57"/>
    <p:sldId xmlns:r="http://schemas.openxmlformats.org/officeDocument/2006/relationships" id="270" r:id="R402d1215fcf3486e"/>
    <p:sldId xmlns:r="http://schemas.openxmlformats.org/officeDocument/2006/relationships" id="271" r:id="Rdb475623817042c5"/>
    <p:sldId xmlns:r="http://schemas.openxmlformats.org/officeDocument/2006/relationships" id="272" r:id="R95651a6fc33742e2"/>
    <p:sldId xmlns:r="http://schemas.openxmlformats.org/officeDocument/2006/relationships" id="273" r:id="Rccbcd5db35c04f07"/>
    <p:sldId xmlns:r="http://schemas.openxmlformats.org/officeDocument/2006/relationships" id="274" r:id="Reae77cbe5d9a4b31"/>
    <p:sldId xmlns:r="http://schemas.openxmlformats.org/officeDocument/2006/relationships" id="275" r:id="Rce95c143a26343c0"/>
    <p:sldId xmlns:r="http://schemas.openxmlformats.org/officeDocument/2006/relationships" id="276" r:id="R382eb2366dac4f51"/>
    <p:sldId xmlns:r="http://schemas.openxmlformats.org/officeDocument/2006/relationships" id="277" r:id="Rdad503bf83974cb0"/>
    <p:sldId xmlns:r="http://schemas.openxmlformats.org/officeDocument/2006/relationships" id="278" r:id="R27f044409ea24638"/>
    <p:sldId xmlns:r="http://schemas.openxmlformats.org/officeDocument/2006/relationships" id="279" r:id="Rf914c5d29f074c73"/>
    <p:sldId xmlns:r="http://schemas.openxmlformats.org/officeDocument/2006/relationships" id="280" r:id="R637ff93e4c414fa7"/>
    <p:sldId xmlns:r="http://schemas.openxmlformats.org/officeDocument/2006/relationships" id="281" r:id="Rdec09c9a7aeb4e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d54ef794f74f32" /><Relationship Type="http://schemas.openxmlformats.org/officeDocument/2006/relationships/slideMaster" Target="/ppt/slideMasters/slideMaster1.xml" Id="Rd8a5a58d7fa54052" /><Relationship Type="http://schemas.openxmlformats.org/officeDocument/2006/relationships/notesMaster" Target="/ppt/notesMasters/notesMaster1.xml" Id="R4533592460024953" /><Relationship Type="http://schemas.openxmlformats.org/officeDocument/2006/relationships/presProps" Target="/ppt/presProps.xml" Id="R1c5d92604faa460f" /><Relationship Type="http://schemas.openxmlformats.org/officeDocument/2006/relationships/tableStyles" Target="/ppt/tableStyles.xml" Id="Rb5e57fabc06a4fb9" /><Relationship Type="http://schemas.openxmlformats.org/officeDocument/2006/relationships/slide" Target="/ppt/slides/slide1.xml" Id="R76f216c1ca8642e6" /><Relationship Type="http://schemas.openxmlformats.org/officeDocument/2006/relationships/slide" Target="/ppt/slides/slide2.xml" Id="R2134e04ce32a4970" /><Relationship Type="http://schemas.openxmlformats.org/officeDocument/2006/relationships/slide" Target="/ppt/slides/slide3.xml" Id="R2b5c407861764857" /><Relationship Type="http://schemas.openxmlformats.org/officeDocument/2006/relationships/slide" Target="/ppt/slides/slide4.xml" Id="Rde8d0f1817964028" /><Relationship Type="http://schemas.openxmlformats.org/officeDocument/2006/relationships/slide" Target="/ppt/slides/slide5.xml" Id="Redb487a61f834339" /><Relationship Type="http://schemas.openxmlformats.org/officeDocument/2006/relationships/slide" Target="/ppt/slides/slide6.xml" Id="Re6668c762a834f16" /><Relationship Type="http://schemas.openxmlformats.org/officeDocument/2006/relationships/slide" Target="/ppt/slides/slide7.xml" Id="Rda6edc8c933142ea" /><Relationship Type="http://schemas.openxmlformats.org/officeDocument/2006/relationships/slide" Target="/ppt/slides/slide8.xml" Id="R251028a4d7cd417f" /><Relationship Type="http://schemas.openxmlformats.org/officeDocument/2006/relationships/slide" Target="/ppt/slides/slide9.xml" Id="Rb8a5fe0aa41d4951" /><Relationship Type="http://schemas.openxmlformats.org/officeDocument/2006/relationships/slide" Target="/ppt/slides/slide10.xml" Id="R0a4681bace0a478e" /><Relationship Type="http://schemas.openxmlformats.org/officeDocument/2006/relationships/slide" Target="/ppt/slides/slide11.xml" Id="R4bb3194fb5ea415c" /><Relationship Type="http://schemas.openxmlformats.org/officeDocument/2006/relationships/slide" Target="/ppt/slides/slide12.xml" Id="R536caa42c7e64b3b" /><Relationship Type="http://schemas.openxmlformats.org/officeDocument/2006/relationships/slide" Target="/ppt/slides/slide13.xml" Id="R068bd9f532994e76" /><Relationship Type="http://schemas.openxmlformats.org/officeDocument/2006/relationships/slide" Target="/ppt/slides/slide14.xml" Id="R6b6acc73e66e4d57" /><Relationship Type="http://schemas.openxmlformats.org/officeDocument/2006/relationships/slide" Target="/ppt/slides/slide15.xml" Id="R402d1215fcf3486e" /><Relationship Type="http://schemas.openxmlformats.org/officeDocument/2006/relationships/slide" Target="/ppt/slides/slide16.xml" Id="Rdb475623817042c5" /><Relationship Type="http://schemas.openxmlformats.org/officeDocument/2006/relationships/slide" Target="/ppt/slides/slide17.xml" Id="R95651a6fc33742e2" /><Relationship Type="http://schemas.openxmlformats.org/officeDocument/2006/relationships/slide" Target="/ppt/slides/slide18.xml" Id="Rccbcd5db35c04f07" /><Relationship Type="http://schemas.openxmlformats.org/officeDocument/2006/relationships/slide" Target="/ppt/slides/slide19.xml" Id="Reae77cbe5d9a4b31" /><Relationship Type="http://schemas.openxmlformats.org/officeDocument/2006/relationships/slide" Target="/ppt/slides/slide20.xml" Id="Rce95c143a26343c0" /><Relationship Type="http://schemas.openxmlformats.org/officeDocument/2006/relationships/slide" Target="/ppt/slides/slide21.xml" Id="R382eb2366dac4f51" /><Relationship Type="http://schemas.openxmlformats.org/officeDocument/2006/relationships/slide" Target="/ppt/slides/slide22.xml" Id="Rdad503bf83974cb0" /><Relationship Type="http://schemas.openxmlformats.org/officeDocument/2006/relationships/slide" Target="/ppt/slides/slide23.xml" Id="R27f044409ea24638" /><Relationship Type="http://schemas.openxmlformats.org/officeDocument/2006/relationships/slide" Target="/ppt/slides/slide24.xml" Id="Rf914c5d29f074c73" /><Relationship Type="http://schemas.openxmlformats.org/officeDocument/2006/relationships/slide" Target="/ppt/slides/slide25.xml" Id="R637ff93e4c414fa7" /><Relationship Type="http://schemas.openxmlformats.org/officeDocument/2006/relationships/slide" Target="/ppt/slides/slide26.xml" Id="Rdec09c9a7aeb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8ac2fea1b849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1b82b5ce646fc" /><Relationship Type="http://schemas.openxmlformats.org/officeDocument/2006/relationships/notesMaster" Target="/ppt/notesMasters/notesMaster1.xml" Id="Reaa79aa3157540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bb3e2ebff34042" /><Relationship Type="http://schemas.openxmlformats.org/officeDocument/2006/relationships/notesMaster" Target="/ppt/notesMasters/notesMaster1.xml" Id="R481b984594be45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eefad5024a4254" /><Relationship Type="http://schemas.openxmlformats.org/officeDocument/2006/relationships/notesMaster" Target="/ppt/notesMasters/notesMaster1.xml" Id="R369073793f0f4c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0031b39104488e" /><Relationship Type="http://schemas.openxmlformats.org/officeDocument/2006/relationships/notesMaster" Target="/ppt/notesMasters/notesMaster1.xml" Id="Redfbc5ea269146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a7e07d25644d9c" /><Relationship Type="http://schemas.openxmlformats.org/officeDocument/2006/relationships/notesMaster" Target="/ppt/notesMasters/notesMaster1.xml" Id="R760e0e41a4b641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cc018fbd12470a" /><Relationship Type="http://schemas.openxmlformats.org/officeDocument/2006/relationships/notesMaster" Target="/ppt/notesMasters/notesMaster1.xml" Id="R6056e99d496242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4bd10f81db4cd6" /><Relationship Type="http://schemas.openxmlformats.org/officeDocument/2006/relationships/notesMaster" Target="/ppt/notesMasters/notesMaster1.xml" Id="Rd656fe75f42c42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49137988bc4691" /><Relationship Type="http://schemas.openxmlformats.org/officeDocument/2006/relationships/notesMaster" Target="/ppt/notesMasters/notesMaster1.xml" Id="R71d1dd8b21a949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37701f1c6c486e" /><Relationship Type="http://schemas.openxmlformats.org/officeDocument/2006/relationships/notesMaster" Target="/ppt/notesMasters/notesMaster1.xml" Id="R2c683114fb7d43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f3181522d54827" /><Relationship Type="http://schemas.openxmlformats.org/officeDocument/2006/relationships/notesMaster" Target="/ppt/notesMasters/notesMaster1.xml" Id="R5b25e32febd84f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8ddd24e74e4caf" /><Relationship Type="http://schemas.openxmlformats.org/officeDocument/2006/relationships/notesMaster" Target="/ppt/notesMasters/notesMaster1.xml" Id="R3a39321f0ec847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ac6991275d4a8e" /><Relationship Type="http://schemas.openxmlformats.org/officeDocument/2006/relationships/notesMaster" Target="/ppt/notesMasters/notesMaster1.xml" Id="R11aa52d296c340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fcac8be6274369" /><Relationship Type="http://schemas.openxmlformats.org/officeDocument/2006/relationships/notesMaster" Target="/ppt/notesMasters/notesMaster1.xml" Id="Rb0d8f89d8d7a42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56812ad66a4cd9" /><Relationship Type="http://schemas.openxmlformats.org/officeDocument/2006/relationships/notesMaster" Target="/ppt/notesMasters/notesMaster1.xml" Id="R1749410bfa9445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0c5e42430b47a7" /><Relationship Type="http://schemas.openxmlformats.org/officeDocument/2006/relationships/notesMaster" Target="/ppt/notesMasters/notesMaster1.xml" Id="Rc79ee7cbcf5241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03e57b57754b1f" /><Relationship Type="http://schemas.openxmlformats.org/officeDocument/2006/relationships/notesMaster" Target="/ppt/notesMasters/notesMaster1.xml" Id="R3374ead8a51240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f2b09d6d4046db" /><Relationship Type="http://schemas.openxmlformats.org/officeDocument/2006/relationships/notesMaster" Target="/ppt/notesMasters/notesMaster1.xml" Id="R3efc9c53036b47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46830f0e9f4e76" /><Relationship Type="http://schemas.openxmlformats.org/officeDocument/2006/relationships/notesMaster" Target="/ppt/notesMasters/notesMaster1.xml" Id="Rd1d6af3b33d84a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e329b5069243b2" /><Relationship Type="http://schemas.openxmlformats.org/officeDocument/2006/relationships/notesMaster" Target="/ppt/notesMasters/notesMaster1.xml" Id="R319daffd32b8466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caa0e695b143dc" /><Relationship Type="http://schemas.openxmlformats.org/officeDocument/2006/relationships/notesMaster" Target="/ppt/notesMasters/notesMaster1.xml" Id="R1e7c3d8c2c244d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7fe1c559cd464e" /><Relationship Type="http://schemas.openxmlformats.org/officeDocument/2006/relationships/notesMaster" Target="/ppt/notesMasters/notesMaster1.xml" Id="Ra4cf0956cc3842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39e288e7e14ab3" /><Relationship Type="http://schemas.openxmlformats.org/officeDocument/2006/relationships/notesMaster" Target="/ppt/notesMasters/notesMaster1.xml" Id="Rd584a0ba97504c6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fe2a2b1949f45ec" /><Relationship Type="http://schemas.openxmlformats.org/officeDocument/2006/relationships/notesMaster" Target="/ppt/notesMasters/notesMaster1.xml" Id="R1b3a068290934e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067268303e0457b" /><Relationship Type="http://schemas.openxmlformats.org/officeDocument/2006/relationships/notesMaster" Target="/ppt/notesMasters/notesMaster1.xml" Id="R9ae0c14ce9644c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d7e00eb9484de6" /><Relationship Type="http://schemas.openxmlformats.org/officeDocument/2006/relationships/notesMaster" Target="/ppt/notesMasters/notesMaster1.xml" Id="Rf1c21033fbd74e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061de0baf9e41da" /><Relationship Type="http://schemas.openxmlformats.org/officeDocument/2006/relationships/notesMaster" Target="/ppt/notesMasters/notesMaster1.xml" Id="R72360b8f067d43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장에서는 연구를 한 문장으로 정리합니다. 이 연구는 UAV 군집망에서 전역 정보가 없어도 지역 노드가 안정적으로 다음 홉을 선택하도록 만드는 경량 라우팅 알고리즘입니다.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교수님께는 결론부터 제시하는 것이 좋습니다. Phase12 기준으로 제안기법은 GPSR보다 확실히 개선되었고, 외부 baseline과 비교해도 평균 PDR과 deadline에서 경쟁력이 있습니다. 다만 Phase13은 아직 전체 검증 전이라는 점을 투명하게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문제 정의입니다. UAV는 움직임 때문에 네트워크 토폴로지가 계속 바뀌고, 각 노드는 전체 네트워크가 아니라 주변 이웃만 압니다. 그래서 가장 가까운 노드로만 보내는 정책은 보기에는 단순하지만 routing-hole과 링크 단절에 취약합니다.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연구와 겹치지 않는 언어가 중요합니다. GPSR은 baseline, Evo-QGeo는 예측 링크 baseline, DRAMA는 실행 중 통신 baseline으로 두고, 우리 차별점은 학습 시 전역 지식과 실행 시 지역 정책의 분리라고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novelty 문장입니다. 기존 MARL이나 CTDE와 겹치지 않게, 전역 정보는 학습에만 쓰고 실제 라우팅은 지역 feature만 쓴다는 점을 분명히 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환경 설명은 짧고 명확하게 갑니다. 이 연구는 통신 반경 기반 UAV 네트워크에서 next-hop을 고르는 문제이며, 성능은 전달률뿐 아니라 deadline, delay, energy, 입력 바이트까지 같이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진화 과정을 한눈에 보여줍니다. Phase8은 구조적으로 강했고, Phase9는 위험 feature의 필요성을 보여줬지만 불안정했습니다. Phase11/12에서 risk-switch 구조로 정리했고, Phase13은 그 약점을 더 보완하는 단계입니다.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장에서는 교사-학생 구조를 설명합니다. 교사는 전체 그래프를 보고 좋은 next-hop 분포를 만들고, 학생은 그 판단을 학습하지만 실제 deployment에서는 주변 이웃 정보만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 슬라이드입니다. 그래프 G_t는 시간에 따라 링크가 바뀌고, 현재 패킷을 가진 노드 u_t는 1-hop 이웃 또는 DROP 중 하나를 선택합니다. 핵심 제약은 실행 시 전체 그래프를 보지 않는다는 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학습 목적함수입니다. KL divergence로 교사의 후보별 선호 분포를 학생에게 전달합니다. 이것은 단순 imitation보다 풍부합니다. 후보 A가 가장 좋고 B가 두 번째라는 상대적 정보를 함께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후보 점수식 설명입니다. S_PG는 GPSR의 장점인 목적지 방향성을 살리면서, forwarding 가능성, 링크 margin, lifetime, queue, onward lifetime을 합친 prior입니다. 그 위에 학습 residual을 더하되 tanh로 영향력을 제한하고, 위험 gate penalty로 곧 끊길 링크를 강하게 낮춥니다.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Risk-Switch의 상세 슬라이드입니다. 핵심은 predictive branch가 다르다고 무조건 바꾸는 것이 아니라, normal 후보가 위험하거나 predictive 후보가 충분히 더 안전할 때만 바꾸는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pseudo-code보다 더 발표 친화적인 알고리즘 흐름입니다. 후보 생성, feature 계산, normal 후보, predictive 후보, switch 결정의 5단계로 설명하면 교수님이 전체 구조를 빠르게 이해할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실행 알고리즘입니다. 각 hop마다 후보 이웃의 진행도, 링크 안정성, 큐, onward 안정성, 에너지 효율을 계산하고 normal branch와 predictive branch 중 안전한 선택을 고릅니다. 복잡도는 후보 수에 선형이며 실행 시 전역 그래프가 필요 없습니다.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질문 대비용입니다. 수식에 등장하는 변수의 의미를 한 번에 보여줍니다. 특히 각 값이 높을수록 어떤 의미인지 직관적으로 설명하면 교수님이 알고리즘을 빠르게 이해할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수식은 어렵게 보이지 않게 변수 의미를 같이 풀어줍니다. m은 링크 여유, l은 링크 수명, o는 다음 홉 이후의 길, rho는 후보 경로의 중복성입니다.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Risk-switch는 핵심입니다. 현재 후보가 DROP이거나 위험 점수가 높거나, 예측 후보가 충분히 더 안전할 때만 바꿉니다. 이렇게 해야 무조건 복잡한 정책보다 안정적입니다.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Phase13은 교수님께 '최종 후보'라고 말해야 합니다. 아직 full run 전이지만, 설계 방향은 명확합니다. 예측 단절을 피하면서도 불필요한 switch와 energy 낭비를 줄이는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 설명은 간결하게 합니다. Phase12에서 Risk-Switch는 GPSR보다 확실히 좋고, Predictive Geographic/Evo-QGeo/DRAMA와 비교해도 평균 PDR이 근소하게 더 높습니다.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표에서는 강점과 약점을 같이 말합니다. Risk-Switch는 PDR과 deadline이 좋고 DRAMA보다 제어 바이트가 낮지만, energy는 DRAMA보다 약간 좋지 않으므로 P+에서 개선 중이라고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교수님이 물을 가능성이 높은 부분입니다. 전체 평균만 좋다고 하지 말고, routing-hole에서는 강하고 predictive-break 일부 조건에서는 아직 Evo-QGeo가 강한 케이스가 있다고 말해야 합니다. 이 약점이 Phase13의 동기입니다.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 baseline의 역할을 설명합니다. GPSR만 이기면 약하므로 Evo-QGeo, IQMR, DRAMA를 넣었습니다. 다만 원 논문을 완전 재현했다고 과장하지 않는 것이 중요합니다.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기존 결과 그래프를 그대로 보여주는 장입니다. 말로만 설명하는 것보다 Phase12 결과가 이미 시각화되어 있다는 점을 보여줄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교수님께 신뢰를 주는 장입니다. 강한 주장은 명확히 하되, 실제 장비나 MAC 계층까지 검증한 것은 아니라고 선을 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계획은 실험의 우선순위를 제시합니다. Phase13 full run, ablation, overhead, stress test, manuscript 반영 순서로 가면 교수님께도 연구가 체계적으로 진행 중이라는 인상을 줄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마지막은 한 문장 메시지로 마무리합니다. 교수님께는 이 연구가 단순 성능 튜닝이 아니라, 지역 실행 가능한 위험회피 라우팅 알고리즘으로 정리되고 있다고 보고하면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f97deb9704f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ff04aee3814bf1" /><Relationship Type="http://schemas.openxmlformats.org/officeDocument/2006/relationships/slideLayout" Target="/ppt/slideLayouts/slideLayout1.xml" Id="Rb1d9bbec8f6c41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d9bbec8f6c41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ef2fc4c86408b" /><Relationship Type="http://schemas.openxmlformats.org/officeDocument/2006/relationships/notesSlide" Target="/ppt/notesSlides/notesSlide1.xml" Id="Ra95a264f1dcd46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2ba76e61e4c00" /><Relationship Type="http://schemas.openxmlformats.org/officeDocument/2006/relationships/notesSlide" Target="/ppt/notesSlides/notesSlide2.xml" Id="Rbcb28adc841847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fc1130bff42b1" /><Relationship Type="http://schemas.openxmlformats.org/officeDocument/2006/relationships/notesSlide" Target="/ppt/notesSlides/notesSlide3.xml" Id="R9253960b0ae64f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04f8d2a974fcf" /><Relationship Type="http://schemas.openxmlformats.org/officeDocument/2006/relationships/notesSlide" Target="/ppt/notesSlides/notesSlide4.xml" Id="R98a1a90938e342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cb872b50a40e0" /><Relationship Type="http://schemas.openxmlformats.org/officeDocument/2006/relationships/notesSlide" Target="/ppt/notesSlides/notesSlide5.xml" Id="R3f843e6d78424d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ad8a551394e43" /><Relationship Type="http://schemas.openxmlformats.org/officeDocument/2006/relationships/notesSlide" Target="/ppt/notesSlides/notesSlide6.xml" Id="R30769bd6fffb48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474da644e44dd" /><Relationship Type="http://schemas.openxmlformats.org/officeDocument/2006/relationships/notesSlide" Target="/ppt/notesSlides/notesSlide7.xml" Id="R3e2090e347e94a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e2e67a90c47a5" /><Relationship Type="http://schemas.openxmlformats.org/officeDocument/2006/relationships/notesSlide" Target="/ppt/notesSlides/notesSlide8.xml" Id="Rc52cb95cbde14a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3a3e2cf394d5b" /><Relationship Type="http://schemas.openxmlformats.org/officeDocument/2006/relationships/notesSlide" Target="/ppt/notesSlides/notesSlide9.xml" Id="R4f149e7ffc8649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56ead90be4db5" /><Relationship Type="http://schemas.openxmlformats.org/officeDocument/2006/relationships/notesSlide" Target="/ppt/notesSlides/notesSlide10.xml" Id="R2a935b68ae7942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5626ddadf4585" /><Relationship Type="http://schemas.openxmlformats.org/officeDocument/2006/relationships/notesSlide" Target="/ppt/notesSlides/notesSlide11.xml" Id="Rdbf5af27584746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f34e98ad547fd" /><Relationship Type="http://schemas.openxmlformats.org/officeDocument/2006/relationships/notesSlide" Target="/ppt/notesSlides/notesSlide12.xml" Id="R95fddd2970b441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1b46daa3347a5" /><Relationship Type="http://schemas.openxmlformats.org/officeDocument/2006/relationships/notesSlide" Target="/ppt/notesSlides/notesSlide13.xml" Id="R35dcf040b01b42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7eaf6386846eb" /><Relationship Type="http://schemas.openxmlformats.org/officeDocument/2006/relationships/notesSlide" Target="/ppt/notesSlides/notesSlide14.xml" Id="R273577a757254b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ce7c7fb4148f0" /><Relationship Type="http://schemas.openxmlformats.org/officeDocument/2006/relationships/notesSlide" Target="/ppt/notesSlides/notesSlide15.xml" Id="R4aa1195a3d934d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da3fcdc01470b" /><Relationship Type="http://schemas.openxmlformats.org/officeDocument/2006/relationships/notesSlide" Target="/ppt/notesSlides/notesSlide16.xml" Id="Re66f2d47553147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fa3752a7c4e8c" /><Relationship Type="http://schemas.openxmlformats.org/officeDocument/2006/relationships/notesSlide" Target="/ppt/notesSlides/notesSlide17.xml" Id="Re0594d4e1b5c44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db267a5a14242" /><Relationship Type="http://schemas.openxmlformats.org/officeDocument/2006/relationships/notesSlide" Target="/ppt/notesSlides/notesSlide18.xml" Id="R95945869f79547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688d754ba43fd" /><Relationship Type="http://schemas.openxmlformats.org/officeDocument/2006/relationships/chart" Target="/ppt/slides/charts/chart1.xml" Id="R6b579182ade64602" /><Relationship Type="http://schemas.openxmlformats.org/officeDocument/2006/relationships/chart" Target="/ppt/slides/charts/chart2.xml" Id="R5cee66ae066d4c6c" /><Relationship Type="http://schemas.openxmlformats.org/officeDocument/2006/relationships/notesSlide" Target="/ppt/notesSlides/notesSlide19.xml" Id="Rbabc77a7cf924e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482288b804ae8" /><Relationship Type="http://schemas.openxmlformats.org/officeDocument/2006/relationships/notesSlide" Target="/ppt/notesSlides/notesSlide20.xml" Id="R15a1abdf608141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174ba895c459a" /><Relationship Type="http://schemas.openxmlformats.org/officeDocument/2006/relationships/notesSlide" Target="/ppt/notesSlides/notesSlide21.xml" Id="Rd5b2250ade8e4a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2c9ce42264c57" /><Relationship Type="http://schemas.openxmlformats.org/officeDocument/2006/relationships/notesSlide" Target="/ppt/notesSlides/notesSlide22.xml" Id="Re5c635509df4427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81e1e5cf94bca" /><Relationship Type="http://schemas.openxmlformats.org/officeDocument/2006/relationships/image" Target="/ppt/media/image.png" Id="R5282437941d743e8" /><Relationship Type="http://schemas.openxmlformats.org/officeDocument/2006/relationships/image" Target="/ppt/media/image2.png" Id="Rbf836f7cf2864609" /><Relationship Type="http://schemas.openxmlformats.org/officeDocument/2006/relationships/image" Target="/ppt/media/image3.png" Id="Ra90871d06971486d" /><Relationship Type="http://schemas.openxmlformats.org/officeDocument/2006/relationships/notesSlide" Target="/ppt/notesSlides/notesSlide23.xml" Id="Rcc63d4628ee44ce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49e39ceb44969" /><Relationship Type="http://schemas.openxmlformats.org/officeDocument/2006/relationships/notesSlide" Target="/ppt/notesSlides/notesSlide24.xml" Id="Rf584974cf2f641b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2d42524e844b2" /><Relationship Type="http://schemas.openxmlformats.org/officeDocument/2006/relationships/notesSlide" Target="/ppt/notesSlides/notesSlide25.xml" Id="R422cf6c6662e4ac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ed211b3514517" /><Relationship Type="http://schemas.openxmlformats.org/officeDocument/2006/relationships/notesSlide" Target="/ppt/notesSlides/notesSlide26.xml" Id="Rcef2f4e103c24b7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PDR (%)</c:v>
          </c:tx>
          <c:spPr>
            <a:solidFill xmlns:a="http://schemas.openxmlformats.org/drawingml/2006/main">
              <a:srgbClr val="155DFC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GPSR</c:v>
              </c:pt>
              <c:pt idx="1">
                <c:v>Phase8</c:v>
              </c:pt>
              <c:pt idx="2">
                <c:v>Predictive Geo</c:v>
              </c:pt>
              <c:pt idx="3">
                <c:v>Evo-QGeo</c:v>
              </c:pt>
              <c:pt idx="4">
                <c:v>DRAMA</c:v>
              </c:pt>
              <c:pt idx="5">
                <c:v>Risk-Switch</c:v>
              </c:pt>
            </c:strLit>
          </c:cat>
          <c:val>
            <c:numLit>
              <c:formatCode>0</c:formatCode>
              <c:ptCount val="6"/>
              <c:pt idx="0">
                <c:v>68.3</c:v>
              </c:pt>
              <c:pt idx="1">
                <c:v>80.3</c:v>
              </c:pt>
              <c:pt idx="2">
                <c:v>89.2</c:v>
              </c:pt>
              <c:pt idx="3">
                <c:v>88.7</c:v>
              </c:pt>
              <c:pt idx="4">
                <c:v>89.1</c:v>
              </c:pt>
              <c:pt idx="5">
                <c:v>90.5</c:v>
              </c:pt>
            </c:numLit>
          </c:val>
        </c:ser>
        <c:ser>
          <c:idx val="1"/>
          <c:order val="1"/>
          <c:tx>
            <c:v>Deadline (%)</c:v>
          </c:tx>
          <c:spPr>
            <a:solidFill xmlns:a="http://schemas.openxmlformats.org/drawingml/2006/main">
              <a:srgbClr val="00BC7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GPSR</c:v>
              </c:pt>
              <c:pt idx="1">
                <c:v>Phase8</c:v>
              </c:pt>
              <c:pt idx="2">
                <c:v>Predictive Geo</c:v>
              </c:pt>
              <c:pt idx="3">
                <c:v>Evo-QGeo</c:v>
              </c:pt>
              <c:pt idx="4">
                <c:v>DRAMA</c:v>
              </c:pt>
              <c:pt idx="5">
                <c:v>Risk-Switch</c:v>
              </c:pt>
            </c:strLit>
          </c:cat>
          <c:val>
            <c:numLit>
              <c:formatCode>0</c:formatCode>
              <c:ptCount val="6"/>
              <c:pt idx="0">
                <c:v>63.7</c:v>
              </c:pt>
              <c:pt idx="1">
                <c:v>74</c:v>
              </c:pt>
              <c:pt idx="2">
                <c:v>82.3</c:v>
              </c:pt>
              <c:pt idx="3">
                <c:v>81.5</c:v>
              </c:pt>
              <c:pt idx="4">
                <c:v>82.2</c:v>
              </c:pt>
              <c:pt idx="5">
                <c:v>83.8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PDR 개선</c:v>
          </c:tx>
          <c:spPr>
            <a:solidFill xmlns:a="http://schemas.openxmlformats.org/drawingml/2006/main">
              <a:srgbClr val="FF69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vs GPSR</c:v>
              </c:pt>
              <c:pt idx="1">
                <c:v>vs Predictive</c:v>
              </c:pt>
              <c:pt idx="2">
                <c:v>vs Evo-QGeo</c:v>
              </c:pt>
              <c:pt idx="3">
                <c:v>vs DRAMA</c:v>
              </c:pt>
            </c:strLit>
          </c:cat>
          <c:val>
            <c:numLit>
              <c:formatCode>General</c:formatCode>
              <c:ptCount val="4"/>
              <c:pt idx="0">
                <c:v>32.5</c:v>
              </c:pt>
              <c:pt idx="1">
                <c:v>1.5</c:v>
              </c:pt>
              <c:pt idx="2">
                <c:v>2.1</c:v>
              </c:pt>
              <c:pt idx="3">
                <c:v>1.6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5ED5DF-5C54-42A7-B0E7-49C190D6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AD5E2"/>
                </a:solidFill>
              </a:defRPr>
            </a:pPr>
            <a:r>
              <a:rPr sz="975" b="1" i="0">
                <a:solidFill>
                  <a:srgbClr val="CAD5E2"/>
                </a:solidFill>
              </a:rPr>
              <a:t>교수님 보고용 연구 발표자료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23186-BCD1-483C-BC7D-15862A7F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Risk-Switch Lite-GLOBE-P+</a:t>
            </a:r>
          </a:p>
          <a:p xmlns:a="http://schemas.openxmlformats.org/drawingml/2006/main">
            <a:pPr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UAV 군집 네트워크 라우팅 연구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92BEC-9290-4CA7-B74A-F89254DA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E2E8F0"/>
                </a:solidFill>
              </a:defRPr>
            </a:pPr>
            <a:r>
              <a:rPr sz="1425" b="0" i="0">
                <a:solidFill>
                  <a:srgbClr val="E2E8F0"/>
                </a:solidFill>
              </a:rPr>
              <a:t>전역 지식을 학습에만 사용하고, 실제 라우팅은 각 UAV가 1-hop 지역 정보만으로 수행하는 경량·위험회피형 라우팅 알고리즘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3B810-E136-4F5E-BCFE-9ADD1045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9525">
            <a:solidFill>
              <a:srgbClr val="155D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6FC5C-7994-4BE5-BE84-2BDE7BA3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FANET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C631D-FB2B-49C7-8645-770CFD27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0050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51FF"/>
          </a:solidFill>
          <a:ln xmlns:a="http://schemas.openxmlformats.org/drawingml/2006/main" w="9525">
            <a:solidFill>
              <a:srgbClr val="8E5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AE3BD-070B-4DCE-B28C-E831A91B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67175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Knowledge Distillation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A3ED0-8FD5-4B18-88CA-4644E37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900"/>
          </a:solidFill>
          <a:ln xmlns:a="http://schemas.openxmlformats.org/drawingml/2006/main" w="9525">
            <a:solidFill>
              <a:srgbClr val="FF6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6D6DA-49FA-4C3E-B296-52C21066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6717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Risk-Switch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753D3-AC94-4029-9358-D6B234BC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43000"/>
            <a:ext cx="3143250" cy="3619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CD747-89B7-4752-88DF-7143D60A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85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95717-D099-4F37-B34E-622E382E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47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• GPSR의 routing-hole·링크 단절 약점을 보완</a:t>
            </a:r>
          </a:p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• DRAMA류 실행시 통신 부담과 차별화</a:t>
            </a:r>
          </a:p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• Phase12 full 결과에서 PDR·deadline 우수</a:t>
            </a:r>
          </a:p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• Phase13은 에너지·안정성 보완 방향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C0087-713E-4A2F-8CBB-BCE74E05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90A1B9"/>
                </a:solidFill>
              </a:defRPr>
            </a:pPr>
            <a:r>
              <a:rPr sz="900" b="0" i="0">
                <a:solidFill>
                  <a:srgbClr val="90A1B9"/>
                </a:solidFill>
              </a:rPr>
              <a:t>2026-06-28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9EC78-F09E-4BED-B879-4D88FFCA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</a:t>
            </a:r>
          </a:p>
        </p:txBody>
      </p:sp>
    </p:spTree>
    <p:extLst>
      <p:ext uri="{BB962C8B-B14F-4D97-AF65-F5344CB8AC3E}">
        <p14:creationId xmlns:p14="http://schemas.microsoft.com/office/powerpoint/2010/main" val="473090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A116E-0695-476F-9DB3-5575D6CA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01 | 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787E2-BF31-4775-8F0D-F920457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현재 연구의 결론을 먼저 말씀드리면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E153F-2C70-43FB-BCC4-D2CB1FC5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핵심은 '전역 학습 + 지역 실행 + 위험 기반 스위칭'입니다.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9B907-14F1-44EF-BFC9-5AD042B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52CAB-D6B3-4A6D-8822-A0316D94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476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C9D24-AB1C-4428-B641-CC3B79B8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748E"/>
                </a:solidFill>
              </a:defRPr>
            </a:pPr>
            <a:r>
              <a:rPr sz="1050" b="1" i="0">
                <a:solidFill>
                  <a:srgbClr val="62748E"/>
                </a:solidFill>
              </a:rPr>
              <a:t>최종 실험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21C9A-EA95-4C0F-A9E8-60489961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55DFC"/>
                </a:solidFill>
              </a:defRPr>
            </a:pPr>
            <a:r>
              <a:rPr sz="2325" b="1" i="0">
                <a:solidFill>
                  <a:srgbClr val="155DFC"/>
                </a:solidFill>
              </a:rPr>
              <a:t>Phase12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03503-9D7F-41F7-951F-38E1058E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5 seeds, 14 scenarios, 84k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18B3E-0D5F-4766-B164-9AA095C2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476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6A6E6-8855-4830-B165-71E6BE71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748E"/>
                </a:solidFill>
              </a:defRPr>
            </a:pPr>
            <a:r>
              <a:rPr sz="1050" b="1" i="0">
                <a:solidFill>
                  <a:srgbClr val="62748E"/>
                </a:solidFill>
              </a:rPr>
              <a:t>전체 평균 PDR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63C65-0A38-4CCD-B245-35858657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0BC7D"/>
                </a:solidFill>
              </a:defRPr>
            </a:pPr>
            <a:r>
              <a:rPr sz="2325" b="1" i="0">
                <a:solidFill>
                  <a:srgbClr val="00BC7D"/>
                </a:solidFill>
              </a:rPr>
              <a:t>0.905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0836A-004F-43AD-835E-7E7C4988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GPSR 대비 +32.5%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94A06-9381-4560-AECA-B2061BED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2476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C3EA5-7F82-4700-9957-DD47322B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748E"/>
                </a:solidFill>
              </a:defRPr>
            </a:pPr>
            <a:r>
              <a:rPr sz="1050" b="1" i="0">
                <a:solidFill>
                  <a:srgbClr val="62748E"/>
                </a:solidFill>
              </a:rPr>
              <a:t>Deadline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BBB42-8434-41BA-ACAE-E9FBDD8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8E51FF"/>
                </a:solidFill>
              </a:defRPr>
            </a:pPr>
            <a:r>
              <a:rPr sz="2325" b="1" i="0">
                <a:solidFill>
                  <a:srgbClr val="8E51FF"/>
                </a:solidFill>
              </a:rPr>
              <a:t>0.838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FD6AF-04E2-410B-84D0-4D2E6EBB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GPSR 대비 +31.5%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429D8-3A74-499F-83AE-42F82F47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476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E68CF-99D6-4F0C-B3F6-89BE343E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748E"/>
                </a:solidFill>
              </a:defRPr>
            </a:pPr>
            <a:r>
              <a:rPr sz="1050" b="1" i="0">
                <a:solidFill>
                  <a:srgbClr val="62748E"/>
                </a:solidFill>
              </a:rPr>
              <a:t>제어 바이트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1824C-4D93-4FDE-BF8C-279AE73D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98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6900"/>
                </a:solidFill>
              </a:defRPr>
            </a:pPr>
            <a:r>
              <a:rPr sz="2325" b="1" i="0">
                <a:solidFill>
                  <a:srgbClr val="FF6900"/>
                </a:solidFill>
              </a:rPr>
              <a:t>-22.7%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91A65-457B-4BCF-BEC5-0AB30AFD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DRAMA 대비 감소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AD2C7-F119-4C39-9F76-C8AEB257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953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744FB-618D-4AE8-862A-8973A35D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20618"/>
                </a:solidFill>
              </a:defRPr>
            </a:pPr>
            <a:r>
              <a:rPr sz="1425" b="1" i="0">
                <a:solidFill>
                  <a:srgbClr val="020618"/>
                </a:solidFill>
              </a:rPr>
              <a:t>논문에서 주장할 수 있는 방향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7B5A4-CC53-4ACB-9A83-88A31E54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428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단순 GPSR 개선이 아니라, 교사-학생 구조로 전역 라우팅 지식을 지역 정책에 이식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실행 시에는 전체 그래프·중앙 명령·온라인 메시지 교환 없이 next-hop 결정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링크가 곧 끊길 위험과 다음 홉 이후 경로 가능성을 함께 판단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97F76-F68E-446F-B563-E3862235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55ABC-89EF-4F25-B70B-42C7DD36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20618"/>
                </a:solidFill>
              </a:defRPr>
            </a:pPr>
            <a:r>
              <a:rPr sz="1425" b="1" i="0">
                <a:solidFill>
                  <a:srgbClr val="020618"/>
                </a:solidFill>
              </a:rPr>
              <a:t>주의해서 말해야 할 부분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B44FF-7A8C-4F5D-9FDD-9ADE3AC3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4191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Phase13은 smoke-test 완료, full Colab 검증은 아직 필요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외부 baseline은 동일 환경 적응 구현이므로 원 논문 재현이라고 과장하면 안 됨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에너지 지표는 DRAMA보다 약간 불리하여 보완 포인트로 제시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F021D-4D08-4552-85E7-0FE222DC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2</a:t>
            </a:r>
          </a:p>
        </p:txBody>
      </p:sp>
    </p:spTree>
    <p:extLst>
      <p:ext uri="{BB962C8B-B14F-4D97-AF65-F5344CB8AC3E}">
        <p14:creationId xmlns:p14="http://schemas.microsoft.com/office/powerpoint/2010/main" val="1215993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62BEA2-DA3C-46BC-809C-E803FADC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02 | RESEARCH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44EBB-CD18-43C6-937E-5A18886A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왜 UAV 군집 라우팅이 어려운가?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0F165-3F66-4876-97D4-B3B76902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노드가 빠르게 움직이고 링크가 자주 끊기기 때문에 단순 거리 기반 next-hop 선택이 흔들립니다.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8BF34-C1F5-495D-A9B8-4B6B036C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51C03-5C2B-4535-80EC-8D13238E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94549-5192-414D-A589-F97B6D71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FB917-ECFF-4C54-B134-97887061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D58C8-0A6C-49B2-ADFF-1F3F35A6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1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U1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50EC9-1FF7-4836-AE05-593D4B3B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9BD67-79E3-47DF-B9E0-E1989D4B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U2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2290E-CF30-43CE-B554-992E2EF7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1381C-AE3E-40E8-A6B5-0B4365E5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81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U3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E35C1-6F41-4680-9521-BD901A7A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F154C-4B02-4644-8897-D304E561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U4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6EE4D-91B4-4162-ADEC-B9AFBA87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8CCAE-8ABD-4532-BBB2-7559548A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81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E760C-0530-4B6B-8AE6-07A57B47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33675"/>
            <a:ext cx="1201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3990F-D1CB-4A70-B659-4376D967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28975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FEDF8-CA60-451A-8D90-9A141C57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05175"/>
            <a:ext cx="1201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18D62-BF30-4228-BFFA-A562EF73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57475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E712F-1389-40E4-AE50-A56300FF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1201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C4975-3496-4D8F-91DB-C9BD2CBF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28975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46669-6EEE-4086-A6C1-24C951D1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05175"/>
            <a:ext cx="1201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6661B-FDDD-411B-833F-F1CC924D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57475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E6AF2-108D-4385-AF85-C9075397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1201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A0464-4CD6-493B-A922-B70BC051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28975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F34E4-F814-409F-9E8E-A27C7FF2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48CC0-ACE9-46DD-B09F-52C1635E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55DFC"/>
                </a:solidFill>
              </a:defRPr>
            </a:pPr>
            <a:r>
              <a:rPr sz="1350" b="1" i="0">
                <a:solidFill>
                  <a:srgbClr val="155DFC"/>
                </a:solidFill>
              </a:rPr>
              <a:t>1. 부분 관측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F75E26-B199-4180-B894-74A3102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5556C"/>
                </a:solidFill>
              </a:defRPr>
            </a:pPr>
            <a:r>
              <a:rPr sz="1050" b="0" i="0">
                <a:solidFill>
                  <a:srgbClr val="45556C"/>
                </a:solidFill>
              </a:rPr>
              <a:t>각 UAV는 주로 1-hop 이웃만 볼 수 있어 전체 경로 안정성을 직접 알기 어렵습니다.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CC873E-C7D0-413D-8BF0-FEAD5CC1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86250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845409-BF52-4341-842E-0762B96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95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6900"/>
                </a:solidFill>
              </a:defRPr>
            </a:pPr>
            <a:r>
              <a:rPr sz="1350" b="1" i="0">
                <a:solidFill>
                  <a:srgbClr val="FF6900"/>
                </a:solidFill>
              </a:rPr>
              <a:t>2. 빠른 링크 변화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365AAA-8487-4E7F-846B-4C9CF607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19650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5556C"/>
                </a:solidFill>
              </a:defRPr>
            </a:pPr>
            <a:r>
              <a:rPr sz="1050" b="0" i="0">
                <a:solidFill>
                  <a:srgbClr val="45556C"/>
                </a:solidFill>
              </a:rPr>
              <a:t>현재는 좋아 보이는 링크도 목적지까지 전달되기 전에 끊길 수 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A3775B-FE91-4216-9761-1C49046D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ED5F95-882B-42DF-86B9-53528E50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056"/>
                </a:solidFill>
              </a:defRPr>
            </a:pPr>
            <a:r>
              <a:rPr sz="1350" b="1" i="0">
                <a:solidFill>
                  <a:srgbClr val="FF2056"/>
                </a:solidFill>
              </a:rPr>
              <a:t>3. Routing-hole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FA0E38-C278-462B-99C0-BE126C53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9650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5556C"/>
                </a:solidFill>
              </a:defRPr>
            </a:pPr>
            <a:r>
              <a:rPr sz="1050" b="0" i="0">
                <a:solidFill>
                  <a:srgbClr val="45556C"/>
                </a:solidFill>
              </a:rPr>
              <a:t>목적지에 가까운 이웃만 고르면 막다른 구간에 빠져 우회가 늦어집니다.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98F492-49B7-40FC-8318-669BA7DE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3</a:t>
            </a:r>
          </a:p>
        </p:txBody>
      </p:sp>
    </p:spTree>
    <p:extLst>
      <p:ext uri="{BB962C8B-B14F-4D97-AF65-F5344CB8AC3E}">
        <p14:creationId xmlns:p14="http://schemas.microsoft.com/office/powerpoint/2010/main" val="1284160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E04E4-C56C-4DC9-9373-06F621E8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03 | PRIOR ART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DCAC0-C01C-4440-B995-75BC2B43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기존 기법과의 차별점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8BAC7-0867-429D-BBCE-8EC4343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우리 연구는 기존 기법을 부정하기보다, 각 기법의 강점과 빈틈 사이에 위치시킵니다.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A3353-5358-4AC4-AF73-5D63F4F4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9CAD6-983B-4DAA-8B34-6CA35718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3525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57D3A-7CC2-451B-8EE0-5EE47B86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기법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0F401-C884-4052-8095-95FC4EFA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95450"/>
            <a:ext cx="2762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78841-96DD-4BF8-8913-57B16CC4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716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핵심 아이디어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77AD1-ED2D-4636-B6FE-90EE3EB5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9545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F6C08-9E19-4417-BD77-BB2A0EE0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716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강점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EB05C-959D-4E23-806D-50628BE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47053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3BD27-538A-4D1C-89B1-FFB3999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716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한계 / 우리 차별점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4C4ED-3E49-45A0-ABB5-EEF6CF8B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3525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A6327-92A7-4BCC-A04E-0E3D5393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GPSR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BB7A2-04B9-4022-B244-69E649C2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47900"/>
            <a:ext cx="2762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1B952-E379-481E-8CFA-8F4AED8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241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목적지에 더 가까운 이웃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8EF35-6086-48C9-8EE1-A7AB15E0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790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17D64-D9B7-46D3-89BB-CBCE3C5A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단순·저비용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FA48C-7F09-49BB-89A0-D85D9978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47053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C6565-1814-4029-A2BC-6CE5135E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링크 수명·우회 가능성 부족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DAB7F-4488-469C-BEB8-387C1190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3525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6E8B5-B9E3-445D-8C6F-8BA22B42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Evo-QGeo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F5CF9-2B96-42FE-8AD2-2ED415B7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00350"/>
            <a:ext cx="2762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4D327C-8C33-469C-8E78-2BD3D0EA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765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미래 링크 상태와 Q-learning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28B62-0C60-4B99-AA47-595803D0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035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4DD40-DB4F-44A5-B173-F5BD01E7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765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예측 단절에 강함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C3D288-2C9F-487A-947D-8EA1958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47053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DFC02-1DFF-40A3-94D3-1F3F6263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765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우리도 예측 위험을 쓰지만 local policy로 경량화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D4E2F-F368-45B1-A053-B253A999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3525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DF018-C563-407A-A995-C74C3A8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IQMR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5E6B7E-2DDD-4E36-97C1-5302BD6D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52800"/>
            <a:ext cx="2762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B4A835-8033-4BFC-A418-EC90759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다중 목적 Q(lambda)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6176D6-9535-46E1-B851-746264F5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5280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915CAE-E742-4FFD-A09C-49EF7FE9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큐·링크 등 목적 반영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BCB1EB-22EC-4B80-A55B-36E86D1E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52800"/>
            <a:ext cx="47053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0E2F53-690D-4E87-A74F-D0AAF364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환경에 따라 안정성 약함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6E1A42-E493-4B45-8A95-672136F8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3525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0FBA51-E902-42D1-8EE1-78C6769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DRAMA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70FF65-D2FF-4B14-BA0C-4403A883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05250"/>
            <a:ext cx="2762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DDCFEB-C7F3-44EF-9376-B605E2C8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814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MARL + emergent communication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E505E9-26D3-4F67-B7AA-0A2B9216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525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FB4DED-12C5-4B94-9366-4694A7C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814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협력 라우팅 강함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F84CCA-6F77-4042-93E6-B0D2B1D4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05250"/>
            <a:ext cx="47053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58FCFA-CE21-46E6-BA3D-B3F372C7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814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실행시 메시지/제어 오버헤드가 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E1CA38-616E-42B8-859B-63D7A396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3525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928A93-D9E2-406F-8208-1F14BA09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우리 방법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4F883C-E7DB-4DFC-918F-E5732C4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57700"/>
            <a:ext cx="2762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1A379F-A527-4442-89DA-7DAADABF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339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전역 교사 지식 -&gt; 지역 학생 + 위험 스위치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C1269B-3A04-43DF-907A-1C8F4A09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5770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49E92B-435A-445D-96F2-5A3AD531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339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성능·오버헤드 균형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EF08CF-7EB5-44F8-8E9E-857977A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47053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5C617A-3FF6-4241-AE56-B42F00B7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339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20618"/>
                </a:solidFill>
              </a:defRPr>
            </a:pPr>
            <a:r>
              <a:rPr sz="975" b="0" i="0">
                <a:solidFill>
                  <a:srgbClr val="020618"/>
                </a:solidFill>
              </a:rPr>
              <a:t>Phase13 full 검증 필요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2F8354-4FFE-4B05-AC4F-DDD11EEF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388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2C85"/>
                </a:solidFill>
              </a:defRPr>
            </a:pPr>
            <a:r>
              <a:rPr sz="1350" b="1" i="0">
                <a:solidFill>
                  <a:srgbClr val="312C85"/>
                </a:solidFill>
              </a:rPr>
              <a:t>논문 주장 포인트: '전역 정보를 계속 공유한다'가 아니라 '전역 정보를 학습 때만 사용하고, 실행 때는 지역 정보만으로 결정한다'입니다.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86A3FC-DE0E-44DA-A0BE-FC2648FF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4</a:t>
            </a:r>
          </a:p>
        </p:txBody>
      </p:sp>
    </p:spTree>
    <p:extLst>
      <p:ext uri="{BB962C8B-B14F-4D97-AF65-F5344CB8AC3E}">
        <p14:creationId xmlns:p14="http://schemas.microsoft.com/office/powerpoint/2010/main" val="1527446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D40C0E-7F27-4526-8A5D-235F93E9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04 | DEFENSIBLE NOVELTY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0273F-7B8C-4EC9-B9C0-7C8897FA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가장 방어 가능한 연구 기여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E36AD-E282-4356-BAAA-6CCEF51C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문헌 비교 기준으로, 넓은 'global context' 주장은 약하고 아래 세 가지가 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8CEB6-1C61-48AE-8B7E-46BE1ABB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6374F-28E3-46C6-9488-8410FD51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14325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9F917-9DA8-46E5-AD45-902FFEC8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812D3-CA80-4408-BA29-59A5CD51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77601-A2B2-486C-AF2A-184D0636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5DFC"/>
                </a:solidFill>
              </a:defRPr>
            </a:pPr>
            <a:r>
              <a:rPr sz="1500" b="1" i="0">
                <a:solidFill>
                  <a:srgbClr val="155DFC"/>
                </a:solidFill>
              </a:rPr>
              <a:t>Training-time Global Teacher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2E4EC-6A39-4A56-BFCF-C1DD6E13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전체 그래프를 보는 교사가 경로 구조와 우회 가능성을 학습 데이터로 제공합니다.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97BFD-9F88-492C-998E-FE11FF1F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14325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01368-D4C3-42A4-A0FE-F1D3D2D2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5DAFA-B205-4699-833E-BF13D315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7B597-15A6-4BD4-BE9C-B9DFA906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0BC7D"/>
                </a:solidFill>
              </a:defRPr>
            </a:pPr>
            <a:r>
              <a:rPr sz="1500" b="1" i="0">
                <a:solidFill>
                  <a:srgbClr val="00BC7D"/>
                </a:solidFill>
              </a:rPr>
              <a:t>Execution-time Local Student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93D5E-F7B4-4FBC-8C59-0BBC8D37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실제 UAV는 1-hop 이웃 feature만으로 next-hop을 선택합니다. 중앙 명령이 필요 없습니다.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FC7F7-8DA2-4705-8ADA-197D795E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14325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772DD-F042-483E-8719-6AE1533F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900"/>
          </a:solidFill>
          <a:ln xmlns:a="http://schemas.openxmlformats.org/drawingml/2006/main" w="0">
            <a:solidFill>
              <a:srgbClr val="FF69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2D758-7B32-424D-9707-CB0F4FB7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925E3-1F47-4BF5-941A-AC1EF4D0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6900"/>
                </a:solidFill>
              </a:defRPr>
            </a:pPr>
            <a:r>
              <a:rPr sz="1500" b="1" i="0">
                <a:solidFill>
                  <a:srgbClr val="FF6900"/>
                </a:solidFill>
              </a:rPr>
              <a:t>Risk-Switch Lite-GLOBE-P+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91F52-C1CA-47C6-B268-DBEC9FEF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현재 link만 보지 않고, 다음 홉 이후 경로 생존성·중복성·에너지까지 고려합니다.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1F73A-521A-4D4B-B30B-ED62A89A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98679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0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F5FF6-F99B-4DFC-AC49-30A335B9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12C85"/>
                </a:solidFill>
              </a:defRPr>
            </a:pPr>
            <a:r>
              <a:rPr sz="1050" b="1" i="0">
                <a:solidFill>
                  <a:srgbClr val="312C85"/>
                </a:solidFill>
              </a:rPr>
              <a:t>교수님께 강조할 문장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B2663-05AD-4F50-A0E4-FA63C938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720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2C85"/>
                </a:solidFill>
              </a:defRPr>
            </a:pPr>
            <a:r>
              <a:rPr sz="1350" b="1" i="0">
                <a:solidFill>
                  <a:srgbClr val="312C85"/>
                </a:solidFill>
              </a:rPr>
              <a:t>우리 기법은 '전역 정보를 매번 공유하는 RL 라우팅'이 아니라, 전역 경로 판단을 지역 실행 정책으로 증류한 통신 절약형 라우팅입니다.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9FBA9-D45D-49FF-A6E9-180D3ED3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5</a:t>
            </a:r>
          </a:p>
        </p:txBody>
      </p:sp>
    </p:spTree>
    <p:extLst>
      <p:ext uri="{BB962C8B-B14F-4D97-AF65-F5344CB8AC3E}">
        <p14:creationId xmlns:p14="http://schemas.microsoft.com/office/powerpoint/2010/main" val="1558945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450010-AA06-4E60-B1E4-A6ED3636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05 | SYSTEM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3206E-C0FF-4C64-93DF-4878CB2C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시뮬레이션 환경과 라우팅 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0D079-AF07-4E86-A43E-558D0C53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각 episode에서 source에서 destination까지 패킷을 hop-by-hop으로 전달합니다.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7AFA9-F925-433C-A6F9-F9101677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7D943-16BB-4BDB-ACB5-F82672F1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70E22-BC3A-4EDF-8A63-F1573B36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5DFC"/>
                </a:solidFill>
              </a:defRPr>
            </a:pPr>
            <a:r>
              <a:rPr sz="1500" b="1" i="0">
                <a:solidFill>
                  <a:srgbClr val="155DFC"/>
                </a:solidFill>
              </a:rPr>
              <a:t>네트워크 모델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5A5C4-D72A-4EAD-9D1D-A82FAF4C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2D FANET / Random Waypoint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통신 반경 기반 링크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노드 이동으로 링크 상태 변화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source-destination 단일 packet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FE0F1-14AC-4089-84E1-DF53F52D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3355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23732-8B50-4BB8-A932-DBC90C07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19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0BC7D"/>
                </a:solidFill>
              </a:defRPr>
            </a:pPr>
            <a:r>
              <a:rPr sz="1500" b="1" i="0">
                <a:solidFill>
                  <a:srgbClr val="00BC7D"/>
                </a:solidFill>
              </a:rPr>
              <a:t>행동 공간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2D315-C8DB-433D-91BA-D85A8DF9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14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1-hop 이웃 중 다음 홉 선택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막힌 경우 DROP 선택 가능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visited node 재방문 억제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지역 실행 정책으로 deploy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DDCD1-5AC7-4D42-B64C-F803EF90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BF678-2CFE-4131-A626-D19A9EB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6900"/>
                </a:solidFill>
              </a:defRPr>
            </a:pPr>
            <a:r>
              <a:rPr sz="1500" b="1" i="0">
                <a:solidFill>
                  <a:srgbClr val="FF6900"/>
                </a:solidFill>
              </a:rPr>
              <a:t>성능 지표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C233C-C39A-4E21-ACD9-A85A3347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PDR: packet delivery ratio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Deadline success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Delay p95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Energy proxy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Input/control bytes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545E1-0BC1-45CD-BFB7-02BC6982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91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2C85"/>
                </a:solidFill>
              </a:defRPr>
            </a:pPr>
            <a:r>
              <a:rPr sz="1350" b="1" i="0">
                <a:solidFill>
                  <a:srgbClr val="312C85"/>
                </a:solidFill>
              </a:rPr>
              <a:t>목표: 높은 전달률과 deadline 성공률을 유지하면서, 실행시 정보 요구량과 제어 오버헤드를 낮추는 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94525-FDCB-4DD4-877D-39E8F43C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6</a:t>
            </a:r>
          </a:p>
        </p:txBody>
      </p:sp>
    </p:spTree>
    <p:extLst>
      <p:ext uri="{BB962C8B-B14F-4D97-AF65-F5344CB8AC3E}">
        <p14:creationId xmlns:p14="http://schemas.microsoft.com/office/powerpoint/2010/main" val="442876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1A769-BE0B-4123-AC1D-B769FF3D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06 | METHOD 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B824E-3AA7-4CF7-B011-E366233C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Phase 1부터 Phase 13까지의 연구 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43FDD-8040-49B4-BFBD-96FA61B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복잡해진 것이 아니라, 약점을 발견할 때마다 필요한 보완만 추가해 온 흐름입니다.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06576-1A94-48C9-93A7-A155CAB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38D48-425D-4F60-B1D8-22808322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23622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94FFA-543C-4766-B1E0-7AF4579F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55DFC"/>
                </a:solidFill>
              </a:defRPr>
            </a:pPr>
            <a:r>
              <a:rPr sz="975" b="1" i="0">
                <a:solidFill>
                  <a:srgbClr val="155DFC"/>
                </a:solidFill>
              </a:rPr>
              <a:t>Phase 1-2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75478-66BD-4A40-9F38-3CB825F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8"/>
                </a:solidFill>
              </a:defRPr>
            </a:pPr>
            <a:r>
              <a:rPr sz="1275" b="1" i="0">
                <a:solidFill>
                  <a:srgbClr val="020618"/>
                </a:solidFill>
              </a:rPr>
              <a:t>환경/로컬 학생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3B890-50F6-42C2-B0B1-359E26B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Gymnasium FANET, 1-hop action, GPSR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66EDF-FFBD-425A-B482-2966A18F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71096-9B3C-42D6-A610-F8C4B53C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C9A50-70D0-467A-81AA-F61D63F2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95450"/>
            <a:ext cx="23622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C8A94-30DB-4B56-8414-142587AC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47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55DFC"/>
                </a:solidFill>
              </a:defRPr>
            </a:pPr>
            <a:r>
              <a:rPr sz="975" b="1" i="0">
                <a:solidFill>
                  <a:srgbClr val="155DFC"/>
                </a:solidFill>
              </a:rPr>
              <a:t>Phase 3-4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D7841-60B4-442A-8553-9341CB2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95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8"/>
                </a:solidFill>
              </a:defRPr>
            </a:pPr>
            <a:r>
              <a:rPr sz="1275" b="1" i="0">
                <a:solidFill>
                  <a:srgbClr val="020618"/>
                </a:solidFill>
              </a:rPr>
              <a:t>전역 교사/KD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CAA0B-60C7-4845-9201-C609981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193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전체 그래프 교사 정책을 지역 학생에게 증류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3D7DF-8429-4534-AF87-BC8CEC03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E59F9-3B52-4991-B895-0C1A7E7F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A899D-0028-49E0-9C04-E2B02FBC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23622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7A13D-17F7-41E5-A7D9-8DA0985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55DFC"/>
                </a:solidFill>
              </a:defRPr>
            </a:pPr>
            <a:r>
              <a:rPr sz="975" b="1" i="0">
                <a:solidFill>
                  <a:srgbClr val="155DFC"/>
                </a:solidFill>
              </a:rPr>
              <a:t>Phase 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23AB8-4C53-47A3-A006-00F6EAE3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8"/>
                </a:solidFill>
              </a:defRPr>
            </a:pPr>
            <a:r>
              <a:rPr sz="1275" b="1" i="0">
                <a:solidFill>
                  <a:srgbClr val="020618"/>
                </a:solidFill>
              </a:rPr>
              <a:t>일반화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3A77A-CEAD-4378-822D-0C555EF7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KD-only PDR 0.951, Teacher 대비 약 96%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4D3A0-219E-4882-B4BC-A19696C4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86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82D4B-4CA6-472A-87B0-5EBEFAC4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4F220-A59B-4232-A8DC-9A53FF8A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95450"/>
            <a:ext cx="23622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E203B-63F7-4B13-BEE9-65F6D1F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55DFC"/>
                </a:solidFill>
              </a:defRPr>
            </a:pPr>
            <a:r>
              <a:rPr sz="975" b="1" i="0">
                <a:solidFill>
                  <a:srgbClr val="155DFC"/>
                </a:solidFill>
              </a:rPr>
              <a:t>Phase 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450D7-93B6-4007-B9E3-D1A054A1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95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8"/>
                </a:solidFill>
              </a:defRPr>
            </a:pPr>
            <a:r>
              <a:rPr sz="1275" b="1" i="0">
                <a:solidFill>
                  <a:srgbClr val="020618"/>
                </a:solidFill>
              </a:rPr>
              <a:t>Geo-Residual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48223-BF26-418E-9E13-0BA88229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193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GPSR prior + residual correction, hole에서 강함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0536A-C2DD-4F66-A615-F130ACB1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3622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BDF85-6C15-483F-ACE4-FC7F9A1E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55DFC"/>
                </a:solidFill>
              </a:defRPr>
            </a:pPr>
            <a:r>
              <a:rPr sz="975" b="1" i="0">
                <a:solidFill>
                  <a:srgbClr val="155DFC"/>
                </a:solidFill>
              </a:rPr>
              <a:t>Phase 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55407-EFA2-4C1D-9D79-5A20C40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8"/>
                </a:solidFill>
              </a:defRPr>
            </a:pPr>
            <a:r>
              <a:rPr sz="1275" b="1" i="0">
                <a:solidFill>
                  <a:srgbClr val="020618"/>
                </a:solidFill>
              </a:rPr>
              <a:t>Risk-aware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36D55A-A8EE-404D-886F-F4B494F5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위험 feature 추가, 일부 불안정성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245EA6-4A10-4F41-8E07-A9836983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A77D5F-69C9-4B9E-8724-E46EF9F7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993650-B7C2-4301-B5A8-3C798301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09950"/>
            <a:ext cx="23622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A0E74A-4754-4B80-B638-CEB1FA53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62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55DFC"/>
                </a:solidFill>
              </a:defRPr>
            </a:pPr>
            <a:r>
              <a:rPr sz="975" b="1" i="0">
                <a:solidFill>
                  <a:srgbClr val="155DFC"/>
                </a:solidFill>
              </a:rPr>
              <a:t>Phase 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D99AFB-2032-43EE-B7CE-24F21A8B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0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8"/>
                </a:solidFill>
              </a:defRPr>
            </a:pPr>
            <a:r>
              <a:rPr sz="1275" b="1" i="0">
                <a:solidFill>
                  <a:srgbClr val="020618"/>
                </a:solidFill>
              </a:rPr>
              <a:t>외부 RL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C37FDF-6D16-4611-ABFC-8050E0B1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33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Evo-QGeo, IQMR, DRAMA 적응 비교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D361CB-B11C-4671-A1AF-F8D0E45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005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325D69-0BF6-460D-9636-9D7BB7CE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823711-CD3C-4018-9EB9-B88C262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23622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651CAC-06B7-411C-A82C-2E5E8D14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07A55"/>
                </a:solidFill>
              </a:defRPr>
            </a:pPr>
            <a:r>
              <a:rPr sz="975" b="1" i="0">
                <a:solidFill>
                  <a:srgbClr val="007A55"/>
                </a:solidFill>
              </a:rPr>
              <a:t>Phase 11-12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ECBE7B-735A-45A8-B632-3756D788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8"/>
                </a:solidFill>
              </a:defRPr>
            </a:pPr>
            <a:r>
              <a:rPr sz="1275" b="1" i="0">
                <a:solidFill>
                  <a:srgbClr val="020618"/>
                </a:solidFill>
              </a:rPr>
              <a:t>Lite-GLOBE-P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95AB65-27DA-430E-855C-C41DF723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Risk-Switch로 예측 단절 약점 보완, Phase12 full 결과 확보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2DC257-A4F3-4E29-AE81-3D32B528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9BD71E-7E5D-4924-B167-E261102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D48F25-38E3-42E8-AA0D-C0F71775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9950"/>
            <a:ext cx="23622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D90BB5-F95C-4183-82D6-BC375267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07A55"/>
                </a:solidFill>
              </a:defRPr>
            </a:pPr>
            <a:r>
              <a:rPr sz="975" b="1" i="0">
                <a:solidFill>
                  <a:srgbClr val="007A55"/>
                </a:solidFill>
              </a:rPr>
              <a:t>Phase 13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FB83EA-34C2-4452-BF29-76E5958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10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8"/>
                </a:solidFill>
              </a:defRPr>
            </a:pPr>
            <a:r>
              <a:rPr sz="1275" b="1" i="0">
                <a:solidFill>
                  <a:srgbClr val="020618"/>
                </a:solidFill>
              </a:rPr>
              <a:t>P+ 보완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4F39ED-C64A-41C7-95E7-E59F6F44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33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5556C"/>
                </a:solidFill>
              </a:defRPr>
            </a:pPr>
            <a:r>
              <a:rPr sz="900" b="0" i="0">
                <a:solidFill>
                  <a:srgbClr val="45556C"/>
                </a:solidFill>
              </a:rPr>
              <a:t>안정성, 중복성, keep probability, energy tie-break 추가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23AA7B-5844-42BD-A2ED-67E12148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12C85"/>
                </a:solidFill>
              </a:defRPr>
            </a:pPr>
            <a:r>
              <a:rPr sz="1275" b="1" i="0">
                <a:solidFill>
                  <a:srgbClr val="312C85"/>
                </a:solidFill>
              </a:rPr>
              <a:t>현재 논문 초점: Phase12 결과를 주 근거로 삼고, Phase13 P+는 최종 보완 모델 후보로 검증 예정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A444F0-B2C7-4308-B44A-A4EE75FC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7</a:t>
            </a:r>
          </a:p>
        </p:txBody>
      </p:sp>
    </p:spTree>
    <p:extLst>
      <p:ext uri="{BB962C8B-B14F-4D97-AF65-F5344CB8AC3E}">
        <p14:creationId xmlns:p14="http://schemas.microsoft.com/office/powerpoint/2010/main" val="1636780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08042A-FB45-4FD0-9DE9-28C4D73B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07 | CORE ALGORITHM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1BAD7-8F13-495A-BD28-E78A7F85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제안기법의 전체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B02BB-B27E-4A34-8339-1FAF04D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학습 단계와 실행 단계가 분리되어 있다는 점이 핵심입니다.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0295D-A700-4727-99CB-26F73091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87B22-909A-4E0F-9CB4-732BC329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952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57EDF-E6D9-4E58-A103-E306FFFF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5DFC"/>
                </a:solidFill>
              </a:defRPr>
            </a:pPr>
            <a:r>
              <a:rPr sz="1725" b="1" i="0">
                <a:solidFill>
                  <a:srgbClr val="155DFC"/>
                </a:solidFill>
              </a:rPr>
              <a:t>전역 교사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63CA3-B933-4A41-8FDD-4DF304A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전체 UAV 그래프</a:t>
            </a:r>
          </a:p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목적지 위치</a:t>
            </a:r>
          </a:p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경로 안정성</a:t>
            </a:r>
          </a:p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우회 가능성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3BA43-88C8-4394-A0F3-28281B11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2952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EDE9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E0A32-10D2-43B5-9928-F1CE617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8E51FF"/>
                </a:solidFill>
              </a:defRPr>
            </a:pPr>
            <a:r>
              <a:rPr sz="1725" b="1" i="0">
                <a:solidFill>
                  <a:srgbClr val="8E51FF"/>
                </a:solidFill>
              </a:rPr>
              <a:t>지식 증류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89EA8-D00C-4658-A5DD-DE530393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교사의 next-hop 선호도와</a:t>
            </a:r>
          </a:p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routing utility를</a:t>
            </a:r>
          </a:p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학생 정책에 전달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71D05-2947-4201-A500-78171692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952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0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C605C-801D-4598-BD21-C7D17FF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07A55"/>
                </a:solidFill>
              </a:defRPr>
            </a:pPr>
            <a:r>
              <a:rPr sz="1725" b="1" i="0">
                <a:solidFill>
                  <a:srgbClr val="007A55"/>
                </a:solidFill>
              </a:rPr>
              <a:t>지역 학생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35F49-2D1B-4A0F-BA4C-F9C3007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1-hop 이웃 feature만 사용</a:t>
            </a:r>
          </a:p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실행 시 추가 전역 통신 없음</a:t>
            </a:r>
          </a:p>
          <a:p xmlns:a="http://schemas.openxmlformats.org/drawingml/2006/main">
            <a:pPr>
              <a:defRPr sz="1350" b="0" i="0">
                <a:solidFill>
                  <a:srgbClr val="312C85"/>
                </a:solidFill>
              </a:defRPr>
            </a:pPr>
            <a:r>
              <a:rPr sz="1350" b="0" i="0">
                <a:solidFill>
                  <a:srgbClr val="312C85"/>
                </a:solidFill>
              </a:rPr>
              <a:t>위험 기반 next-hop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BCDB4-1C9D-4426-A53F-86F218A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0375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1FF"/>
          </a:solidFill>
          <a:ln xmlns:a="http://schemas.openxmlformats.org/drawingml/2006/main" w="0">
            <a:solidFill>
              <a:srgbClr val="8E51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D496B-BF25-4D19-B2B4-4A10709D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51FF"/>
          </a:solidFill>
          <a:ln xmlns:a="http://schemas.openxmlformats.org/drawingml/2006/main" w="0">
            <a:solidFill>
              <a:srgbClr val="8E51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B312C-1B2F-4201-A420-CBF27F7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336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E51FF"/>
                </a:solidFill>
              </a:defRPr>
            </a:pPr>
            <a:r>
              <a:rPr sz="825" b="0" i="0">
                <a:solidFill>
                  <a:srgbClr val="8E51FF"/>
                </a:solidFill>
              </a:rPr>
              <a:t>teacher logits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2BDDB-8267-46E4-BB59-48D77799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00B3B-F978-41CE-A9E5-B4EA08AA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24175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B2962-7528-4398-A007-AF653D9C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0BC7D"/>
                </a:solidFill>
              </a:defRPr>
            </a:pPr>
            <a:r>
              <a:rPr sz="825" b="0" i="0">
                <a:solidFill>
                  <a:srgbClr val="00BC7D"/>
                </a:solidFill>
              </a:rPr>
              <a:t>local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DC56D-84C3-41EC-A22E-6CC9B535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933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21ABA-66E1-4AA0-8F6A-7A9CC6BD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2748E"/>
                </a:solidFill>
              </a:defRPr>
            </a:pPr>
            <a:r>
              <a:rPr sz="1125" b="1" i="0">
                <a:solidFill>
                  <a:srgbClr val="62748E"/>
                </a:solidFill>
              </a:rPr>
              <a:t>핵심 수식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31E66C-8B02-4DFD-9466-ADFB7B64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33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12C85"/>
                </a:solidFill>
              </a:defRPr>
            </a:pPr>
            <a:r>
              <a:rPr sz="1800" b="1" i="0">
                <a:solidFill>
                  <a:srgbClr val="312C85"/>
                </a:solidFill>
              </a:rPr>
              <a:t>π_student(a | local obs, destination) ≈ π_teacher(a | global graph, destination)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9EFBE-E15F-49B9-A8BF-FEEDD39C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8</a:t>
            </a:r>
          </a:p>
        </p:txBody>
      </p:sp>
    </p:spTree>
    <p:extLst>
      <p:ext uri="{BB962C8B-B14F-4D97-AF65-F5344CB8AC3E}">
        <p14:creationId xmlns:p14="http://schemas.microsoft.com/office/powerpoint/2010/main" val="1054371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138F16-E2D8-48CE-8E10-E72DE0FB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08 | FORMAL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A6E87-BDF5-41C5-9F90-B94D95DC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제안기법의 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2CDB3-6375-458A-A68E-53E993D8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FANET 라우팅을 시간에 따라 변하는 그래프 위의 next-hop 선택 문제로 정의합니다.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EDB20-A2FA-4C61-8714-F8387B2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82CE5-0655-43FD-8ACF-E66CBBD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50482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29317-3BDF-4416-967B-660FD241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5DFC"/>
                </a:solidFill>
              </a:defRPr>
            </a:pPr>
            <a:r>
              <a:rPr sz="1500" b="1" i="0">
                <a:solidFill>
                  <a:srgbClr val="155DFC"/>
                </a:solidFill>
              </a:rPr>
              <a:t>동적 그래프 모델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12D11-67D5-49DF-A3FF-D4074002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12C85"/>
                </a:solidFill>
              </a:defRPr>
            </a:pPr>
            <a:r>
              <a:rPr sz="1800" b="1" i="0">
                <a:solidFill>
                  <a:srgbClr val="312C85"/>
                </a:solidFill>
              </a:rPr>
              <a:t>G_t = (V, E_t),    e_{uv}(t)=1[d(u,v,t) ≤ R_c]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5F3B8-AD39-4267-A557-287C3773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3905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V: UAV 노드 집합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E_t: 시간 t에서 통신 가능한 링크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R_c: 통신 반경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d(u,v,t): 현재 노드 u와 후보 v 사이 거리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BFDF9-55F3-4265-8CC0-CB26D509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50482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10C43-C5F4-4F94-B17A-28A19DC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81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0BC7D"/>
                </a:solidFill>
              </a:defRPr>
            </a:pPr>
            <a:r>
              <a:rPr sz="1500" b="1" i="0">
                <a:solidFill>
                  <a:srgbClr val="00BC7D"/>
                </a:solidFill>
              </a:rPr>
              <a:t>라우팅 의사결정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FB151-4A7E-4FE1-90D2-AC4408D6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12C85"/>
                </a:solidFill>
              </a:defRPr>
            </a:pPr>
            <a:r>
              <a:rPr sz="1800" b="1" i="0">
                <a:solidFill>
                  <a:srgbClr val="312C85"/>
                </a:solidFill>
              </a:rPr>
              <a:t>a_t ∈ A(u_t) = N_t(u_t) ∪ {DROP}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49CD7-48C0-4992-8BE1-70236840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3905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u_t: 현재 패킷을 가진 UAV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N_t(u_t): 현재 1-hop 이웃 후보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a_t: 다음 홉 또는 DROP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목표: 목적지 도달 확률을 높이고 deadline, delay, overhead를 동시에 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3DC9F-6A24-43F0-9DBE-8CBCF401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95250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0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027A3-E31C-4127-B2D9-F3F1A4CD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6260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12C85"/>
                </a:solidFill>
              </a:defRPr>
            </a:pPr>
            <a:r>
              <a:rPr sz="1275" b="1" i="0">
                <a:solidFill>
                  <a:srgbClr val="312C85"/>
                </a:solidFill>
              </a:rPr>
              <a:t>핵심 제약: 실행 시 각 노드는 전체 G_t를 보지 못하고, 자신 주변의 local observation만 사용합니다.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DE98B-0824-4134-A9FE-6B8E666D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9</a:t>
            </a:r>
          </a:p>
        </p:txBody>
      </p:sp>
    </p:spTree>
    <p:extLst>
      <p:ext uri="{BB962C8B-B14F-4D97-AF65-F5344CB8AC3E}">
        <p14:creationId xmlns:p14="http://schemas.microsoft.com/office/powerpoint/2010/main" val="1702064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8A12FD-16D4-4875-B633-F4F060EB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09 | LEARNING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A7911-86BD-464E-A082-BB9EB3C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전역 교사 지식을 어떻게 지역 학생에게 옮기는가?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6779F-8211-4C6B-9B31-86C0C999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학습 때는 전역 교사의 판단을 사용하지만, 배포 때는 학생 정책만 남깁니다.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464E1-B29E-4430-B47B-CE42134F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246FC-E3D5-4460-94BD-0C8FC249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51435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6FC0E-60D3-4995-9FF5-FF2B9D3C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E51FF"/>
                </a:solidFill>
              </a:defRPr>
            </a:pPr>
            <a:r>
              <a:rPr sz="1500" b="1" i="0">
                <a:solidFill>
                  <a:srgbClr val="8E51FF"/>
                </a:solidFill>
              </a:rPr>
              <a:t>교사-학생 증류 목적함수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F59E5-FBB8-4C77-BD29-3282D73E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433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312C85"/>
                </a:solidFill>
              </a:defRPr>
            </a:pPr>
            <a:r>
              <a:rPr sz="1575" b="1" i="0">
                <a:solidFill>
                  <a:srgbClr val="312C85"/>
                </a:solidFill>
              </a:rPr>
              <a:t>L_KD = T² · KL( softmax(zᵀ/T) || softmax(zˢ/T) 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8187E-8F60-433B-B402-E6A0200D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312C85"/>
                </a:solidFill>
              </a:defRPr>
            </a:pPr>
            <a:r>
              <a:rPr sz="1725" b="1" i="0">
                <a:solidFill>
                  <a:srgbClr val="312C85"/>
                </a:solidFill>
              </a:rPr>
              <a:t>L = L_KD + α·L_CE + β·L_reg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EB5DF-24B4-4FD7-BEEA-565A402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4191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20618"/>
                </a:solidFill>
              </a:defRPr>
            </a:pPr>
            <a:r>
              <a:rPr sz="1050" b="0" i="0">
                <a:solidFill>
                  <a:srgbClr val="020618"/>
                </a:solidFill>
              </a:rPr>
              <a:t>• zᵀ: 전역 교사의 candidate별 logit</a:t>
            </a:r>
          </a:p>
          <a:p xmlns:a="http://schemas.openxmlformats.org/drawingml/2006/main">
            <a:pPr>
              <a:defRPr sz="1050" b="0" i="0">
                <a:solidFill>
                  <a:srgbClr val="020618"/>
                </a:solidFill>
              </a:defRPr>
            </a:pPr>
            <a:r>
              <a:rPr sz="1050" b="0" i="0">
                <a:solidFill>
                  <a:srgbClr val="020618"/>
                </a:solidFill>
              </a:rPr>
              <a:t>• zˢ: 지역 학생의 candidate별 logit</a:t>
            </a:r>
          </a:p>
          <a:p xmlns:a="http://schemas.openxmlformats.org/drawingml/2006/main">
            <a:pPr>
              <a:defRPr sz="1050" b="0" i="0">
                <a:solidFill>
                  <a:srgbClr val="020618"/>
                </a:solidFill>
              </a:defRPr>
            </a:pPr>
            <a:r>
              <a:rPr sz="1050" b="0" i="0">
                <a:solidFill>
                  <a:srgbClr val="020618"/>
                </a:solidFill>
              </a:rPr>
              <a:t>• T: soft target을 부드럽게 만드는 temperature</a:t>
            </a:r>
          </a:p>
          <a:p xmlns:a="http://schemas.openxmlformats.org/drawingml/2006/main">
            <a:pPr>
              <a:defRPr sz="1050" b="0" i="0">
                <a:solidFill>
                  <a:srgbClr val="020618"/>
                </a:solidFill>
              </a:defRPr>
            </a:pPr>
            <a:r>
              <a:rPr sz="1050" b="0" i="0">
                <a:solidFill>
                  <a:srgbClr val="020618"/>
                </a:solidFill>
              </a:rPr>
              <a:t>• L_CE: 성공 경로/teacher action에 대한 보조 지도</a:t>
            </a:r>
          </a:p>
          <a:p xmlns:a="http://schemas.openxmlformats.org/drawingml/2006/main">
            <a:pPr>
              <a:defRPr sz="1050" b="0" i="0">
                <a:solidFill>
                  <a:srgbClr val="020618"/>
                </a:solidFill>
              </a:defRPr>
            </a:pPr>
            <a:r>
              <a:rPr sz="1050" b="0" i="0">
                <a:solidFill>
                  <a:srgbClr val="020618"/>
                </a:solidFill>
              </a:rPr>
              <a:t>• L_reg: 과도한 residual 또는 불안정한 정책 억제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0FBB8-5DB2-4B7D-B3A1-3CF9F366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33550"/>
            <a:ext cx="49530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C226C-85BB-490A-9331-28E880DC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9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5DFC"/>
                </a:solidFill>
              </a:defRPr>
            </a:pPr>
            <a:r>
              <a:rPr sz="1500" b="1" i="0">
                <a:solidFill>
                  <a:srgbClr val="155DFC"/>
                </a:solidFill>
              </a:rPr>
              <a:t>왜 이렇게 하는가?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F4AF5-6B3C-4CCD-B72B-729719B9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3857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전역 교사는 전체 경로 구조를 보므로 우회 가능성과 목적지 방향을 더 잘 판단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학생은 teacher logit의 상대적 선호도를 배워 local observation만으로 유사한 결정을 수행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단일 정답 action만 학습하는 것보다 후보 간 우열 정보를 더 많이 전달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결과적으로 실행 시 centralized controller 없이 decentralized routing 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73880-41AF-49CE-8093-CFAD206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12C85"/>
                </a:solidFill>
              </a:defRPr>
            </a:pPr>
            <a:r>
              <a:rPr sz="1275" b="1" i="0">
                <a:solidFill>
                  <a:srgbClr val="312C85"/>
                </a:solidFill>
              </a:rPr>
              <a:t>발표 포인트: 이 손실은 '전역 정보를 계속 쓰는 모델'이 아니라 '전역 판단을 지역 정책에 압축하는 학습 절차'입니다.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01DEE-F966-48C9-8706-3C4E2E04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10</a:t>
            </a:r>
          </a:p>
        </p:txBody>
      </p:sp>
    </p:spTree>
    <p:extLst>
      <p:ext uri="{BB962C8B-B14F-4D97-AF65-F5344CB8AC3E}">
        <p14:creationId xmlns:p14="http://schemas.microsoft.com/office/powerpoint/2010/main" val="194942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6515A-0A1E-4DE0-8D47-7031F0D4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10 | CANDIDATE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BE2A6-44C4-4A34-BC52-76F676CC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다음 홉 후보 점수는 어떻게 계산하는가?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73EB6-9D0D-49AB-8A31-365A6AD7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Lite-GLOBE-P는 GPSR식 진행도, 예측 안정성, 학습 residual을 결합합니다.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93645-024C-4FC9-BC8E-E1B31283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C53F2-2CE2-45E4-8FEB-6738FC78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219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E83E8-D3C4-4C0B-8DE7-C57C2D25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5DFC"/>
                </a:solidFill>
              </a:defRPr>
            </a:pPr>
            <a:r>
              <a:rPr sz="1500" b="1" i="0">
                <a:solidFill>
                  <a:srgbClr val="155DFC"/>
                </a:solidFill>
              </a:rPr>
              <a:t>Predictive Geographic Prior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70DB9-FDBF-4B47-8C2C-43B65088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312C85"/>
                </a:solidFill>
              </a:defRPr>
            </a:pPr>
            <a:r>
              <a:rPr sz="1575" b="1" i="0">
                <a:solidFill>
                  <a:srgbClr val="312C85"/>
                </a:solidFill>
              </a:rPr>
              <a:t>S_PG(j) = w_pP_j + w_fF_j + w_mM_j</a:t>
            </a:r>
          </a:p>
          <a:p xmlns:a="http://schemas.openxmlformats.org/drawingml/2006/main">
            <a:pPr>
              <a:defRPr sz="1575" b="1" i="0">
                <a:solidFill>
                  <a:srgbClr val="312C85"/>
                </a:solidFill>
              </a:defRPr>
            </a:pPr>
            <a:r>
              <a:rPr sz="1575" b="1" i="0">
                <a:solidFill>
                  <a:srgbClr val="312C85"/>
                </a:solidFill>
              </a:rPr>
              <a:t>          + w_lL_j + w_qQ_j + w_oO_j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C8076-797D-4E23-AC93-B6C9403E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72390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1AFE5-F9E6-4E74-AAFC-9CEA30F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B254D-8ACD-4652-BCE1-E84959DA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35623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72524-B6CB-4FA0-917D-50E2601F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71850"/>
            <a:ext cx="3409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BB543-A65D-442C-BEF7-DE090679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72390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70042-B9C5-4E7E-A838-43699EDD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P_j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63319-09BD-4328-BD0B-D59BEE87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33775"/>
            <a:ext cx="35623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80770-E5A1-4025-ABD0-63DB38F6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09975"/>
            <a:ext cx="3409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목적지 방향 진행도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71903-647F-4F52-B225-CE6A380C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72390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D1707-362B-48B7-892D-F834EED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F_j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1355D-1C4D-45ED-8E7F-83C5E83F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71900"/>
            <a:ext cx="35623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90023-0550-42CE-9235-E337D126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48100"/>
            <a:ext cx="3409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forwarding 가능성 / onward degree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F09F9-5DAD-4390-BDEF-C2C419F0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72390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8A2A6-710C-4012-8D50-973D6863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M_j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0E59B-3C7C-404D-BBEA-F9DAAA4A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10025"/>
            <a:ext cx="35623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89023-5C49-4C1D-9560-7225E5FF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86225"/>
            <a:ext cx="3409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현재 링크 margin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0034A-0E35-47D1-B9F1-61413827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72390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2A053-226B-41E6-98D0-36A612F1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L_j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3CB2F1-4B4C-4D63-92E0-18947C6B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48150"/>
            <a:ext cx="35623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F1735-7049-4BFC-9932-53928B28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3409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현재 링크 predicted lifetime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32833-23A9-41A0-B4F5-1B90503D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72390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DA39CB-6C32-47F6-BBA5-F14EA206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62475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Q_j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1BD7F-5EEF-4419-82ED-BE87A417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86275"/>
            <a:ext cx="35623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BB6E6-C079-4C0C-BC96-D05AE99F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62475"/>
            <a:ext cx="3409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queue headroom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BD856-D090-41FF-BFF2-9C9F8361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72390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C984E2-8AF7-4A3C-85F8-76280F31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O_j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5DA173-1A91-4ED2-81BE-30B21255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24400"/>
            <a:ext cx="3562350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6D7A5D-563C-4FBD-A594-65E9F8CE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00600"/>
            <a:ext cx="3409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020618"/>
                </a:solidFill>
              </a:defRPr>
            </a:pPr>
            <a:r>
              <a:rPr sz="825" b="0" i="0">
                <a:solidFill>
                  <a:srgbClr val="020618"/>
                </a:solidFill>
              </a:rPr>
              <a:t>best onward link lifetime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45C2E0-0221-4644-ACBD-3F1AFD2F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50673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F6A985-3FE3-4968-BCF6-BBBC0EA4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1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6900"/>
                </a:solidFill>
              </a:defRPr>
            </a:pPr>
            <a:r>
              <a:rPr sz="1500" b="1" i="0">
                <a:solidFill>
                  <a:srgbClr val="FF6900"/>
                </a:solidFill>
              </a:rPr>
              <a:t>최종 candidate logit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9773DE-B8D2-49D1-9233-6F71F110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312C85"/>
                </a:solidFill>
              </a:defRPr>
            </a:pPr>
            <a:r>
              <a:rPr sz="1575" b="1" i="0">
                <a:solidFill>
                  <a:srgbClr val="312C85"/>
                </a:solidFill>
              </a:rPr>
              <a:t>z_j = S_PG(j) + λ_r B·tanh(g_θ(o,j)) - λ_pG(j)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C44218-2ACE-4A98-A2D3-8E63DCCB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0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G(j) = [τ_m-M_j]₊ + [τ_l-L_j]₊ + [τ_o-O_j]₊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890CBD-E9EF-403E-9B38-92FE460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g_θ(o,j): KD로 배운 residual correction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B·tanh(·): residual 영향력 제한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G(j): 링크 margin, 링크 수명, onward 수명이 부족할 때 부과되는 위험 penalty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λ_r, λ_p: residual과 위험 penalty의 영향 조절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408141-E556-4F1B-BE5C-FF537A06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43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2C85"/>
                </a:solidFill>
              </a:defRPr>
            </a:pPr>
            <a:r>
              <a:rPr sz="1350" b="1" i="0">
                <a:solidFill>
                  <a:srgbClr val="312C85"/>
                </a:solidFill>
              </a:rPr>
              <a:t>해석: 목적지에 가까운 후보라도 링크가 곧 끊기거나 다음 홉 이후 길이 약하면 점수가 낮아집니다.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9CB4B8-EE3B-43E9-8233-C089BE20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11</a:t>
            </a:r>
          </a:p>
        </p:txBody>
      </p:sp>
    </p:spTree>
    <p:extLst>
      <p:ext uri="{BB962C8B-B14F-4D97-AF65-F5344CB8AC3E}">
        <p14:creationId xmlns:p14="http://schemas.microsoft.com/office/powerpoint/2010/main" val="840692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8DFB5D-F889-46F5-A89F-F08C8648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11 | RISK-SWITCH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017C2-3785-4EB0-802C-131CAF01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Risk-Switch가 단순 heuristic이 아닌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D8C64-DA24-40EF-9E78-D71BAFF9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위험 점수 D_i와 안전 이득 G(a_P,a_N)을 함께 사용해 불필요한 전환을 막습니다.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BBFF8-A448-40A0-BFA2-52D6D67E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ECFC4-5833-4E2D-B748-AEA7080E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2387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2837B-15CB-4D04-A740-E8E5152B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2056"/>
                </a:solidFill>
              </a:defRPr>
            </a:pPr>
            <a:r>
              <a:rPr sz="1500" b="1" i="0">
                <a:solidFill>
                  <a:srgbClr val="FF2056"/>
                </a:solidFill>
              </a:rPr>
              <a:t>위험 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A66E8-128A-4B9B-9875-467C4555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D_i = [g_m-m_i]₊ + [g_l-ℓ_i]₊ + [g_o-o_i]₊</a:t>
            </a:r>
          </a:p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    + [g_k-ō_i,topk]₊ + 0.5[g_ρ-ρ_i]₊ + [g_p-p_keep]₊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14375-4DF1-4FFD-A5DD-2FFD65C7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Q_i = m_i + ℓ_i + o_i + ō_i,topk + 0.5ρ_i + p_keep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5B702-0BBB-4408-B5AC-0D40A9CA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312C85"/>
                </a:solidFill>
              </a:defRPr>
            </a:pPr>
            <a:r>
              <a:rPr sz="1500" b="1" i="0">
                <a:solidFill>
                  <a:srgbClr val="312C85"/>
                </a:solidFill>
              </a:rPr>
              <a:t>G(a_P,a_N) = Q(a_P) - Q(a_N)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C543E-81CC-4AB6-9E4F-904A39B2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5556C"/>
                </a:solidFill>
              </a:defRPr>
            </a:pPr>
            <a:r>
              <a:rPr sz="1050" b="0" i="0">
                <a:solidFill>
                  <a:srgbClr val="45556C"/>
                </a:solidFill>
              </a:rPr>
              <a:t>D_i는 위험 위반량, Q_i는 안전성 합산 점수입니다. 두 값을 같이 써서 '정말 더 안전할 때만' branch를 바꿉니다.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B6F0C-2786-485A-A712-B1AB6E88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06D00-A1E4-4D3E-A7F4-ACA4B976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81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6900"/>
                </a:solidFill>
              </a:defRPr>
            </a:pPr>
            <a:r>
              <a:rPr sz="1500" b="1" i="0">
                <a:solidFill>
                  <a:srgbClr val="FF6900"/>
                </a:solidFill>
              </a:rPr>
              <a:t>Switch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69280-57B7-488D-A45C-2B9DB12B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00300"/>
            <a:ext cx="3857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2C85"/>
                </a:solidFill>
              </a:defRPr>
            </a:pPr>
            <a:r>
              <a:rPr sz="1350" b="1" i="0">
                <a:solidFill>
                  <a:srgbClr val="312C85"/>
                </a:solidFill>
              </a:rPr>
              <a:t>S = 1[ a_N=DROP  or  D(a_N)&gt;τ</a:t>
            </a:r>
          </a:p>
          <a:p xmlns:a="http://schemas.openxmlformats.org/drawingml/2006/main">
            <a:pPr>
              <a:defRPr sz="1350" b="1" i="0">
                <a:solidFill>
                  <a:srgbClr val="312C85"/>
                </a:solidFill>
              </a:defRPr>
            </a:pPr>
            <a:r>
              <a:rPr sz="1350" b="1" i="0">
                <a:solidFill>
                  <a:srgbClr val="312C85"/>
                </a:solidFill>
              </a:rPr>
              <a:t>    or (a_P≠a_N ∧ G(a_P,a_N)&gt;δ ∧ D(a_P)&lt;D(a_N)) 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74EF0-A626-4450-8A2D-2E6AF526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90900"/>
            <a:ext cx="3667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a_N: normal branch가 고른 next-hop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a_P: predictive branch가 고른 next-hop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τ: normal 후보가 위험하다고 판단하는 기준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δ: predictive 후보로 바꿀 만큼 충분한 안전 이득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S=1이면 a_P를 사용, 아니면 a_N 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1A993-8D51-48BD-9720-70531009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12</a:t>
            </a:r>
          </a:p>
        </p:txBody>
      </p:sp>
    </p:spTree>
    <p:extLst>
      <p:ext uri="{BB962C8B-B14F-4D97-AF65-F5344CB8AC3E}">
        <p14:creationId xmlns:p14="http://schemas.microsoft.com/office/powerpoint/2010/main" val="7313787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255889-0FC7-4E98-B04B-9B6D886C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12 | ALGORITHM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1373E-E27E-4754-9770-846309CD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제안 알고리즘의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29393-E652-492F-9383-62BE9310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실제 라우팅 시에는 아래 5단계를 매 hop 반복합니다.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2F51C-62FB-4062-8767-20BA40A9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D5C4D-0DC3-424A-BA94-76A4C26F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31432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8B758-C4C1-4959-A499-EA5B63B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2B903-2063-4466-B9FC-3FFA3D80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2E31B-5F28-434E-8035-1863A7D2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81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5DFC"/>
                </a:solidFill>
              </a:defRPr>
            </a:pPr>
            <a:r>
              <a:rPr sz="1500" b="1" i="0">
                <a:solidFill>
                  <a:srgbClr val="155DFC"/>
                </a:solidFill>
              </a:rPr>
              <a:t>후보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F291D-5201-493F-B634-4217224C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6220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5556C"/>
                </a:solidFill>
              </a:defRPr>
            </a:pPr>
            <a:r>
              <a:rPr sz="1050" b="0" i="0">
                <a:solidFill>
                  <a:srgbClr val="45556C"/>
                </a:solidFill>
              </a:rPr>
              <a:t>현재 노드 u의 1-hop 이웃 N(u)와 DROP을 action 후보로 둡니다.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BF2A2-1701-4FD2-9661-9BA0AE71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71650"/>
            <a:ext cx="31432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1BECC-E9BC-4998-AEAA-DAB46E79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1FF"/>
          </a:solidFill>
          <a:ln xmlns:a="http://schemas.openxmlformats.org/drawingml/2006/main" w="0">
            <a:solidFill>
              <a:srgbClr val="8E51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0F858-FB68-4F1B-BA30-8025373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B13BE-FDD8-4FFF-8590-6D39370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81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E51FF"/>
                </a:solidFill>
              </a:defRPr>
            </a:pPr>
            <a:r>
              <a:rPr sz="1500" b="1" i="0">
                <a:solidFill>
                  <a:srgbClr val="8E51FF"/>
                </a:solidFill>
              </a:rPr>
              <a:t>지역 feature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03F14-4BA5-491A-9737-6BE9007A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5556C"/>
                </a:solidFill>
              </a:defRPr>
            </a:pPr>
            <a:r>
              <a:rPr sz="1050" b="0" i="0">
                <a:solidFill>
                  <a:srgbClr val="45556C"/>
                </a:solidFill>
              </a:rPr>
              <a:t>각 후보 i에 대해 진행도, 링크 여유, 링크 수명, 큐 여유, onward 안정성을 계산합니다.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D34CD-C29F-4113-B413-0798BFA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71650"/>
            <a:ext cx="31432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CE2C4-D7E5-4483-9CC6-A03BC736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C67A3-27C9-49E8-8B05-86CDD916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C90C9-EA1D-426E-B8B6-717506D4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0BC7D"/>
                </a:solidFill>
              </a:defRPr>
            </a:pPr>
            <a:r>
              <a:rPr sz="1500" b="1" i="0">
                <a:solidFill>
                  <a:srgbClr val="00BC7D"/>
                </a:solidFill>
              </a:rPr>
              <a:t>Normal 후보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0C881-9E27-46DE-9C64-BBE774F4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6220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5556C"/>
                </a:solidFill>
              </a:defRPr>
            </a:pPr>
            <a:r>
              <a:rPr sz="1050" b="0" i="0">
                <a:solidFill>
                  <a:srgbClr val="45556C"/>
                </a:solidFill>
              </a:rPr>
              <a:t>Geo-Residual / local student branch가 기본 next-hop a_N을 선택합니다.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417B9-C6A5-44A6-BA4F-E3CC6249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48101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8F452-45D4-42E8-9D8F-D0C295D9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900"/>
          </a:solidFill>
          <a:ln xmlns:a="http://schemas.openxmlformats.org/drawingml/2006/main" w="0">
            <a:solidFill>
              <a:srgbClr val="FF69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8BA93-302B-4491-BA5D-A56B9060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148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AF6BA-EF9D-49D7-8E7E-E3DADD4E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1955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6900"/>
                </a:solidFill>
              </a:defRPr>
            </a:pPr>
            <a:r>
              <a:rPr sz="1500" b="1" i="0">
                <a:solidFill>
                  <a:srgbClr val="FF6900"/>
                </a:solidFill>
              </a:rPr>
              <a:t>Predictive 후보 선택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F2DF5B-50BA-4242-983D-C89C4367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00550"/>
            <a:ext cx="3686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5556C"/>
                </a:solidFill>
              </a:defRPr>
            </a:pPr>
            <a:r>
              <a:rPr sz="1050" b="0" i="0">
                <a:solidFill>
                  <a:srgbClr val="45556C"/>
                </a:solidFill>
              </a:rPr>
              <a:t>위험 penalty, keep 확률, energy tie-break를 반영해 a_P를 선택합니다.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A0537-A378-4087-9588-038B776A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48101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C0026C-C555-4288-9881-7A0B3280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056"/>
          </a:solidFill>
          <a:ln xmlns:a="http://schemas.openxmlformats.org/drawingml/2006/main" w="0">
            <a:solidFill>
              <a:srgbClr val="FF20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EE881-3C82-48D1-A735-BB2E540F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48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377A3-AB8F-4622-85A9-ED3606C7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1955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2056"/>
                </a:solidFill>
              </a:defRPr>
            </a:pPr>
            <a:r>
              <a:rPr sz="1500" b="1" i="0">
                <a:solidFill>
                  <a:srgbClr val="FF2056"/>
                </a:solidFill>
              </a:rPr>
              <a:t>Risk-Switch 결정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728A25-FCC6-4DE0-AD1B-F886FF90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00550"/>
            <a:ext cx="3686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5556C"/>
                </a:solidFill>
              </a:defRPr>
            </a:pPr>
            <a:r>
              <a:rPr sz="1050" b="0" i="0">
                <a:solidFill>
                  <a:srgbClr val="45556C"/>
                </a:solidFill>
              </a:rPr>
              <a:t>a_N이 위험하거나 DROP이면, 충분히 안전 이득이 있는 경우에만 a_P로 전환합니다.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28B569-E7B6-4DC4-9DAD-4B61398E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578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2C85"/>
                </a:solidFill>
              </a:defRPr>
            </a:pPr>
            <a:r>
              <a:rPr sz="1350" b="1" i="0">
                <a:solidFill>
                  <a:srgbClr val="312C85"/>
                </a:solidFill>
              </a:rPr>
              <a:t>핵심: 매 hop에서 후보를 전부 다시 평가하므로, UAV 이동으로 네트워크가 바뀌어도 local observation 기반으로 빠르게 대응할 수 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45D521-E1DA-4C99-91AA-E1A19834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13</a:t>
            </a:r>
          </a:p>
        </p:txBody>
      </p:sp>
    </p:spTree>
    <p:extLst>
      <p:ext uri="{BB962C8B-B14F-4D97-AF65-F5344CB8AC3E}">
        <p14:creationId xmlns:p14="http://schemas.microsoft.com/office/powerpoint/2010/main" val="5898097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FF935-945D-4341-A942-BD0BB07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13 | EXECUTABLE ALGORITHM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4C2A3-0777-494D-A3FD-FB8A565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실제 실행 알고리즘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9DA13-43C8-493C-AA1D-5377660D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각 hop마다 모든 후보 이웃을 평가하고, 최종 next-hop 하나를 선택합니다.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1E18F-CF25-422B-8189-221F4BB8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FE806-70F1-4D35-9B83-9383B717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19125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05C1E-CCFA-4267-920D-7CF1EF63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55DFC"/>
                </a:solidFill>
              </a:defRPr>
            </a:pPr>
            <a:r>
              <a:rPr sz="1350" b="1" i="0">
                <a:solidFill>
                  <a:srgbClr val="155DFC"/>
                </a:solidFill>
              </a:rPr>
              <a:t>Algorithm: Risk-Switch Lite-GLOBE-P+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CE4D9-A458-424F-A690-C552C0D9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5334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Input: current node u, destination d, 1-hop neighbors N(u)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Output: next-hop action a*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1. For each candidate i in N(u):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compute P_i, F_i, M_i, L_i, Q_i, O_i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compute plus features: ō_i,topk, ρ_i, p_keep, η_i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compute S_PG(i), G(i), D_i, Q_i^safe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2. Normal branch: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a_N = argmax_i z_i^N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3. Predictive branch: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z_i^{P+} = z_i^P + λ_Eη_i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suppress DROP if safe forward candidate exists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a_P = argmax_i z_i^{P+}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4. Switch decision: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if a_N=DROP or D(a_N)&gt;τ or safe_gain(a_P,a_N)&gt;δ: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   a* = a_P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else:</a:t>
            </a:r>
          </a:p>
          <a:p xmlns:a="http://schemas.openxmlformats.org/drawingml/2006/main">
            <a:pPr>
              <a:defRPr sz="825" b="0" i="0">
                <a:solidFill>
                  <a:srgbClr val="312C85"/>
                </a:solidFill>
              </a:defRPr>
            </a:pPr>
            <a:r>
              <a:rPr sz="825" b="0" i="0">
                <a:solidFill>
                  <a:srgbClr val="312C85"/>
                </a:solidFill>
              </a:rPr>
              <a:t>      a* = a_N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C179A-DCEB-4D20-BAF0-F71AF53E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0050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B2716-1295-43A9-87CF-6CB92A70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0BC7D"/>
                </a:solidFill>
              </a:defRPr>
            </a:pPr>
            <a:r>
              <a:rPr sz="1500" b="1" i="0">
                <a:solidFill>
                  <a:srgbClr val="00BC7D"/>
                </a:solidFill>
              </a:rPr>
              <a:t>계산 복잡도와 배포성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40922-D529-41C5-AFA1-89C83569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후보 수를 k=|N(u)|라 하면 후보별 feature 계산은 O(k)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top-k onward 요약은 local neighbor summary로 계산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실행 시 global graph, centralized controller, online message passing이 필요 없음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DRAMA류와 달리 후보 간 hidden communication을 유지하지 않음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따라서 UAV onboard routing rule로 설명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35E83-D116-4547-9525-77485F5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31432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0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E11E1-D054-4DFE-848A-310FFC3D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06045"/>
                </a:solidFill>
              </a:defRPr>
            </a:pPr>
            <a:r>
              <a:rPr sz="975" b="1" i="0">
                <a:solidFill>
                  <a:srgbClr val="006045"/>
                </a:solidFill>
              </a:rPr>
              <a:t>요약: 성능 향상을 위해 복잡한 MARL 통신을 추가한 것이 아니라, 지역 후보 평가식을 더 똑똑하게 만든 방식입니다.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70D2F-EE36-4A26-BF6E-E4E8CFD7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14</a:t>
            </a:r>
          </a:p>
        </p:txBody>
      </p:sp>
    </p:spTree>
    <p:extLst>
      <p:ext uri="{BB962C8B-B14F-4D97-AF65-F5344CB8AC3E}">
        <p14:creationId xmlns:p14="http://schemas.microsoft.com/office/powerpoint/2010/main" val="13448186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686A1-3DE0-455C-9592-A1D3FFD1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14 | VARIABLE 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E84B2-B9F1-4F6B-9198-C8893A8E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수식 변수 한 장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72817-3783-4810-848F-2066175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교수님 질문에 바로 답할 수 있도록 주요 변수를 의미 중심으로 정리합니다.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5F672-0C7A-4CEE-9C98-EB562B75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DABAD-AFED-4547-9C81-0EBB1C92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28CD6-82CF-4BB8-B35D-F03C34F6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변수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02BA9-E629-4F89-BE8B-1B3DCB28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A765-4A44-43DE-8FB6-E5F22B5B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9545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AD529-ABB3-487D-BEDC-A116CA5C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A576B-2F79-445F-98FB-D5F45E92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직관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C1FA6-63DC-4586-956C-DDAFF553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7D436-2E36-45B0-AF93-305A5726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P_j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9C2FE-7222-4A23-B8E3-F11B097D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28825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C603D-3033-4F72-9E4C-8B7D6FD9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05025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목적지 방향 진행도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C85E3-E256-4ADE-A2C8-F5BBDB42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28825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3CD6E-8649-43D3-BB21-32C2B2EB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0502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클수록 GPSR처럼 목적지에 가까워짐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68E15-F8A2-454F-BB27-2576F61B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F23F9-D4F4-434D-8380-153C74E5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F_j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91B62-9213-4BC5-B1AD-23A22D32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38400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6B3E3-698F-4BC1-B986-256F12BF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1460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forwardability / onward degree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F2E4C-06D1-4107-BF75-6B52C707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000F4-DD59-4C67-A5F0-3C3A4402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다음 홉 이후에도 보낼 후보가 많음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212AD-839F-40EA-9986-ACA21DF2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AD56F-C1F7-49EC-9653-17F8343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M_j, m_i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3D38C-0446-453E-9245-258FA998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47975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A8B4E-8C96-4200-863E-370B3654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24175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현재 링크 margin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F4BD6-2200-49E4-A1EF-12F4C569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47975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797B4-1215-4C6C-9596-45A8B014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2417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통신 반경 안쪽에 여유가 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464C04-F8AF-44C4-9176-116F7E9F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837CDC-C241-4493-9E02-FEA286DE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L_j, ℓ_i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ADCCA5-FFE1-457D-BC33-070ED73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3D7CCC-CDBD-45AB-AB3C-F1D9524E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3375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현재 링크 predicted lifetime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66DCFC-E27F-4E44-8AD3-05CD036D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CFEB4-560E-41BB-AA9F-D3C3AAC4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현재 링크가 오래 유지됨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5EFE3-6E8A-4D3C-B498-3FA753A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904C3E-535B-410A-9C2E-9A67CD48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Q_j, q_i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D4736-21FF-4ABA-8865-EB19AF6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67125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C11076-0EDD-4B1A-8F76-AF7A99D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43325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queue headroom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C75D4E-FE43-487D-818B-68988A0B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67125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20C671-F1A3-42C5-8845-EB69DE6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4332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후보 노드가 덜 혼잡함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058D3D-52C0-4032-81B8-95EA27E2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640E64-BFEF-4C88-B6F0-CA241ADD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O_j, o_i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6E39A8-5415-49C5-A585-77166D8E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89282A-0FFA-43FC-A16B-44A65D0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5290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best onward lifetime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EBB855-1D0C-4ABA-AFBA-4DDD7AD4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76700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8E47D6-762B-4899-A8E5-CEAD154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52900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다음 홉 이후 가장 좋은 링크가 오래 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8AE7CC-07AE-41D6-89E3-7ACF4AE3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926386-C25C-401E-BC91-5F5C5A68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ō_i,topk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E5A56C-83AC-49E6-B32E-1D0FDBEA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86275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7038EB-6389-4653-9CC9-DB8D56C7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62475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상위 k개 onward lifetime 평균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6ADA66-8A18-4F48-A074-33061FB1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86275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E2CF4E-BE96-4E2E-86FE-FA910C1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6247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경로가 하나에만 의존하지 않음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ADF051-5860-41ED-B9B4-29A893B4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A9EC79-A9DC-4B16-9F5C-2B4CFC76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ρ_i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09E745-F181-4710-B9DF-6B14D8CF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855F00-F4D4-44ED-A81E-CD43C966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7205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onward 후보 중복성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F7E79B-C00B-4D48-93D9-E2F39EAF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95850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7F9387-B711-455E-9C06-EDAC7803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72050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우회 선택지가 많음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D03908-617E-43DF-9FF4-651A51F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076768-D29B-4917-8315-1006912A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p_keep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186CC6-7AA9-429B-9D0C-743EFF2C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05425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64D1E6-CCAC-4460-A334-C42B299E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81625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링크 유지 확률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1FD67B-9F32-4A8F-90A1-B74C886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05425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400025-1899-4C16-80DB-C1D09D15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8162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stochastic loss에서도 살아남을 가능성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B4A587-3331-403B-B4C6-354803CC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143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DFA89A-E88B-4778-A94A-FD8AF5D8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η_i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F1A79F-D44B-4DFA-B714-8544F73F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3333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0AB709-52D7-4379-9BEF-698C407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9120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에너지 효율 proxy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8262AD-2522-4701-A604-EBB6D4A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0"/>
            <a:ext cx="63817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E8E46C-5E26-4BA1-9CA5-01FB8243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91200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20618"/>
                </a:solidFill>
              </a:defRPr>
            </a:pPr>
            <a:r>
              <a:rPr sz="900" b="0" i="0">
                <a:solidFill>
                  <a:srgbClr val="020618"/>
                </a:solidFill>
              </a:rPr>
              <a:t>짧은 링크일수록 송신 부담이 작음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3E5052-7398-43F0-BE7D-DCFDDDFB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91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12C85"/>
                </a:solidFill>
              </a:defRPr>
            </a:pPr>
            <a:r>
              <a:rPr sz="1200" b="1" i="0">
                <a:solidFill>
                  <a:srgbClr val="312C85"/>
                </a:solidFill>
              </a:rPr>
              <a:t>중요한 해석: 이 변수들은 대부분 현재 노드와 1-hop 후보, 그리고 후보가 제공하는 onward 요약에서 계산되므로 local execution 조건을 유지합니다.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00D998-CA9C-45DB-A110-CAD0831A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15</a:t>
            </a:r>
          </a:p>
        </p:txBody>
      </p:sp>
    </p:spTree>
    <p:extLst>
      <p:ext uri="{BB962C8B-B14F-4D97-AF65-F5344CB8AC3E}">
        <p14:creationId xmlns:p14="http://schemas.microsoft.com/office/powerpoint/2010/main" val="10713296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8EB5B5-04FD-48D5-9CE6-DA6056AE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15 | RISK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A5B9A-FC0D-446F-A973-75ADB871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위험을 수식으로 어떻게 판단하는가?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19794-47DB-43BE-9644-A91860F5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단순히 가까운 노드를 고르지 않고, 링크가 버틸지와 다음 홉 이후 길이 있는지를 수치화합니다.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38DC9-53FC-4D83-B6EB-2D9D7617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56A2C-8942-4457-BFF8-C0D6F098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7625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2ED36-9FB6-4AB1-A05F-334D16CE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5DFC"/>
                </a:solidFill>
              </a:defRPr>
            </a:pPr>
            <a:r>
              <a:rPr sz="1500" b="1" i="0">
                <a:solidFill>
                  <a:srgbClr val="155DFC"/>
                </a:solidFill>
              </a:rPr>
              <a:t>기본 위험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F2BF3-B10D-492A-BC70-1E0A3331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312C85"/>
                </a:solidFill>
              </a:defRPr>
            </a:pPr>
            <a:r>
              <a:rPr sz="2025" b="1" i="0">
                <a:solidFill>
                  <a:srgbClr val="312C85"/>
                </a:solidFill>
              </a:rPr>
              <a:t>xᵢʳⁱˢᵏ = [mᵢ, ℓᵢ, qᵢ, oᵢ]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0D487-C69E-4C6B-BBE1-580E0748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mᵢ: 통신 반경 대비 링크 여유도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ℓᵢ: 예측된 현재 링크 생존 시간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qᵢ: 큐 여유도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oᵢ: 다음 홉 이후 가장 좋은 onward link 수명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14FF7-4F74-446A-A96A-2666139D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7625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D6716-7141-49BC-B13D-DCA48B5A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6900"/>
                </a:solidFill>
              </a:defRPr>
            </a:pPr>
            <a:r>
              <a:rPr sz="1500" b="1" i="0">
                <a:solidFill>
                  <a:srgbClr val="FF6900"/>
                </a:solidFill>
              </a:rPr>
              <a:t>P+ 추가 feature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C5813-A4D2-4CFA-BDAB-838AB7F0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312C85"/>
                </a:solidFill>
              </a:defRPr>
            </a:pPr>
            <a:r>
              <a:rPr sz="2025" b="1" i="0">
                <a:solidFill>
                  <a:srgbClr val="312C85"/>
                </a:solidFill>
              </a:rPr>
              <a:t>xᵢᵖˡᵘˢ = [ōᵢ,topk, ρᵢ, p_keep, ηᵢ]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1140F-8BEC-47A0-BA49-6DFA75F4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ōᵢ,topk: 상위 k개 onward link 평균 안정성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ρᵢ: 다음 단계에서 선택 가능한 후보 중복성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p_keep: 현재 링크가 유지될 확률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ηᵢ = 1 - (dᵢ/Rc)²: 에너지 효율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945F9-59FD-45E8-9217-683D93B8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쉽게 말하면: '이웃이 목적지에 가까운가?'뿐 아니라 '그 이웃을 거쳐도 길이 계속 살아 있는가?'를 묻습니다.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8A905-286D-43C2-998A-350C29F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16</a:t>
            </a:r>
          </a:p>
        </p:txBody>
      </p:sp>
    </p:spTree>
    <p:extLst>
      <p:ext uri="{BB962C8B-B14F-4D97-AF65-F5344CB8AC3E}">
        <p14:creationId xmlns:p14="http://schemas.microsoft.com/office/powerpoint/2010/main" val="21030540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00EC5C-A1ED-42F0-89A0-8299A3E0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16 | RISK-SWITCH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05A09-D56C-4BB9-8D3B-571CCBF7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언제 기존 선택을 바꾸는가?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851D-7D62-4208-A26B-82078E9F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좋아 보이는 노드라도 위험하면 predictive candidate로 바꿉니다. 단, 무조건 자주 바꾸지는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08F09-3A07-4235-8A5F-992C3D74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E481C-7B20-42AA-8579-A384C38E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00062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BCD11-C14F-4A98-BD4F-5B14DE5C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2056"/>
                </a:solidFill>
              </a:defRPr>
            </a:pPr>
            <a:r>
              <a:rPr sz="1500" b="1" i="0">
                <a:solidFill>
                  <a:srgbClr val="FF2056"/>
                </a:solidFill>
              </a:rPr>
              <a:t>위험 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D90B0-CEEB-44E5-9567-74039ADE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312C85"/>
                </a:solidFill>
              </a:defRPr>
            </a:pPr>
            <a:r>
              <a:rPr sz="1500" b="1" i="0">
                <a:solidFill>
                  <a:srgbClr val="312C85"/>
                </a:solidFill>
              </a:rPr>
              <a:t>Dᵢ = [gₘ-mᵢ]₊ + [gℓ-ℓᵢ]₊ + [gₒ-oᵢ]₊</a:t>
            </a:r>
          </a:p>
          <a:p xmlns:a="http://schemas.openxmlformats.org/drawingml/2006/main">
            <a:pPr>
              <a:defRPr sz="1500" b="1" i="0">
                <a:solidFill>
                  <a:srgbClr val="312C85"/>
                </a:solidFill>
              </a:defRPr>
            </a:pPr>
            <a:r>
              <a:rPr sz="1500" b="1" i="0">
                <a:solidFill>
                  <a:srgbClr val="312C85"/>
                </a:solidFill>
              </a:rPr>
              <a:t>     + [gₜ-ōᵢ,topk]₊ + 0.5[gρ-ρᵢ]₊ + [gp-p_keep]₊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DCC98-38B1-4F4F-BC04-45E957BC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403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Dᵢ가 클수록 위험합니다. 즉 링크 여유, 링크 수명, onward 안정성, 후보 중복성, keep 확률이 기준보다 낮으면 벌점을 받습니다.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CA657-858C-4D8A-BDB4-72BE22C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500062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2731A-7618-4B10-985A-906E6FC6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6900"/>
                </a:solidFill>
              </a:defRPr>
            </a:pPr>
            <a:r>
              <a:rPr sz="1500" b="1" i="0">
                <a:solidFill>
                  <a:srgbClr val="FF6900"/>
                </a:solidFill>
              </a:rPr>
              <a:t>스위치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6D2DA-4CE1-4126-8F34-9203F0DD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312C85"/>
                </a:solidFill>
              </a:defRPr>
            </a:pPr>
            <a:r>
              <a:rPr sz="1500" b="1" i="0">
                <a:solidFill>
                  <a:srgbClr val="312C85"/>
                </a:solidFill>
              </a:rPr>
              <a:t>S = 1[ aₙ = DROP  or  D(aₙ)&gt;τ</a:t>
            </a:r>
          </a:p>
          <a:p xmlns:a="http://schemas.openxmlformats.org/drawingml/2006/main">
            <a:pPr>
              <a:defRPr sz="1500" b="1" i="0">
                <a:solidFill>
                  <a:srgbClr val="312C85"/>
                </a:solidFill>
              </a:defRPr>
            </a:pPr>
            <a:r>
              <a:rPr sz="1500" b="1" i="0">
                <a:solidFill>
                  <a:srgbClr val="312C85"/>
                </a:solidFill>
              </a:rPr>
              <a:t>        or  (aₚ≠aₙ and G(aₚ,aₙ)&gt;δ)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2D615-B76D-48BA-8439-2F71D2ED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24250"/>
            <a:ext cx="3905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aₙ: 현재 네트워크 정책의 후보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aₚ: predictive/risk-aware 후보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G: 후보 간 안전성 이득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τ, δ: 너무 잦은 전환을 막는 기준값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160D0-D712-4D23-9E82-5C1C818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2C85"/>
                </a:solidFill>
              </a:defRPr>
            </a:pPr>
            <a:r>
              <a:rPr sz="1350" b="1" i="0">
                <a:solidFill>
                  <a:srgbClr val="312C85"/>
                </a:solidFill>
              </a:rPr>
              <a:t>교수님께 설명할 요지: '위험할 때만 바꾸는 구조'라서 성능 개선과 안정성을 동시에 노립니다.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4DA93-5435-4851-9DCF-C2218DD0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17</a:t>
            </a:r>
          </a:p>
        </p:txBody>
      </p:sp>
    </p:spTree>
    <p:extLst>
      <p:ext uri="{BB962C8B-B14F-4D97-AF65-F5344CB8AC3E}">
        <p14:creationId xmlns:p14="http://schemas.microsoft.com/office/powerpoint/2010/main" val="8190887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CC53AF-9276-4CBF-9C75-A9D3A10F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17 | PHASE13 P+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88B5F-E2C1-4CCB-A7BE-A9FCBBAC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현재 보완 중인 최종 알고리즘 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2D1A0-1803-4C36-8C83-9171C9F5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Phase12의 약점인 energy와 predictive-break+loss를 줄이기 위한 보완입니다.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C6BA5-96EF-4D16-A4F7-8472168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E9686-7729-4851-970F-5F5BA30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9530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0E84F-38C8-4FA6-9641-34E2333E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0BC7D"/>
                </a:solidFill>
              </a:defRPr>
            </a:pPr>
            <a:r>
              <a:rPr sz="1500" b="1" i="0">
                <a:solidFill>
                  <a:srgbClr val="00BC7D"/>
                </a:solidFill>
              </a:rPr>
              <a:t>P+에서 추가된 장치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502B0-A782-45E4-A65E-3C704CE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Top-k onward stability: 다음 홉 이후 경로가 하나뿐인지 여러 개인지 확인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Onward redundancy: 우회 후보가 많을수록 안전한 후보로 판단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Link keep probability: 곧 끊길 링크를 사전에 회피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Energy tie-break: 비슷한 후보라면 더 짧고 효율적인 링크 선택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Drop suppression: 안전 후보가 있으면 DROP을 쉽게 선택하지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59A96-A700-4BFD-8BB5-C4C91498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762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930EA-4838-4ABA-943E-DE5D1637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76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5DFC"/>
                </a:solidFill>
              </a:defRPr>
            </a:pPr>
            <a:r>
              <a:rPr sz="1500" b="1" i="0">
                <a:solidFill>
                  <a:srgbClr val="155DFC"/>
                </a:solidFill>
              </a:rPr>
              <a:t>간단한 의사코드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EA152-A722-4789-8B7C-46598556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37147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for each candidate neighbor i:</a:t>
            </a:r>
          </a:p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  compute progress, margin, lifetime</a:t>
            </a:r>
          </a:p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  compute onward stability and redundancy</a:t>
            </a:r>
          </a:p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  compute danger D_i and energy η_i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choose normal action a_n</a:t>
            </a:r>
          </a:p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choose predictive action a_p</a:t>
            </a:r>
          </a:p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if a_n is risky and a_p is safer:</a:t>
            </a:r>
          </a:p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  route through a_p</a:t>
            </a:r>
          </a:p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else:</a:t>
            </a:r>
          </a:p>
          <a:p xmlns:a="http://schemas.openxmlformats.org/drawingml/2006/main">
            <a:pPr>
              <a:defRPr sz="1125" b="0" i="0">
                <a:solidFill>
                  <a:srgbClr val="312C85"/>
                </a:solidFill>
              </a:defRPr>
            </a:pPr>
            <a:r>
              <a:rPr sz="1125" b="0" i="0">
                <a:solidFill>
                  <a:srgbClr val="312C85"/>
                </a:solidFill>
              </a:rPr>
              <a:t>  keep a_n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953CE-E37B-464A-92E9-8E2C0087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18</a:t>
            </a:r>
          </a:p>
        </p:txBody>
      </p:sp>
    </p:spTree>
    <p:extLst>
      <p:ext uri="{BB962C8B-B14F-4D97-AF65-F5344CB8AC3E}">
        <p14:creationId xmlns:p14="http://schemas.microsoft.com/office/powerpoint/2010/main" val="16107101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F2606F-AA01-48DD-A2C6-E4B6610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18 | PHASE12 FULL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46BD4-2840-4DA1-90DC-AAA0E821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전체 평균에서 제안기법은 어느 정도 좋은가?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9EF71-B513-44BC-98CB-FD67AB3B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Phase12 full 결과 기준, Risk-Switch는 평균 PDR과 deadline에서 가장 높은 그룹입니다.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7C93F-4FAB-4E4F-849F-D790EEAE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2DF2E-C188-4E5B-B3B4-C2E39D88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52387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952500" y="2076450"/>
          <a:ext xmlns:a="http://schemas.openxmlformats.org/drawingml/2006/main" cx="4667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579182ade6460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609A9-A52B-429E-B2BA-D1F1F05F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52387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0" y="2076450"/>
          <a:ext xmlns:a="http://schemas.openxmlformats.org/drawingml/2006/main" cx="4572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ee66ae066d4c6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05A6C-7917-4AB8-A6FC-8DE3E968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2C85"/>
                </a:solidFill>
              </a:defRPr>
            </a:pPr>
            <a:r>
              <a:rPr sz="1350" b="1" i="0">
                <a:solidFill>
                  <a:srgbClr val="312C85"/>
                </a:solidFill>
              </a:rPr>
              <a:t>Risk-Switch: PDR 0.905, Deadline 0.838 | GPSR 대비 PDR +32.5%, Deadline +31.5%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12DB8-2D7C-454F-A14E-B33139C7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19</a:t>
            </a:r>
          </a:p>
        </p:txBody>
      </p:sp>
    </p:spTree>
    <p:extLst>
      <p:ext uri="{BB962C8B-B14F-4D97-AF65-F5344CB8AC3E}">
        <p14:creationId xmlns:p14="http://schemas.microsoft.com/office/powerpoint/2010/main" val="13801561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E24425-4B27-46EA-9536-957CB898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19 | METRIC-LEVEL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F0509-DE3D-403E-B9E9-05B6DFA4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성능지표별 특징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1770F-9A4F-48B0-A1E9-0E289EA1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PDR만 보지 않고 delay, energy, overhead까지 같이 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02373-C5D7-4B04-8827-6D060F5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83385-69C6-4747-8F45-7184A2CE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463A3-EB72-46EF-878C-210C11A8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44849-0442-4B6A-93C7-E63B586D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721E2-4891-4133-A71D-752D9DCF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PDR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7000A-B036-4055-8C24-261C0ACD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46F21-8074-4D2C-8CED-C5DAF5A7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Deadline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E15FA-29E3-41A1-BCF1-2B479669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F14E3-560A-425E-BFFA-9BEFF123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907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Delay p95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A1176-3A04-44B5-8AE8-4DFD71D5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2E623-6105-4F0C-B289-A9C4F3A6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907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Energy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9492D-D07D-4C4A-8AA2-71543B0B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190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2323C-D83E-4B50-83EC-5590B89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907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Bytes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7ED1C-A0B6-42AB-9593-3AE63995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1555A-5BBC-4B39-B020-2396B211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GPSR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36232-3293-446E-9590-3C2E28DE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2885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34729-CC84-445F-9A95-7EFEFF62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0.683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275C8-1802-4F3E-91AB-06542029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3343D-A937-425F-B0CC-3913C55B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0.637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6FF48-542A-425D-9A52-FBDA5B6B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2885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C9A5F-50C9-40E2-A70D-CABEDB43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4.163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96BA3-94BC-4066-8C0F-B011D8D7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2885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56BC8-6BB9-460B-BCB0-6DCE2EF4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1.166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D1665D-FE48-4FAA-B83C-7F994C13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28850"/>
            <a:ext cx="2190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5DCC0B-9286-496D-87B5-21718E58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2284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E3F5DB-2BC0-4A82-AC6A-E25FF8BA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435428-83B8-4192-8F82-12562784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Phase8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2B19B-7ED2-4AA9-830D-14EFC31F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B089EA-EB66-4738-889D-9E3011D7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194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0.803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BBC103-3092-43FA-8010-7E24316B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004FC3-845C-48B5-A8D7-6A9A89F9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194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0.740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A5622D-8807-4BEE-8A3E-243F2AD2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EE9CB7-04E8-4BB4-BED0-F5A7A9CD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194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4.110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4865F8-95BE-4D26-A3F9-52ED5046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A0A4E-E19B-4D0B-AD48-EA80582E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194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1.424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A3E740-1DC3-4185-9E99-9094EFE8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2190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799930-6042-4A1C-B9BD-8D662D54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3956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B3C9BC-9CBA-4A14-B8F6-4B1916C6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C4C741-367E-4DE6-9905-EE9EF0EE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Predictive Geo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F4AEDB-026B-47E5-925B-13617A55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D16471-6D49-4217-96CE-18E8A39D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0.892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E7EA55-70E6-4DFC-8A1D-01431B4D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A59F7A-0839-4E4D-8D25-4E57D942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0.823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209F3C-5492-4FA8-8688-415CC18E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90BA90-FC7C-4409-9199-66B9F06C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33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4.500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304FA7-AA9D-4899-BEAB-DD16160B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CD68B1-F45D-42FB-903E-087FB4D7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1.809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681435-DDC8-4C92-86A7-F0EEA43C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2190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5D13DB-666F-47C0-8894-40CB7AD6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5531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E52C8A-6A55-4294-A1C4-B247DCA6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231C8E-DADB-4ED5-84E6-C57F85EC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Evo-QGeo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3D5F7C-FB22-4EA8-83CA-B4C02B41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7190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DEFBA4-1F88-4026-A111-716DD124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0.887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6799A8-4510-42C7-9F4E-016B2335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4CF634-107A-4FC2-8D44-68F8E162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481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0.815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F1B8F8-CA51-44CB-87A5-EFA2B8D6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F7E077-3807-49F4-B24F-E2206982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481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4.557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4B8A35-AE19-4C2C-A89E-0494D8B5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88055F3-9B94-4498-A4A7-7C69A197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481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1.812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49E1CD-0A23-4682-9481-47061F3D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2190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B04FBF-E28E-429E-A95D-8111FD3E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481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6452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2CA508-3EFC-498D-B03D-5E6323F2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8E1593-899E-44E8-BAB3-A02CFC1D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DRAMA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EF8853-48DE-4833-943D-1CFDE467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A723EB-0025-4EB0-9C41-F4F4261E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0.891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B03142-672E-4EA8-AB39-11B093BA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E04A5E-5904-4614-B63F-9CDA9A79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0.822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2E9BF3-9ED8-4A9F-BC20-B0DC733D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782A5D-9354-402F-8B21-0A7BC6DE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624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4.504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5593E5-7975-49A7-94C3-3947251D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636999-A506-464A-833A-465A1FA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624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1.724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AE791BD-8D81-467A-A27D-CC63DA3A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190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B15F40-CDEE-451B-9B85-460FA0F6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6240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374AE0-601C-4AF5-8B22-2197736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6953131-0A43-447E-A6FA-D0C76103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Risk-Switch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3BEC792-1DED-4641-9CF7-9DC9366B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D19D50-BA72-4603-A1CD-3D708926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768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0.905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7E501C-FAF5-4B27-AEC0-E1200AD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1524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C10D595-5464-4478-996C-9F16D348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768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0.838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15A0B0-2772-4F3F-A5EE-14F542FD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006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1E94D97-2709-4F78-8BE2-2982D5D5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768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4.264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5474C6-F906-4ED6-9B97-770BFC75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1809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29955DF-7BFE-4C1D-AACE-82A69B0A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768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1.779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C581DA-5959-4E17-970D-263A3C40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00600"/>
            <a:ext cx="2190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88DE32-84A0-4953-BCCD-2933816E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768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4821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432951C-33C8-426D-A2D3-0EF5A76E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96202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F3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AC3A70A-4DD2-4955-B179-B1BBFA7D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007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B3306"/>
                </a:solidFill>
              </a:defRPr>
            </a:pPr>
            <a:r>
              <a:rPr sz="1125" b="1" i="0">
                <a:solidFill>
                  <a:srgbClr val="7B3306"/>
                </a:solidFill>
              </a:rPr>
              <a:t>해석: Risk-Switch는 reliability(PDR/deadline)와 overhead(bytes)의 균형이 좋지만,</a:t>
            </a:r>
          </a:p>
          <a:p xmlns:a="http://schemas.openxmlformats.org/drawingml/2006/main">
            <a:pPr>
              <a:defRPr sz="1125" b="1" i="0">
                <a:solidFill>
                  <a:srgbClr val="7B3306"/>
                </a:solidFill>
              </a:defRPr>
            </a:pPr>
            <a:r>
              <a:rPr sz="1125" b="1" i="0">
                <a:solidFill>
                  <a:srgbClr val="7B3306"/>
                </a:solidFill>
              </a:rPr>
              <a:t>energy proxy는 DRAMA보다 약간 높아 Phase13에서 보완 중입니다.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4596DE5-FA95-4737-8CF7-2DC45575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20</a:t>
            </a:r>
          </a:p>
        </p:txBody>
      </p:sp>
    </p:spTree>
    <p:extLst>
      <p:ext uri="{BB962C8B-B14F-4D97-AF65-F5344CB8AC3E}">
        <p14:creationId xmlns:p14="http://schemas.microsoft.com/office/powerpoint/2010/main" val="17101905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5D1390-CCF9-407E-A1E4-8D89A4A8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20 | SCENARIO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C975F-A6C8-418F-8F59-447039D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어떤 상황에서 강하고, 어디가 아직 어려운가?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288C6-B5D8-4F10-8517-C05E0366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평균뿐 아니라 상황별 결과를 봐야 논문 방어력이 생깁니다.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BDD63-1B74-422B-B537-47169EA6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F5904-0E10-4028-9082-15814C6F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809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CE83D-907B-47EF-B730-51DA4C8D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A23F2-4A94-4234-88A2-7D58C6F9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14500"/>
            <a:ext cx="17145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00CAD-71CB-45A3-83F5-34CF21CD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907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Risk-Switch PDR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67828-5554-4C51-8974-AB029EC5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2952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64825-7D6C-4FAC-8D0D-F9E77FE7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7F3E2-4FCE-4FB2-8017-4D8F56B3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14500"/>
            <a:ext cx="43053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12C8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41445-F838-4F04-BF33-7B7A5E5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비교 포인트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835CB-AB4C-48A5-88E7-5228FD21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809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ED128-C5B0-49F4-993C-9468643B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일반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59121-B5BC-408A-A9E0-78717AA1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7145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87CEF-F304-4412-971D-5455B4A2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193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0.946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E74C9-333A-41FE-8BD7-D95C5CE2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2952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092EE-AFC9-4CB1-8329-CBFC00AA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일반 성능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B9EA1-6CE2-4809-AA15-FCFFF865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43053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27458-FFB7-4A7B-9A05-F18A66D2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935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Phase8 0.948과 거의 동일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98F31-A2D3-4963-A685-6ABA099C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809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8EA10-DCF5-4A21-9690-951118CE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Routing-hole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A6100-6ED1-4859-B139-180F2E51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17145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CDC72-EE3A-4F9D-AADD-07AE571D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0.849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22068-0E6B-4A6F-A7F0-15A492A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952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BCB223-4650-4CC0-9A52-7AD6DEC6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GPSR 실패 보완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281CD3-E3D2-4B40-823C-19D4B4C8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71800"/>
            <a:ext cx="43053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EA16D-32B3-4329-9848-7A9513B5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GPSR 0.040 대비 큰 개선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A453E9-C42E-4536-85B3-ACE48888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28868D-C22E-45A5-83D1-6B367091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Predictive-break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774AED-F8DA-435A-B89E-275EB4C4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00450"/>
            <a:ext cx="17145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828E40-7560-47E6-98A5-A74C7676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766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0.756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B30184-52E7-42FD-B653-7773BC92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00450"/>
            <a:ext cx="2952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9D7A1B-7087-4C63-AFC9-7BA787F9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Phase8 약점 보완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F01637-7009-4CD2-B11B-A93C7D1A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43053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6F58E2-63C8-43D9-88C6-36E9C117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Phase8 0.032 -&gt; 0.756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CB501F-F403-4F8E-8617-09C7FE0F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809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976438-7337-4662-8F10-8F671001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노드 확장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8E00EC-1E50-41C2-9F04-20C51536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29100"/>
            <a:ext cx="17145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697840-6C71-4206-A132-767DE8A2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053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0.963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F88A82-7180-49C5-BE6D-E332AE01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29100"/>
            <a:ext cx="2952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2A7933-9C53-4A9A-8CD3-3F9AD68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확장성 유지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3B842C-A6F8-4502-97E9-E19D9F53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29100"/>
            <a:ext cx="43053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5BCF63-8413-4686-990B-E6803FD4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0530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DRAMA 0.948보다 우세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B53D22-B438-4DD1-8D86-31D09093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4381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0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4B28BF-1735-4283-B6F4-54402BF4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07A55"/>
                </a:solidFill>
              </a:defRPr>
            </a:pPr>
            <a:r>
              <a:rPr sz="1125" b="1" i="0">
                <a:solidFill>
                  <a:srgbClr val="007A55"/>
                </a:solidFill>
              </a:rPr>
              <a:t>강점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FF92CB-DC40-49B9-8BED-693B18BF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95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12C85"/>
                </a:solidFill>
              </a:defRPr>
            </a:pPr>
            <a:r>
              <a:rPr sz="1200" b="1" i="0">
                <a:solidFill>
                  <a:srgbClr val="312C85"/>
                </a:solidFill>
              </a:rPr>
              <a:t>routing-hole과 일반/확장 환경에서는 안정적으로 강함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05BCD6-F910-4AFB-A06E-D52C7E53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381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E4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85DE05-2502-4175-8F41-B60086F0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0036"/>
                </a:solidFill>
              </a:defRPr>
            </a:pPr>
            <a:r>
              <a:rPr sz="1125" b="1" i="0">
                <a:solidFill>
                  <a:srgbClr val="C70036"/>
                </a:solidFill>
              </a:rPr>
              <a:t>주의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68D8A4-66E9-4C46-A12F-4068237C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95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12C85"/>
                </a:solidFill>
              </a:defRPr>
            </a:pPr>
            <a:r>
              <a:rPr sz="1200" b="1" i="0">
                <a:solidFill>
                  <a:srgbClr val="312C85"/>
                </a:solidFill>
              </a:rPr>
              <a:t>predictive-break 일부 조건에서는 Evo-QGeo가 아직 더 강함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B468FE-6E31-4021-81D6-A2AC38F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21</a:t>
            </a:r>
          </a:p>
        </p:txBody>
      </p:sp>
    </p:spTree>
    <p:extLst>
      <p:ext uri="{BB962C8B-B14F-4D97-AF65-F5344CB8AC3E}">
        <p14:creationId xmlns:p14="http://schemas.microsoft.com/office/powerpoint/2010/main" val="819815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304D5-112A-4A6D-BA40-93A4CE26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21 | BASELINE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B64FC-6F40-4172-8812-6C37045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외부 baseline 3개를 왜 넣었는가?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AF716-67E0-46C2-8E3C-9854EC58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논문 설득력을 위해 GPSR만이 아니라 최신 RL 계열과도 비교했습니다.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9B3D4-FC35-45B6-92A5-57AE0AD4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04190-FD81-4CD1-96EA-C1C93D4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8575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AC511-F042-466D-A51F-62B876ED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14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6900"/>
                </a:solidFill>
              </a:defRPr>
            </a:pPr>
            <a:r>
              <a:rPr sz="1650" b="1" i="0">
                <a:solidFill>
                  <a:srgbClr val="FF6900"/>
                </a:solidFill>
              </a:rPr>
              <a:t>Evo-QGeo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5B5E9-2E41-4B7A-A780-C76EA9C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12C85"/>
                </a:solidFill>
              </a:defRPr>
            </a:pPr>
            <a:r>
              <a:rPr sz="1275" b="1" i="0">
                <a:solidFill>
                  <a:srgbClr val="312C85"/>
                </a:solidFill>
              </a:rPr>
              <a:t>미래 링크 상태 + Q-learning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BC941-0816-4C87-BBD1-5C384FCC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예측 단절에 강한 기준점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2DB46-C049-4964-9DFB-0A9C89A9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28575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B54C1-3A5B-4786-A2D9-2259470A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14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8E51FF"/>
                </a:solidFill>
              </a:defRPr>
            </a:pPr>
            <a:r>
              <a:rPr sz="1650" b="1" i="0">
                <a:solidFill>
                  <a:srgbClr val="8E51FF"/>
                </a:solidFill>
              </a:rPr>
              <a:t>IQMR Q(lambda)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EBE1A-358A-49E4-9A4F-49F3AFF9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051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12C85"/>
                </a:solidFill>
              </a:defRPr>
            </a:pPr>
            <a:r>
              <a:rPr sz="1275" b="1" i="0">
                <a:solidFill>
                  <a:srgbClr val="312C85"/>
                </a:solidFill>
              </a:rPr>
              <a:t>링크·큐·경로 품질 다중 목적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77D2C-E967-43D8-AAC0-14500AA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29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전통 RL 라우팅과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4FE5E-B110-4945-AAA5-9868F0CA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8575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F29EB-E960-4ACD-AE74-94BA3C85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5DFC"/>
                </a:solidFill>
              </a:defRPr>
            </a:pPr>
            <a:r>
              <a:rPr sz="1650" b="1" i="0">
                <a:solidFill>
                  <a:srgbClr val="155DFC"/>
                </a:solidFill>
              </a:rPr>
              <a:t>DRAMA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BEAAC-9556-48F3-B0E4-59AF11F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12C85"/>
                </a:solidFill>
              </a:defRPr>
            </a:pPr>
            <a:r>
              <a:rPr sz="1275" b="1" i="0">
                <a:solidFill>
                  <a:srgbClr val="312C85"/>
                </a:solidFill>
              </a:rPr>
              <a:t>MARL + emergent communication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7E12C-001A-4C7B-AB4F-50C5F19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협력/통신 기반 라우팅과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C61C0-69E3-474B-A7C6-262BA9B6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9620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B6AE0-FF0B-4976-88A2-447F647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911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단, 이 baseline들은 동일 시뮬레이션 환경에 맞춘 적응 구현입니다. 원 논문 전체 재현이라고 표현하면 안 되고, fair comparison을 위해 공통 환경에 이식한 비교 기법이라고 설명해야 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2DF81-C557-4C28-A8A9-9B25EA90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22</a:t>
            </a:r>
          </a:p>
        </p:txBody>
      </p:sp>
    </p:spTree>
    <p:extLst>
      <p:ext uri="{BB962C8B-B14F-4D97-AF65-F5344CB8AC3E}">
        <p14:creationId xmlns:p14="http://schemas.microsoft.com/office/powerpoint/2010/main" val="17242798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7F7AC-DC4A-456E-A3BC-BEE97EC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22 | VISUAL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81FE7-50A7-4715-B7DD-E2A56E3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논문 그림으로 이어질 수 있는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00FC1-EF6D-4049-B7D9-1EE4E25F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기존 생성 그래프를 발표자료에 넣어 연구 진행 상황을 시각적으로 보여줍니다.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4342C-9CCA-4847-B5D7-8BE2722D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383A2-5944-4609-8720-F8B6AC77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23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2437941d743e8"/>
          <a:stretch xmlns:a="http://schemas.openxmlformats.org/drawingml/2006/main"/>
        </p:blipFill>
        <p:spPr>
          <a:xfrm xmlns:a="http://schemas.openxmlformats.org/drawingml/2006/main">
            <a:off x="666750" y="2019300"/>
            <a:ext cx="6667500" cy="285750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36f7cf2864609"/>
          <a:stretch xmlns:a="http://schemas.openxmlformats.org/drawingml/2006/main"/>
        </p:blipFill>
        <p:spPr>
          <a:xfrm xmlns:a="http://schemas.openxmlformats.org/drawingml/2006/main">
            <a:off x="7848600" y="1828800"/>
            <a:ext cx="3333750" cy="1428750"/>
          </a:xfrm>
          <a:prstGeom xmlns:a="http://schemas.openxmlformats.org/drawingml/2006/main" prst="roundRect">
            <a:avLst>
              <a:gd name="adj" fmla="val 7229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871d06971486d"/>
          <a:stretch xmlns:a="http://schemas.openxmlformats.org/drawingml/2006/main"/>
        </p:blipFill>
        <p:spPr>
          <a:xfrm xmlns:a="http://schemas.openxmlformats.org/drawingml/2006/main">
            <a:off x="7848600" y="3638550"/>
            <a:ext cx="3333750" cy="1428750"/>
          </a:xfrm>
          <a:prstGeom xmlns:a="http://schemas.openxmlformats.org/drawingml/2006/main" prst="roundRect">
            <a:avLst>
              <a:gd name="adj" fmla="val 722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DA0CD-DB94-4A5F-9004-3A3D944E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673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12C85"/>
                </a:solidFill>
              </a:defRPr>
            </a:pPr>
            <a:r>
              <a:rPr sz="1275" b="1" i="0">
                <a:solidFill>
                  <a:srgbClr val="312C85"/>
                </a:solidFill>
              </a:rPr>
              <a:t>발표에서는 PDR 그림을 중심으로 설명하고, 논문 본문에서는 delay / overhead / scenario별 ablation을 별도 Figure로 분리하는 구성이 좋습니다.</a:t>
            </a:r>
          </a:p>
        </p:txBody>
      </p:sp>
    </p:spTree>
    <p:extLst>
      <p:ext uri="{BB962C8B-B14F-4D97-AF65-F5344CB8AC3E}">
        <p14:creationId xmlns:p14="http://schemas.microsoft.com/office/powerpoint/2010/main" val="18635315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189C1A-D1D0-432C-9F5E-8C34E425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23 | CLAIM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95E95-7FDA-4931-A9FE-D0F48EB2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논문에서 어디까지 주장할 수 있는가?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9C38A-1D18-40DF-A7F4-C24B21B8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좋은 논문은 강점뿐 아니라 주장 범위를 정확히 제한합니다.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19570-2C4D-47D6-8545-64206CD1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AA54C-9423-47B3-BB35-B3A62E4A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7625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0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A637B-5460-4453-B7E1-A8A7DEBE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7A55"/>
                </a:solidFill>
              </a:defRPr>
            </a:pPr>
            <a:r>
              <a:rPr sz="1575" b="1" i="0">
                <a:solidFill>
                  <a:srgbClr val="007A55"/>
                </a:solidFill>
              </a:rPr>
              <a:t>강하게 주장 가능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45097-93AB-484F-BA9F-84AB3A66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GPSR 대비 routing-hole와 link-break 상황에서 큰 개선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DRAMA 대비 낮은 control/input byte로 유사 또는 더 높은 reliability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전역 교사 지식을 지역 실행 정책으로 증류하는 구조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일반 환경 성능을 크게 희생하지 않고 위험 상황 보완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6C663-3C62-42A8-A43F-119E5CCA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7625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E4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13991-059A-456F-BE00-C9389EC3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70036"/>
                </a:solidFill>
              </a:defRPr>
            </a:pPr>
            <a:r>
              <a:rPr sz="1575" b="1" i="0">
                <a:solidFill>
                  <a:srgbClr val="C70036"/>
                </a:solidFill>
              </a:rPr>
              <a:t>조심해야 할 주장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4AA17-9AAC-4DF6-ADCF-B9352EF1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모든 조건에서 항상 최고라고 말하면 위험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외부 baseline 원 논문 재현이라고 과장 금지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실제 UAV 장비·MAC contention·beacon overhead 검증은 아직 부족</a:t>
            </a:r>
          </a:p>
          <a:p xmlns:a="http://schemas.openxmlformats.org/drawingml/2006/main">
            <a:pPr>
              <a:defRPr sz="1200" b="0" i="0">
                <a:solidFill>
                  <a:srgbClr val="020618"/>
                </a:solidFill>
              </a:defRPr>
            </a:pPr>
            <a:r>
              <a:rPr sz="1200" b="0" i="0">
                <a:solidFill>
                  <a:srgbClr val="020618"/>
                </a:solidFill>
              </a:rPr>
              <a:t>• Phase13 P+는 full run 후 최종 claim 확정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3E9EB-42A9-4BEC-B8B1-68E0240F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24</a:t>
            </a:r>
          </a:p>
        </p:txBody>
      </p:sp>
    </p:spTree>
    <p:extLst>
      <p:ext uri="{BB962C8B-B14F-4D97-AF65-F5344CB8AC3E}">
        <p14:creationId xmlns:p14="http://schemas.microsoft.com/office/powerpoint/2010/main" val="8790734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9C1849-9725-4709-9565-B4186FCF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2748E"/>
                </a:solidFill>
              </a:defRPr>
            </a:pPr>
            <a:r>
              <a:rPr sz="900" b="1" i="0">
                <a:solidFill>
                  <a:srgbClr val="62748E"/>
                </a:solidFill>
              </a:rPr>
              <a:t>24 | NEXT VALIDATION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ABA14-28F4-4292-9CCB-1DAD46B2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20618"/>
                </a:solidFill>
              </a:defRPr>
            </a:pPr>
            <a:r>
              <a:rPr sz="2325" b="1" i="0">
                <a:solidFill>
                  <a:srgbClr val="020618"/>
                </a:solidFill>
              </a:rPr>
              <a:t>교수님께 제안드릴 다음 실험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42C71-9D88-4F95-B2E4-59FE229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Phase13 P+가 최종 제안기법이 되려면 아래 검증이 필요합니다.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F5885-4D03-4BF2-B718-16C36368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138CE-CAA7-44D3-97F7-0622C35D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41CD3-6ADF-4085-99E5-A3702AD7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29882-E288-467B-90A1-513FFBCA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33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Phase13 full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8E344-32CD-4C00-9A2B-509B3DC7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097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5 seeds 이상, Phase12와 동일 scenario로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2762F-C582-4BF4-A48C-D2F76393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BFB47-6DD2-4585-ACDB-00C896B6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21A75-97BE-4AC0-AD25-455605FE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38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Ablation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6B345-E20D-4A20-B865-BC9BDC6C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146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no top-k, no energy tie, no drop suppression 등 제거 실험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00DCC-7F32-4494-81D5-04B79525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87B7B-B568-4F85-9247-A28A5C68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F374C-FDC7-464D-A5D2-2C152432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Overhead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CFF4F-C0A9-4EBF-969D-E4419F49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194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DRAMA 대비 control/input byte per delivered packet 명확화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7D9A7-4ECD-4ED6-818A-B3DB358D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73DA9-27DC-44A6-B3FE-DE27049F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2D263-DC91-44AB-A796-6203C6B1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Stress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2FF7B-40B3-4724-B8F8-11B2C782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243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link-loss, high mobility, 16/24 UAV, communication range 변화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8CA61-8E6A-48B4-9573-FB04379D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854E9-70D2-4CDC-A2E9-C7D2ADE5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88BC98-DD73-4265-AAE8-F8585A0A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52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Manuscript alignment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F9555-3731-4475-BF31-640C363B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수식·알고리즘·그림·baseline 설명을 논문 본문으로 정리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C05DBF-D964-495A-8A97-25FDC567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7165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0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0DB51-D31C-498C-95C8-64E40B05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312C85"/>
                </a:solidFill>
              </a:defRPr>
            </a:pPr>
            <a:r>
              <a:rPr sz="1425" b="1" i="0">
                <a:solidFill>
                  <a:srgbClr val="312C85"/>
                </a:solidFill>
              </a:rPr>
              <a:t>최종 판단 기준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BAEF99-9098-4D6D-B6B7-3914B920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PDR/deadline: 최고 또는 동률권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Delay: DRAMA보다 낮거나 유사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Bytes: DRAMA/Evo보다 낮음</a:t>
            </a:r>
          </a:p>
          <a:p xmlns:a="http://schemas.openxmlformats.org/drawingml/2006/main">
            <a:pPr>
              <a:defRPr sz="1125" b="0" i="0">
                <a:solidFill>
                  <a:srgbClr val="020618"/>
                </a:solidFill>
              </a:defRPr>
            </a:pPr>
            <a:r>
              <a:rPr sz="1125" b="0" i="0">
                <a:solidFill>
                  <a:srgbClr val="020618"/>
                </a:solidFill>
              </a:rPr>
              <a:t>• Energy: Phase12보다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DC3C5C-E46B-428B-892C-BEB31E7D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25</a:t>
            </a:r>
          </a:p>
        </p:txBody>
      </p:sp>
    </p:spTree>
    <p:extLst>
      <p:ext uri="{BB962C8B-B14F-4D97-AF65-F5344CB8AC3E}">
        <p14:creationId xmlns:p14="http://schemas.microsoft.com/office/powerpoint/2010/main" val="7836679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F7729-EFC6-4C7F-9AF8-DFC1F738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AD5E2"/>
                </a:solidFill>
              </a:defRPr>
            </a:pPr>
            <a:r>
              <a:rPr sz="1050" b="1" i="0">
                <a:solidFill>
                  <a:srgbClr val="CAD5E2"/>
                </a:solidFill>
              </a:rPr>
              <a:t>최종 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2E56E-9872-4577-9B5F-2B4B65C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Lite-GLOBE-P+의 논문 메시지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0B184-5793-4716-AB34-D922BB92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2870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82EA1-AE43-4334-9DFA-E4B9D3EE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952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UAV 라우팅에서 중요한 것은 단순히 목적지에 가까운 노드를 고르는 것이 아니라,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'그 링크가 얼마나 버틸지'와 '그 다음에도 경로가 살아 있을지'를 지역 정보만으로 판단하는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우리 연구는 전역 교사의 판단을 지역 학생에게 증류하고, 위험 상황에서만 predictive candidate로 전환함으로써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전달률·deadline·제어 오버헤드의 균형을 개선하는 방향으로 정리됩니다.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EA41A-5290-4ED5-970C-190339BC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2E8F0"/>
                </a:solidFill>
              </a:defRPr>
            </a:pPr>
            <a:r>
              <a:rPr sz="1500" b="1" i="0">
                <a:solidFill>
                  <a:srgbClr val="E2E8F0"/>
                </a:solidFill>
              </a:rPr>
              <a:t>다음 단계: Phase13 full 검증 후 최종 제안기법과 논문 그림/표 확정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C527A-74C8-4AEE-80DB-ECC1899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90A1B9"/>
                </a:solidFill>
              </a:defRPr>
            </a:pPr>
            <a:r>
              <a:rPr sz="750" b="0" i="0">
                <a:solidFill>
                  <a:srgbClr val="90A1B9"/>
                </a:solidFill>
              </a:rPr>
              <a:t>GLOBE Routing 연구 보고 | 26</a:t>
            </a:r>
          </a:p>
        </p:txBody>
      </p:sp>
    </p:spTree>
    <p:extLst>
      <p:ext uri="{BB962C8B-B14F-4D97-AF65-F5344CB8AC3E}">
        <p14:creationId xmlns:p14="http://schemas.microsoft.com/office/powerpoint/2010/main" val="1903802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2026-06-28T08:23:53.4480000Z</dcterms:created>
  <dcterms:modified xsi:type="dcterms:W3CDTF">2026-06-28T08:23:53.4480000Z</dcterms:modified>
</coreProperties>
</file>