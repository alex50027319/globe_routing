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6b7f20321042a3" /><Relationship Type="http://schemas.openxmlformats.org/officeDocument/2006/relationships/extended-properties" Target="/docProps/app.xml" Id="Raed10c335793432e" /><Relationship Type="http://schemas.openxmlformats.org/officeDocument/2006/relationships/officeDocument" Target="/ppt/presentation.xml" Id="R1378991fec44464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33f0d69d10748d6"/>
  </p:sldMasterIdLst>
  <p:notesMasterIdLst>
    <p:notesMasterId xmlns:r="http://schemas.openxmlformats.org/officeDocument/2006/relationships" r:id="R7aa49af8cf5e4d60"/>
  </p:notesMasterIdLst>
  <p:sldIdLst>
    <p:sldId xmlns:r="http://schemas.openxmlformats.org/officeDocument/2006/relationships" id="256" r:id="Rcbe4363ec17242a3"/>
    <p:sldId xmlns:r="http://schemas.openxmlformats.org/officeDocument/2006/relationships" id="257" r:id="R8705602e27e0457f"/>
    <p:sldId xmlns:r="http://schemas.openxmlformats.org/officeDocument/2006/relationships" id="258" r:id="R3e57d3db38384e6d"/>
    <p:sldId xmlns:r="http://schemas.openxmlformats.org/officeDocument/2006/relationships" id="259" r:id="R8289b429a6384f54"/>
    <p:sldId xmlns:r="http://schemas.openxmlformats.org/officeDocument/2006/relationships" id="260" r:id="R129e8a3cb014442c"/>
    <p:sldId xmlns:r="http://schemas.openxmlformats.org/officeDocument/2006/relationships" id="261" r:id="R420120d3c7d94e36"/>
    <p:sldId xmlns:r="http://schemas.openxmlformats.org/officeDocument/2006/relationships" id="262" r:id="Rbbcafaccfdfa424c"/>
    <p:sldId xmlns:r="http://schemas.openxmlformats.org/officeDocument/2006/relationships" id="263" r:id="R49d1d3e4fdd64446"/>
    <p:sldId xmlns:r="http://schemas.openxmlformats.org/officeDocument/2006/relationships" id="264" r:id="R8ef2c5d01a0444fb"/>
    <p:sldId xmlns:r="http://schemas.openxmlformats.org/officeDocument/2006/relationships" id="265" r:id="Rdaa828dd2aff4e5e"/>
    <p:sldId xmlns:r="http://schemas.openxmlformats.org/officeDocument/2006/relationships" id="266" r:id="R7dbb8c3ebeac467a"/>
    <p:sldId xmlns:r="http://schemas.openxmlformats.org/officeDocument/2006/relationships" id="267" r:id="R124854d2364d4977"/>
    <p:sldId xmlns:r="http://schemas.openxmlformats.org/officeDocument/2006/relationships" id="268" r:id="Rf3b5186a048442f2"/>
    <p:sldId xmlns:r="http://schemas.openxmlformats.org/officeDocument/2006/relationships" id="269" r:id="R73f18128b5f84ce4"/>
    <p:sldId xmlns:r="http://schemas.openxmlformats.org/officeDocument/2006/relationships" id="270" r:id="R3c88acecfea44ea1"/>
    <p:sldId xmlns:r="http://schemas.openxmlformats.org/officeDocument/2006/relationships" id="271" r:id="Rcccdb2b2736f4e5a"/>
    <p:sldId xmlns:r="http://schemas.openxmlformats.org/officeDocument/2006/relationships" id="272" r:id="R95cea215e7954ef6"/>
    <p:sldId xmlns:r="http://schemas.openxmlformats.org/officeDocument/2006/relationships" id="273" r:id="Re2a21423d0e44876"/>
    <p:sldId xmlns:r="http://schemas.openxmlformats.org/officeDocument/2006/relationships" id="274" r:id="R033419d6715a4227"/>
    <p:sldId xmlns:r="http://schemas.openxmlformats.org/officeDocument/2006/relationships" id="275" r:id="Rd33a23b4ee2f4083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a2fbfc5048ac41e9"/>
      <p:italic xmlns:r="http://schemas.openxmlformats.org/officeDocument/2006/relationships" r:id="R597001a331894e97"/>
    </p:embeddedFont>
    <p:embeddedFont>
      <p:font typeface="Lora SemiBold"/>
      <p:regular xmlns:r="http://schemas.openxmlformats.org/officeDocument/2006/relationships" r:id="Rbaa24c6ee1454955"/>
      <p:bold xmlns:r="http://schemas.openxmlformats.org/officeDocument/2006/relationships" r:id="R0e6a7a3309ae4299"/>
      <p:italic xmlns:r="http://schemas.openxmlformats.org/officeDocument/2006/relationships" r:id="Rb151510bf8cd48e7"/>
      <p:boldItalic xmlns:r="http://schemas.openxmlformats.org/officeDocument/2006/relationships" r:id="R43d5f81be7a2404e"/>
    </p:embeddedFont>
    <p:embeddedFont>
      <p:font typeface="OpenAI Sans"/>
      <p:regular xmlns:r="http://schemas.openxmlformats.org/officeDocument/2006/relationships" r:id="R52fc9570611e441a"/>
      <p:bold xmlns:r="http://schemas.openxmlformats.org/officeDocument/2006/relationships" r:id="R02ac7d48f6a54bb1"/>
      <p:italic xmlns:r="http://schemas.openxmlformats.org/officeDocument/2006/relationships" r:id="R9ef569fdb6924530"/>
      <p:boldItalic xmlns:r="http://schemas.openxmlformats.org/officeDocument/2006/relationships" r:id="Rebbcce2f52b34ccd"/>
    </p:embeddedFont>
    <p:embeddedFont>
      <p:font typeface="Roboto"/>
      <p:regular xmlns:r="http://schemas.openxmlformats.org/officeDocument/2006/relationships" r:id="R7c77d444fc244f10"/>
      <p:bold xmlns:r="http://schemas.openxmlformats.org/officeDocument/2006/relationships" r:id="R12beda00af6d4291"/>
      <p:italic xmlns:r="http://schemas.openxmlformats.org/officeDocument/2006/relationships" r:id="R069832baee8b46a6"/>
      <p:boldItalic xmlns:r="http://schemas.openxmlformats.org/officeDocument/2006/relationships" r:id="R049ac542acbe4d19"/>
    </p:embeddedFont>
    <p:embeddedFont>
      <p:font typeface="Roboto Medium"/>
      <p:regular xmlns:r="http://schemas.openxmlformats.org/officeDocument/2006/relationships" r:id="R1889102f08c64757"/>
      <p:italic xmlns:r="http://schemas.openxmlformats.org/officeDocument/2006/relationships" r:id="R0094c828cc2745d5"/>
    </p:embeddedFont>
    <p:embeddedFont>
      <p:font typeface="Roboto SemiBold"/>
      <p:regular xmlns:r="http://schemas.openxmlformats.org/officeDocument/2006/relationships" r:id="Rdb387465e2a74e12"/>
      <p:bold xmlns:r="http://schemas.openxmlformats.org/officeDocument/2006/relationships" r:id="R7f8ecb71bb034ade"/>
      <p:italic xmlns:r="http://schemas.openxmlformats.org/officeDocument/2006/relationships" r:id="R43b2810e48344a8a"/>
      <p:boldItalic xmlns:r="http://schemas.openxmlformats.org/officeDocument/2006/relationships" r:id="Rdead1c3078c14775"/>
    </p:embeddedFont>
    <p:embeddedFont>
      <p:font typeface="Roboto Serif 14pt"/>
      <p:regular xmlns:r="http://schemas.openxmlformats.org/officeDocument/2006/relationships" r:id="R0a0e52a2cd2e44ba"/>
      <p:bold xmlns:r="http://schemas.openxmlformats.org/officeDocument/2006/relationships" r:id="R165a84c055ee450a"/>
      <p:italic xmlns:r="http://schemas.openxmlformats.org/officeDocument/2006/relationships" r:id="Rb10e91cc31db4039"/>
      <p:boldItalic xmlns:r="http://schemas.openxmlformats.org/officeDocument/2006/relationships" r:id="R8b6a77c8b8a9466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59aa38bb934c6c" /><Relationship Type="http://schemas.openxmlformats.org/officeDocument/2006/relationships/slideMaster" Target="/ppt/slideMasters/slideMaster1.xml" Id="Rb33f0d69d10748d6" /><Relationship Type="http://schemas.openxmlformats.org/officeDocument/2006/relationships/notesMaster" Target="/ppt/notesMasters/notesMaster1.xml" Id="R7aa49af8cf5e4d60" /><Relationship Type="http://schemas.openxmlformats.org/officeDocument/2006/relationships/presProps" Target="/ppt/presProps.xml" Id="Rb0fb1d9ace99400d" /><Relationship Type="http://schemas.openxmlformats.org/officeDocument/2006/relationships/viewProps" Target="/ppt/viewProps.xml" Id="Rba1a5b8607e346c5" /><Relationship Type="http://schemas.openxmlformats.org/officeDocument/2006/relationships/tableStyles" Target="/ppt/tableStyles.xml" Id="Rf5b84948eded4491" /><Relationship Type="http://schemas.openxmlformats.org/officeDocument/2006/relationships/font" Target="/ppt/fonts/font.dat" Id="Ra2fbfc5048ac41e9" /><Relationship Type="http://schemas.openxmlformats.org/officeDocument/2006/relationships/font" Target="/ppt/fonts/font2.dat" Id="R597001a331894e97" /><Relationship Type="http://schemas.openxmlformats.org/officeDocument/2006/relationships/font" Target="/ppt/fonts/font3.dat" Id="Rbaa24c6ee1454955" /><Relationship Type="http://schemas.openxmlformats.org/officeDocument/2006/relationships/font" Target="/ppt/fonts/font4.dat" Id="R0e6a7a3309ae4299" /><Relationship Type="http://schemas.openxmlformats.org/officeDocument/2006/relationships/font" Target="/ppt/fonts/font5.dat" Id="Rb151510bf8cd48e7" /><Relationship Type="http://schemas.openxmlformats.org/officeDocument/2006/relationships/font" Target="/ppt/fonts/font6.dat" Id="R43d5f81be7a2404e" /><Relationship Type="http://schemas.openxmlformats.org/officeDocument/2006/relationships/font" Target="/ppt/fonts/font7.dat" Id="R52fc9570611e441a" /><Relationship Type="http://schemas.openxmlformats.org/officeDocument/2006/relationships/font" Target="/ppt/fonts/font8.dat" Id="R02ac7d48f6a54bb1" /><Relationship Type="http://schemas.openxmlformats.org/officeDocument/2006/relationships/font" Target="/ppt/fonts/font9.dat" Id="R9ef569fdb6924530" /><Relationship Type="http://schemas.openxmlformats.org/officeDocument/2006/relationships/font" Target="/ppt/fonts/font10.dat" Id="Rebbcce2f52b34ccd" /><Relationship Type="http://schemas.openxmlformats.org/officeDocument/2006/relationships/font" Target="/ppt/fonts/font11.dat" Id="R7c77d444fc244f10" /><Relationship Type="http://schemas.openxmlformats.org/officeDocument/2006/relationships/font" Target="/ppt/fonts/font12.dat" Id="R12beda00af6d4291" /><Relationship Type="http://schemas.openxmlformats.org/officeDocument/2006/relationships/font" Target="/ppt/fonts/font13.dat" Id="R069832baee8b46a6" /><Relationship Type="http://schemas.openxmlformats.org/officeDocument/2006/relationships/font" Target="/ppt/fonts/font14.dat" Id="R049ac542acbe4d19" /><Relationship Type="http://schemas.openxmlformats.org/officeDocument/2006/relationships/font" Target="/ppt/fonts/font15.dat" Id="R1889102f08c64757" /><Relationship Type="http://schemas.openxmlformats.org/officeDocument/2006/relationships/font" Target="/ppt/fonts/font16.dat" Id="R0094c828cc2745d5" /><Relationship Type="http://schemas.openxmlformats.org/officeDocument/2006/relationships/font" Target="/ppt/fonts/font17.dat" Id="Rdb387465e2a74e12" /><Relationship Type="http://schemas.openxmlformats.org/officeDocument/2006/relationships/font" Target="/ppt/fonts/font18.dat" Id="R7f8ecb71bb034ade" /><Relationship Type="http://schemas.openxmlformats.org/officeDocument/2006/relationships/font" Target="/ppt/fonts/font19.dat" Id="R43b2810e48344a8a" /><Relationship Type="http://schemas.openxmlformats.org/officeDocument/2006/relationships/font" Target="/ppt/fonts/font20.dat" Id="Rdead1c3078c14775" /><Relationship Type="http://schemas.openxmlformats.org/officeDocument/2006/relationships/font" Target="/ppt/fonts/font21.dat" Id="R0a0e52a2cd2e44ba" /><Relationship Type="http://schemas.openxmlformats.org/officeDocument/2006/relationships/font" Target="/ppt/fonts/font22.dat" Id="R165a84c055ee450a" /><Relationship Type="http://schemas.openxmlformats.org/officeDocument/2006/relationships/font" Target="/ppt/fonts/font23.dat" Id="Rb10e91cc31db4039" /><Relationship Type="http://schemas.openxmlformats.org/officeDocument/2006/relationships/font" Target="/ppt/fonts/font24.dat" Id="R8b6a77c8b8a94668" /><Relationship Type="http://schemas.openxmlformats.org/officeDocument/2006/relationships/slide" Target="/ppt/slides/slide1.xml" Id="Rcbe4363ec17242a3" /><Relationship Type="http://schemas.openxmlformats.org/officeDocument/2006/relationships/slide" Target="/ppt/slides/slide2.xml" Id="R8705602e27e0457f" /><Relationship Type="http://schemas.openxmlformats.org/officeDocument/2006/relationships/slide" Target="/ppt/slides/slide3.xml" Id="R3e57d3db38384e6d" /><Relationship Type="http://schemas.openxmlformats.org/officeDocument/2006/relationships/slide" Target="/ppt/slides/slide4.xml" Id="R8289b429a6384f54" /><Relationship Type="http://schemas.openxmlformats.org/officeDocument/2006/relationships/slide" Target="/ppt/slides/slide5.xml" Id="R129e8a3cb014442c" /><Relationship Type="http://schemas.openxmlformats.org/officeDocument/2006/relationships/slide" Target="/ppt/slides/slide6.xml" Id="R420120d3c7d94e36" /><Relationship Type="http://schemas.openxmlformats.org/officeDocument/2006/relationships/slide" Target="/ppt/slides/slide7.xml" Id="Rbbcafaccfdfa424c" /><Relationship Type="http://schemas.openxmlformats.org/officeDocument/2006/relationships/slide" Target="/ppt/slides/slide8.xml" Id="R49d1d3e4fdd64446" /><Relationship Type="http://schemas.openxmlformats.org/officeDocument/2006/relationships/slide" Target="/ppt/slides/slide9.xml" Id="R8ef2c5d01a0444fb" /><Relationship Type="http://schemas.openxmlformats.org/officeDocument/2006/relationships/slide" Target="/ppt/slides/slide10.xml" Id="Rdaa828dd2aff4e5e" /><Relationship Type="http://schemas.openxmlformats.org/officeDocument/2006/relationships/slide" Target="/ppt/slides/slide11.xml" Id="R7dbb8c3ebeac467a" /><Relationship Type="http://schemas.openxmlformats.org/officeDocument/2006/relationships/slide" Target="/ppt/slides/slide12.xml" Id="R124854d2364d4977" /><Relationship Type="http://schemas.openxmlformats.org/officeDocument/2006/relationships/slide" Target="/ppt/slides/slide13.xml" Id="Rf3b5186a048442f2" /><Relationship Type="http://schemas.openxmlformats.org/officeDocument/2006/relationships/slide" Target="/ppt/slides/slide14.xml" Id="R73f18128b5f84ce4" /><Relationship Type="http://schemas.openxmlformats.org/officeDocument/2006/relationships/slide" Target="/ppt/slides/slide15.xml" Id="R3c88acecfea44ea1" /><Relationship Type="http://schemas.openxmlformats.org/officeDocument/2006/relationships/slide" Target="/ppt/slides/slide16.xml" Id="Rcccdb2b2736f4e5a" /><Relationship Type="http://schemas.openxmlformats.org/officeDocument/2006/relationships/slide" Target="/ppt/slides/slide17.xml" Id="R95cea215e7954ef6" /><Relationship Type="http://schemas.openxmlformats.org/officeDocument/2006/relationships/slide" Target="/ppt/slides/slide18.xml" Id="Re2a21423d0e44876" /><Relationship Type="http://schemas.openxmlformats.org/officeDocument/2006/relationships/slide" Target="/ppt/slides/slide19.xml" Id="R033419d6715a4227" /><Relationship Type="http://schemas.openxmlformats.org/officeDocument/2006/relationships/slide" Target="/ppt/slides/slide20.xml" Id="Rd33a23b4ee2f40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00edbfc10d46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bfb6f1aa64455b" /><Relationship Type="http://schemas.openxmlformats.org/officeDocument/2006/relationships/notesMaster" Target="/ppt/notesMasters/notesMaster1.xml" Id="R7c15db7289ef43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a84c7fb68048c0" /><Relationship Type="http://schemas.openxmlformats.org/officeDocument/2006/relationships/notesMaster" Target="/ppt/notesMasters/notesMaster1.xml" Id="R0edb8e6f91aa4f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796f347d424373" /><Relationship Type="http://schemas.openxmlformats.org/officeDocument/2006/relationships/notesMaster" Target="/ppt/notesMasters/notesMaster1.xml" Id="R0486acb0f5a24b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52ffc97b2d4fcf" /><Relationship Type="http://schemas.openxmlformats.org/officeDocument/2006/relationships/notesMaster" Target="/ppt/notesMasters/notesMaster1.xml" Id="R5a25176675b04e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566ce4e8724448" /><Relationship Type="http://schemas.openxmlformats.org/officeDocument/2006/relationships/notesMaster" Target="/ppt/notesMasters/notesMaster1.xml" Id="R6c07c322cc204f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695bbb718841ce" /><Relationship Type="http://schemas.openxmlformats.org/officeDocument/2006/relationships/notesMaster" Target="/ppt/notesMasters/notesMaster1.xml" Id="Rb8551efe962648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6d7ece79484eb3" /><Relationship Type="http://schemas.openxmlformats.org/officeDocument/2006/relationships/notesMaster" Target="/ppt/notesMasters/notesMaster1.xml" Id="R4db75926f47e46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b4f75d76a84ac5" /><Relationship Type="http://schemas.openxmlformats.org/officeDocument/2006/relationships/notesMaster" Target="/ppt/notesMasters/notesMaster1.xml" Id="Raf59d013fd6346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3b92e0c78b4ac9" /><Relationship Type="http://schemas.openxmlformats.org/officeDocument/2006/relationships/notesMaster" Target="/ppt/notesMasters/notesMaster1.xml" Id="Rbab5df46345746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3bd5683d5246c8" /><Relationship Type="http://schemas.openxmlformats.org/officeDocument/2006/relationships/notesMaster" Target="/ppt/notesMasters/notesMaster1.xml" Id="Re4f5b82c3dae40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aa9ef7a07a458a" /><Relationship Type="http://schemas.openxmlformats.org/officeDocument/2006/relationships/notesMaster" Target="/ppt/notesMasters/notesMaster1.xml" Id="Re93a5def5ed74c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36e6084f104028" /><Relationship Type="http://schemas.openxmlformats.org/officeDocument/2006/relationships/notesMaster" Target="/ppt/notesMasters/notesMaster1.xml" Id="Ref322d9c86af4a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47afb0a7644b1d" /><Relationship Type="http://schemas.openxmlformats.org/officeDocument/2006/relationships/notesMaster" Target="/ppt/notesMasters/notesMaster1.xml" Id="Rcba328ae133146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8a332db16a450d" /><Relationship Type="http://schemas.openxmlformats.org/officeDocument/2006/relationships/notesMaster" Target="/ppt/notesMasters/notesMaster1.xml" Id="Ree03f26c58284f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04966980014e71" /><Relationship Type="http://schemas.openxmlformats.org/officeDocument/2006/relationships/notesMaster" Target="/ppt/notesMasters/notesMaster1.xml" Id="Re4a29b4114bf486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ea9b0eec464afb" /><Relationship Type="http://schemas.openxmlformats.org/officeDocument/2006/relationships/notesMaster" Target="/ppt/notesMasters/notesMaster1.xml" Id="Rcc507efa80c54be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c4ec63e9754f68" /><Relationship Type="http://schemas.openxmlformats.org/officeDocument/2006/relationships/notesMaster" Target="/ppt/notesMasters/notesMaster1.xml" Id="Rf33800d9ae3141a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aa478efced348b1" /><Relationship Type="http://schemas.openxmlformats.org/officeDocument/2006/relationships/notesMaster" Target="/ppt/notesMasters/notesMaster1.xml" Id="R968c45d61bf94c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3a6d1eba0f945a5" /><Relationship Type="http://schemas.openxmlformats.org/officeDocument/2006/relationships/notesMaster" Target="/ppt/notesMasters/notesMaster1.xml" Id="R84f81fa74b9641f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467bbbda384998" /><Relationship Type="http://schemas.openxmlformats.org/officeDocument/2006/relationships/notesMaster" Target="/ppt/notesMasters/notesMaster1.xml" Id="Rb49b9f5ea27c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247b2eab342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c4cd7e42543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bb5abb00145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17feb66954c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e662c3bd6464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f5c623df34fb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4b54b9372749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1bf564f9a4ce6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4c434a4fdb40cd" /><Relationship Type="http://schemas.openxmlformats.org/officeDocument/2006/relationships/slideLayout" Target="/ppt/slideLayouts/slideLayout1.xml" Id="R88e36850aa214935" /><Relationship Type="http://schemas.openxmlformats.org/officeDocument/2006/relationships/slideLayout" Target="/ppt/slideLayouts/slideLayout2.xml" Id="R8fc012aebf324005" /><Relationship Type="http://schemas.openxmlformats.org/officeDocument/2006/relationships/slideLayout" Target="/ppt/slideLayouts/slideLayout3.xml" Id="R4a5808d6a3da450a" /><Relationship Type="http://schemas.openxmlformats.org/officeDocument/2006/relationships/slideLayout" Target="/ppt/slideLayouts/slideLayout4.xml" Id="Rf80c2dfd54ae4bf2" /><Relationship Type="http://schemas.openxmlformats.org/officeDocument/2006/relationships/slideLayout" Target="/ppt/slideLayouts/slideLayout5.xml" Id="R47a6056ed6fe490a" /><Relationship Type="http://schemas.openxmlformats.org/officeDocument/2006/relationships/slideLayout" Target="/ppt/slideLayouts/slideLayout6.xml" Id="Ra976e3adc7d54101" /><Relationship Type="http://schemas.openxmlformats.org/officeDocument/2006/relationships/slideLayout" Target="/ppt/slideLayouts/slideLayout7.xml" Id="R791e4b08cc9c44e7" /><Relationship Type="http://schemas.openxmlformats.org/officeDocument/2006/relationships/slideLayout" Target="/ppt/slideLayouts/slideLayout8.xml" Id="R24cd79a5a3c4424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e36850aa214935"/>
    <p:sldLayoutId xmlns:r="http://schemas.openxmlformats.org/officeDocument/2006/relationships" id="2147483650" r:id="R8fc012aebf324005"/>
    <p:sldLayoutId xmlns:r="http://schemas.openxmlformats.org/officeDocument/2006/relationships" id="2147483651" r:id="R4a5808d6a3da450a"/>
    <p:sldLayoutId xmlns:r="http://schemas.openxmlformats.org/officeDocument/2006/relationships" id="2147483652" r:id="Rf80c2dfd54ae4bf2"/>
    <p:sldLayoutId xmlns:r="http://schemas.openxmlformats.org/officeDocument/2006/relationships" id="2147483653" r:id="R47a6056ed6fe490a"/>
    <p:sldLayoutId xmlns:r="http://schemas.openxmlformats.org/officeDocument/2006/relationships" id="2147483654" r:id="Ra976e3adc7d54101"/>
    <p:sldLayoutId xmlns:r="http://schemas.openxmlformats.org/officeDocument/2006/relationships" id="2147483655" r:id="R791e4b08cc9c44e7"/>
    <p:sldLayoutId xmlns:r="http://schemas.openxmlformats.org/officeDocument/2006/relationships" id="2147483656" r:id="R24cd79a5a3c44244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7edd823f845ed" /><Relationship Type="http://schemas.openxmlformats.org/officeDocument/2006/relationships/notesSlide" Target="/ppt/notesSlides/notesSlide1.xml" Id="R6d6b7d321e754f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66e792a4145cd" /><Relationship Type="http://schemas.openxmlformats.org/officeDocument/2006/relationships/notesSlide" Target="/ppt/notesSlides/notesSlide2.xml" Id="R4aaa388c811448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cbd893a7894038" /><Relationship Type="http://schemas.openxmlformats.org/officeDocument/2006/relationships/notesSlide" Target="/ppt/notesSlides/notesSlide3.xml" Id="Rc0058cd69f8343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ae58802a1248cd" /><Relationship Type="http://schemas.openxmlformats.org/officeDocument/2006/relationships/notesSlide" Target="/ppt/notesSlides/notesSlide4.xml" Id="R2fa6bd09be6f46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4b9ab573baf4857" /><Relationship Type="http://schemas.openxmlformats.org/officeDocument/2006/relationships/notesSlide" Target="/ppt/notesSlides/notesSlide5.xml" Id="Rebb4b405c15c4a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d5149ff73c4dae" /><Relationship Type="http://schemas.openxmlformats.org/officeDocument/2006/relationships/notesSlide" Target="/ppt/notesSlides/notesSlide6.xml" Id="R5f3c300d08564b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35f4d962a437e" /><Relationship Type="http://schemas.openxmlformats.org/officeDocument/2006/relationships/notesSlide" Target="/ppt/notesSlides/notesSlide7.xml" Id="Ra85bb427a98948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e69f53b24a4944" /><Relationship Type="http://schemas.openxmlformats.org/officeDocument/2006/relationships/notesSlide" Target="/ppt/notesSlides/notesSlide8.xml" Id="Rbb0306e6449f48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f337486dd04dd8" /><Relationship Type="http://schemas.openxmlformats.org/officeDocument/2006/relationships/notesSlide" Target="/ppt/notesSlides/notesSlide9.xml" Id="R3824459a35d748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44ec43e17d4378" /><Relationship Type="http://schemas.openxmlformats.org/officeDocument/2006/relationships/notesSlide" Target="/ppt/notesSlides/notesSlide10.xml" Id="Rafe286b8db054d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b2a72200e4178" /><Relationship Type="http://schemas.openxmlformats.org/officeDocument/2006/relationships/notesSlide" Target="/ppt/notesSlides/notesSlide11.xml" Id="Rd085bdbfaa8846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8984573394d55" /><Relationship Type="http://schemas.openxmlformats.org/officeDocument/2006/relationships/notesSlide" Target="/ppt/notesSlides/notesSlide12.xml" Id="R2adb154b39ea40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f72401718440b" /><Relationship Type="http://schemas.openxmlformats.org/officeDocument/2006/relationships/chart" Target="/ppt/slides/charts/chart1.xml" Id="Rcd799bfe8bed4f41" /><Relationship Type="http://schemas.openxmlformats.org/officeDocument/2006/relationships/chart" Target="/ppt/slides/charts/chart2.xml" Id="R635c533efb444e28" /><Relationship Type="http://schemas.openxmlformats.org/officeDocument/2006/relationships/notesSlide" Target="/ppt/notesSlides/notesSlide13.xml" Id="R12ab6a8c3bed41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305b81e0f24e7d" /><Relationship Type="http://schemas.openxmlformats.org/officeDocument/2006/relationships/chart" Target="/ppt/slides/charts/chart3.xml" Id="R8c21582058bd4383" /><Relationship Type="http://schemas.openxmlformats.org/officeDocument/2006/relationships/chart" Target="/ppt/slides/charts/chart4.xml" Id="Rc771a488b1de4910" /><Relationship Type="http://schemas.openxmlformats.org/officeDocument/2006/relationships/notesSlide" Target="/ppt/notesSlides/notesSlide14.xml" Id="Rf47d0054c18849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e37485a734ee3" /><Relationship Type="http://schemas.openxmlformats.org/officeDocument/2006/relationships/notesSlide" Target="/ppt/notesSlides/notesSlide15.xml" Id="Rd92d95a43c1841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bdd7214e73427e" /><Relationship Type="http://schemas.openxmlformats.org/officeDocument/2006/relationships/notesSlide" Target="/ppt/notesSlides/notesSlide16.xml" Id="R27b1cc343fda4c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b5ce0c880448ca" /><Relationship Type="http://schemas.openxmlformats.org/officeDocument/2006/relationships/notesSlide" Target="/ppt/notesSlides/notesSlide17.xml" Id="Rd5edfd11ef434f9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5145af0ea44119" /><Relationship Type="http://schemas.openxmlformats.org/officeDocument/2006/relationships/notesSlide" Target="/ppt/notesSlides/notesSlide18.xml" Id="R1dc0c3095c7e47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de6a6977e4c10" /><Relationship Type="http://schemas.openxmlformats.org/officeDocument/2006/relationships/notesSlide" Target="/ppt/notesSlides/notesSlide19.xml" Id="Rf9254128fbdc4c0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9cd34142e4f03" /><Relationship Type="http://schemas.openxmlformats.org/officeDocument/2006/relationships/notesSlide" Target="/ppt/notesSlides/notesSlide20.xml" Id="Ra85cd6558d9d4d19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PDR</c:v>
          </c:tx>
          <c:spPr>
            <a:solidFill xmlns:a="http://schemas.openxmlformats.org/drawingml/2006/main">
              <a:srgbClr val="3457B9"/>
            </a:solidFill>
          </c:spPr>
          <c:cat>
            <c:strLit>
              <c:ptCount val="4"/>
              <c:pt idx="0">
                <c:v>GPSR</c:v>
              </c:pt>
              <c:pt idx="1">
                <c:v>PredGeo</c:v>
              </c:pt>
              <c:pt idx="2">
                <c:v>Phase8</c:v>
              </c:pt>
              <c:pt idx="3">
                <c:v>RiskSwitch</c:v>
              </c:pt>
            </c:strLit>
          </c:cat>
          <c:val>
            <c:numLit>
              <c:formatCode>0.000</c:formatCode>
              <c:ptCount val="4"/>
              <c:pt idx="0">
                <c:v>0.683</c:v>
              </c:pt>
              <c:pt idx="1">
                <c:v>0.892</c:v>
              </c:pt>
              <c:pt idx="2">
                <c:v>0.803</c:v>
              </c:pt>
              <c:pt idx="3">
                <c:v>0.905</c:v>
              </c:pt>
            </c:numLit>
          </c:val>
        </c:ser>
        <c:ser>
          <c:idx val="1"/>
          <c:order val="1"/>
          <c:tx>
            <c:v>Deadline</c:v>
          </c:tx>
          <c:spPr>
            <a:solidFill xmlns:a="http://schemas.openxmlformats.org/drawingml/2006/main">
              <a:srgbClr val="4A90E2"/>
            </a:solidFill>
          </c:spPr>
          <c:cat>
            <c:strLit>
              <c:ptCount val="4"/>
              <c:pt idx="0">
                <c:v>GPSR</c:v>
              </c:pt>
              <c:pt idx="1">
                <c:v>PredGeo</c:v>
              </c:pt>
              <c:pt idx="2">
                <c:v>Phase8</c:v>
              </c:pt>
              <c:pt idx="3">
                <c:v>RiskSwitch</c:v>
              </c:pt>
            </c:strLit>
          </c:cat>
          <c:val>
            <c:numLit>
              <c:formatCode>0.000</c:formatCode>
              <c:ptCount val="4"/>
              <c:pt idx="0">
                <c:v>0.637</c:v>
              </c:pt>
              <c:pt idx="1">
                <c:v>0.823</c:v>
              </c:pt>
              <c:pt idx="2">
                <c:v>0.74</c:v>
              </c:pt>
              <c:pt idx="3">
                <c:v>0.838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5EE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111"/>
                </a:solidFill>
              </a:defRPr>
            </a:pPr>
          </a:p>
        </c:txPr>
        <c:crossAx val="48650112"/>
        <c:crossBetween val="between"/>
        <c:majorUnit val="0.2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B667A"/>
              </a:solidFill>
            </a:defRPr>
          </a:pPr>
        </a:p>
      </c:txPr>
    </c:legend>
    <c:plotVisOnly val="1"/>
  </c:chart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Phase 8</c:v>
          </c:tx>
          <c:spPr>
            <a:solidFill xmlns:a="http://schemas.openxmlformats.org/drawingml/2006/main">
              <a:srgbClr val="3457B9"/>
            </a:solidFill>
          </c:spPr>
          <c:cat>
            <c:strLit>
              <c:ptCount val="4"/>
              <c:pt idx="0">
                <c:v>일반</c:v>
              </c:pt>
              <c:pt idx="1">
                <c:v>Hole</c:v>
              </c:pt>
              <c:pt idx="2">
                <c:v>Break</c:v>
              </c:pt>
              <c:pt idx="3">
                <c:v>Nodes</c:v>
              </c:pt>
            </c:strLit>
          </c:cat>
          <c:val>
            <c:numLit>
              <c:formatCode>0.000</c:formatCode>
              <c:ptCount val="4"/>
              <c:pt idx="0">
                <c:v>0.948</c:v>
              </c:pt>
              <c:pt idx="1">
                <c:v>0.849</c:v>
              </c:pt>
              <c:pt idx="2">
                <c:v>0.032</c:v>
              </c:pt>
              <c:pt idx="3">
                <c:v>0.967</c:v>
              </c:pt>
            </c:numLit>
          </c:val>
        </c:ser>
        <c:ser>
          <c:idx val="1"/>
          <c:order val="1"/>
          <c:tx>
            <c:v>Risk-Switch</c:v>
          </c:tx>
          <c:spPr>
            <a:solidFill xmlns:a="http://schemas.openxmlformats.org/drawingml/2006/main">
              <a:srgbClr val="4A90E2"/>
            </a:solidFill>
          </c:spPr>
          <c:cat>
            <c:strLit>
              <c:ptCount val="4"/>
              <c:pt idx="0">
                <c:v>일반</c:v>
              </c:pt>
              <c:pt idx="1">
                <c:v>Hole</c:v>
              </c:pt>
              <c:pt idx="2">
                <c:v>Break</c:v>
              </c:pt>
              <c:pt idx="3">
                <c:v>Nodes</c:v>
              </c:pt>
            </c:strLit>
          </c:cat>
          <c:val>
            <c:numLit>
              <c:formatCode>0.000</c:formatCode>
              <c:ptCount val="4"/>
              <c:pt idx="0">
                <c:v>0.946</c:v>
              </c:pt>
              <c:pt idx="1">
                <c:v>0.849</c:v>
              </c:pt>
              <c:pt idx="2">
                <c:v>0.756</c:v>
              </c:pt>
              <c:pt idx="3">
                <c:v>0.963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5EE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111"/>
                </a:solidFill>
              </a:defRPr>
            </a:pPr>
          </a:p>
        </c:txPr>
        <c:crossAx val="48650112"/>
        <c:crossBetween val="between"/>
        <c:majorUnit val="0.2"/>
      </c:valAx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B667A"/>
              </a:solidFill>
            </a:defRPr>
          </a:pPr>
        </a:p>
      </c:txPr>
    </c:legend>
    <c:plotVisOnly val="1"/>
  </c:chart>
</c:chartSpace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itle 3">
            <a:extLst>
              <a:ext uri="{FF2B5EF4-FFF2-40B4-BE49-F238E27FC236}">
                <ns2:creationId id="{706809B0-D483-45C1-B580-B57BB5CC520A}"/>
              </a:ext>
            </a:extLst>
          </p:cNvPr>
          <p:cNvSpPr>
            <a:spLocks noGrp="1"/>
          </p:cNvSpPr>
          <p:nvPr>
            <p:ph type="ctrTitle" idx="0"/>
          </p:nvPr>
        </p:nvSpPr>
        <p:spPr>
          <a:xfrm>
            <a:off x="569969" y="1444887"/>
            <a:ext cx="9448800" cy="1726468"/>
          </a:xfrm>
        </p:spPr>
        <p:txBody>
          <a:bodyPr anchor="t">
            <a:noAutofit/>
          </a:bodyPr>
          <a:lstStyle/>
          <a:p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Phase 12 UAV Routing Environment Review</a:t>
            </a:r>
          </a:p>
        </p:txBody>
      </p:sp>
      <p:sp>
        <p:nvSpPr>
          <p:cNvPr id="5" name="Subtitle 4">
            <a:extLst>
              <a:ext uri="{FF2B5EF4-FFF2-40B4-BE49-F238E27FC236}">
                <ns2:creationId id="{7DD11E6E-01C0-D6E4-28D7-D7F6B94AF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019" y="5077241"/>
            <a:ext cx="6304556" cy="1076208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FANET에서 패킷이 어떤 환경과 방법으로 전달되는지, episode 구성부터 link-risk feature와 실험 결과까지 발표용 흐름으로 정리합니다.</a:t>
            </a:r>
          </a:p>
        </p:txBody>
      </p:sp>
      <p:sp>
        <p:nvSpPr>
          <p:cNvPr id="6" name="Subtitle 4">
            <a:extLst>
              <a:ext uri="{FF2B5EF4-FFF2-40B4-BE49-F238E27FC236}">
                <ns2:creationId id="{C66AB198-0518-67DE-AB81-D65264FDA20F}"/>
              </a:ext>
            </a:extLst>
          </p:cNvPr>
          <p:cNvSpPr>
            <a:spLocks noGrp="1"/>
          </p:cNvSpPr>
          <p:nvPr/>
        </p:nvSpPr>
        <p:spPr>
          <a:xfrm>
            <a:off x="603018" y="4606175"/>
            <a:ext cx="6304556" cy="320279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Risk-Switch Lite-GLOBE-P</a:t>
            </a:r>
          </a:p>
        </p:txBody>
      </p:sp>
      <p:sp>
        <p:nvSpPr>
          <p:cNvPr id="10" name="Subtitle 4">
            <a:extLst>
              <a:ext uri="{FF2B5EF4-FFF2-40B4-BE49-F238E27FC236}">
                <ns2:creationId id="{CC2E0538-5645-7BC8-CF3A-FDF31FD97820}"/>
              </a:ext>
            </a:extLst>
          </p:cNvPr>
          <p:cNvSpPr>
            <a:spLocks noGrp="1"/>
          </p:cNvSpPr>
          <p:nvPr/>
        </p:nvSpPr>
        <p:spPr>
          <a:xfrm>
            <a:off x="603018" y="555606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GLOBE Routing Research</a:t>
            </a:r>
          </a:p>
        </p:txBody>
      </p:sp>
      <p:sp>
        <p:nvSpPr>
          <p:cNvPr id="7" name="Straight Connector 6">
            <a:extLst>
              <a:ext uri="{FF2B5EF4-FFF2-40B4-BE49-F238E27FC236}">
                <ns2:creationId id="{2FA5A676-ABAC-43B8-BEDD-981A0265413D}"/>
              </a:ext>
            </a:extLst>
          </p:cNvPr>
          <p:cNvSpPr>
            <a:spLocks noGrp="1"/>
          </p:cNvSpPr>
          <p:nvPr/>
        </p:nv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  <p:extLst>
      <p:ext uri="{BB962C8B-B14F-4D97-AF65-F5344CB8AC3E}">
        <ns3:creationId val="1685088558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Number Placeholder 1">
            <a:extLst>
              <a:ext uri="{FF2B5EF4-FFF2-40B4-BE49-F238E27FC236}">
                <ns2:creationId id="{3108432E-6CC9-7470-65A5-7F6A330EFB4F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t>2</a:t>
            </a:fld>
          </a:p>
        </p:txBody>
      </p:sp>
      <p:sp>
        <p:nvSpPr>
          <p:cNvPr id="3" name="Title 2">
            <a:extLst>
              <a:ext uri="{FF2B5EF4-FFF2-40B4-BE49-F238E27FC236}">
                <ns2:creationId id="{40BD946D-556A-ECA8-679C-19ABE963A4E5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93699" y="1046195"/>
            <a:ext cx="9448800" cy="985805"/>
          </a:xfrm>
        </p:spPr>
        <p:txBody>
          <a:bodyPr>
            <a:normAutofit fontScale="100000"/>
          </a:bodyPr>
          <a:lstStyle/>
          <a:p>
            <a:r>
              <a:t>발표 흐름</a:t>
            </a:r>
          </a:p>
        </p:txBody>
      </p:sp>
      <p:sp>
        <p:nvSpPr>
          <p:cNvPr id="5" name="Subtitle 4">
            <a:extLst>
              <a:ext uri="{FF2B5EF4-FFF2-40B4-BE49-F238E27FC236}">
                <ns2:creationId id="{173F7058-30A0-0125-1A90-B808A012B5B4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/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="393700" y="2573020"/>
          <a:ext cx="11404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/>
                <a:gridCol w="6875813"/>
                <a:gridCol w="3901209"/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5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Episode 구성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57B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1" i="0" u="none" cap="none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패킷 하나가 어떻게 시작되고 종료되는가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457B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Scenario 설계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14개 환경이 어떤 FANET 상황을 의미하는가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Routing method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6개 방법의 판단 기준과 수식적 차이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Risk feature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link margin, lifetime, queue가 어떻게 쓰이는가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실험 결과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어떤 환경에서 어떤 방법이 강했는가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발표 결론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50" b="0" i="0" u="none" cap="none">
                          <a:ln>
                            <a:noFill/>
                          </a:ln>
                          <a:solidFill>
                            <a:srgbClr val="11111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교수님께 강조할 contribution과 한계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3360133703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4" name="Google Shape;534;p58">
            <a:extLst>
              <a:ext uri="{FF2B5EF4-FFF2-40B4-BE49-F238E27FC236}">
                <ns2:creationId id="{E34D5067-87BC-420E-9660-4A44C1EC0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99" y="2812968"/>
            <a:ext cx="5537200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Risk-Switch Lite-GLOBE-P는 전체 평균 PDR 0.905, deadline delivery 0.838로 비교군 중 최고 수준이다.</a:t>
            </a:r>
          </a:p>
        </p:txBody>
      </p:sp>
      <p:sp>
        <p:nvSpPr>
          <p:cNvPr id="532" name="Google Shape;532;p58">
            <a:extLst>
              <a:ext uri="{FF2B5EF4-FFF2-40B4-BE49-F238E27FC236}">
                <ns2:creationId id="{ECD7D07B-189F-4FAA-AAF8-E8572B5E804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3</a:t>
            </a:fld>
          </a:p>
        </p:txBody>
      </p:sp>
      <p:sp>
        <p:nvSpPr>
          <p:cNvPr id="5" name="Google Shape;534;p58">
            <a:extLst>
              <a:ext uri="{FF2B5EF4-FFF2-40B4-BE49-F238E27FC236}">
                <ns2:creationId id="{A3548D03-1D0F-655D-DD48-D4BF5C80F44D}"/>
              </a:ext>
            </a:extLst>
          </p:cNvPr>
          <p:cNvSpPr>
            <a:spLocks noGrp="1"/>
          </p:cNvSpPr>
          <p:nvPr/>
        </p:nvSpPr>
        <p:spPr>
          <a:xfrm>
            <a:off x="393700" y="2111025"/>
            <a:ext cx="1844403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Best overall</a:t>
            </a:r>
          </a:p>
        </p:txBody>
      </p:sp>
      <p:sp>
        <p:nvSpPr>
          <p:cNvPr id="6" name="Google Shape;534;p58">
            <a:extLst>
              <a:ext uri="{FF2B5EF4-FFF2-40B4-BE49-F238E27FC236}">
                <ns2:creationId id="{4051D0BE-5D22-BCB4-EADF-44F16643D9F5}"/>
              </a:ext>
            </a:extLst>
          </p:cNvPr>
          <p:cNvSpPr>
            <a:spLocks noGrp="1"/>
          </p:cNvSpPr>
          <p:nvPr/>
        </p:nvSpPr>
        <p:spPr>
          <a:xfrm>
            <a:off x="6260109" y="2826992"/>
            <a:ext cx="5537200" cy="100108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왜 중요한가</a:t>
            </a:r>
          </a:p>
        </p:txBody>
      </p:sp>
      <p:sp>
        <p:nvSpPr>
          <p:cNvPr id="7" name="Google Shape;534;p58">
            <a:extLst>
              <a:ext uri="{FF2B5EF4-FFF2-40B4-BE49-F238E27FC236}">
                <ns2:creationId id="{EE26938C-7FB7-798D-7C48-988932737F6D}"/>
              </a:ext>
            </a:extLst>
          </p:cNvPr>
          <p:cNvSpPr>
            <a:spLocks noGrp="1"/>
          </p:cNvSpPr>
          <p:nvPr/>
        </p:nvSpPr>
        <p:spPr>
          <a:xfrm>
            <a:off x="6260109" y="2344035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Phase 12 결론</a:t>
            </a:r>
          </a:p>
        </p:txBody>
      </p:sp>
      <p:sp>
        <p:nvSpPr>
          <p:cNvPr id="10" name="Title 2">
            <a:extLst>
              <a:ext uri="{FF2B5EF4-FFF2-40B4-BE49-F238E27FC236}">
                <ns2:creationId id="{944AF173-BF22-B5ED-B88F-9080D8699E6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93699" y="1046195"/>
            <a:ext cx="11403610" cy="623819"/>
          </a:xfrm>
        </p:spPr>
        <p:txBody>
          <a:bodyPr>
            <a:normAutofit fontScale="100000"/>
          </a:bodyPr>
          <a:lstStyle/>
          <a:p>
            <a:r>
              <a:t>Executive Summary</a:t>
            </a:r>
          </a:p>
        </p:txBody>
      </p:sp>
      <p:sp>
        <p:nvSpPr>
          <p:cNvPr id="11" name="Subtitle 4">
            <a:extLst>
              <a:ext uri="{FF2B5EF4-FFF2-40B4-BE49-F238E27FC236}">
                <ns2:creationId id="{42E9C51D-AB09-8D83-4157-006D57137348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/>
            </a:r>
          </a:p>
        </p:txBody>
      </p:sp>
      <p:sp>
        <p:nvSpPr>
          <p:cNvPr id="15" name="Straight Connector 14">
            <a:extLst>
              <a:ext uri="{FF2B5EF4-FFF2-40B4-BE49-F238E27FC236}">
                <ns2:creationId id="{080715DF-7917-4E26-A1B9-CF064ABA0064}"/>
              </a:ext>
            </a:extLst>
          </p:cNvPr>
          <p:cNvSpPr>
            <a:spLocks noGrp="1"/>
          </p:cNvSpPr>
          <p:nvPr/>
        </p:nvSpPr>
        <p:spPr>
          <a:xfrm>
            <a:off x="6261100" y="4039769"/>
            <a:ext cx="5537200" cy="0"/>
          </a:xfrm>
          <a:prstGeom prst="line">
            <a:avLst/>
          </a:prstGeom>
          <a:ln w="12700"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Google Shape;534;p58">
            <a:extLst>
              <a:ext uri="{FF2B5EF4-FFF2-40B4-BE49-F238E27FC236}">
                <ns2:creationId id="{108E1773-B682-C5EE-6944-58546A384F37}"/>
              </a:ext>
            </a:extLst>
          </p:cNvPr>
          <p:cNvSpPr>
            <a:spLocks noGrp="1"/>
          </p:cNvSpPr>
          <p:nvPr/>
        </p:nvSpPr>
        <p:spPr>
          <a:xfrm>
            <a:off x="6260109" y="4867987"/>
            <a:ext cx="5537200" cy="120023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</p:txBody>
      </p:sp>
      <p:sp>
        <p:nvSpPr>
          <p:cNvPr id="17" name="Google Shape;534;p58">
            <a:extLst>
              <a:ext uri="{FF2B5EF4-FFF2-40B4-BE49-F238E27FC236}">
                <ns2:creationId id="{1C1F2FD8-0D30-C7BF-5234-6F0EE46F0DC3}"/>
              </a:ext>
            </a:extLst>
          </p:cNvPr>
          <p:cNvSpPr>
            <a:spLocks noGrp="1"/>
          </p:cNvSpPr>
          <p:nvPr/>
        </p:nvSpPr>
        <p:spPr>
          <a:xfrm>
            <a:off x="6260109" y="4385030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단순 GPSR은 막다른 길과 곧 끊길 링크에서 실패한다. Phase 12는 이 두 문제를 함께 검증한다.</a:t>
            </a:r>
          </a:p>
        </p:txBody>
      </p:sp>
      <p:sp>
        <p:nvSpPr>
          <p:cNvPr id="3" name="Rounded Rectangle 2">
            <a:extLst>
              <a:ext uri="{FF2B5EF4-FFF2-40B4-BE49-F238E27FC236}">
                <ns2:creationId id="{F16B487F-1A7A-C301-4AB8-8DC1C19839AB}"/>
              </a:ext>
            </a:extLst>
          </p:cNvPr>
          <p:cNvSpPr>
            <a:spLocks noGrp="1"/>
          </p:cNvSpPr>
          <p:nvPr/>
        </p:nvSpPr>
        <p:spPr>
          <a:xfrm>
            <a:off x="2349499" y="2093356"/>
            <a:ext cx="2271780" cy="402442"/>
          </a:xfrm>
          <a:prstGeom prst="roundRect">
            <a:avLst>
              <a:gd name="adj" fmla="val 15738"/>
            </a:avLst>
          </a:prstGeom>
          <a:solidFill>
            <a:schemeClr val="accent1">
              <a:alpha val="246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accent1"/>
                </a:solidFill>
              </a:rPr>
              <a:t>Phase 12의 핵심은 위험할 때만 predictive 판단으로 전환하는 것이다</a:t>
            </a:r>
          </a:p>
        </p:txBody>
      </p:sp>
      <p:sp>
        <p:nvSpPr>
          <p:cNvPr id="14" name="TextBox 13">
            <a:extLst>
              <a:ext uri="{FF2B5EF4-FFF2-40B4-BE49-F238E27FC236}">
                <ns2:creationId id="{F3AF61EC-DBA0-BFB1-3293-0BF5DB670691}"/>
              </a:ext>
            </a:extLst>
          </p:cNvPr>
          <p:cNvSpPr>
            <a:spLocks noGrp="1"/>
          </p:cNvSpPr>
          <p:nvPr/>
        </p:nvSpPr>
        <p:spPr>
          <a:xfrm>
            <a:off x="393699" y="4756098"/>
            <a:ext cx="5537199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발표의 핵심 메시지</a:t>
            </a:r>
          </a:p>
        </p:txBody>
      </p:sp>
      <p:sp>
        <p:nvSpPr>
          <p:cNvPr id="18" name="Google Shape;534;p58">
            <a:extLst>
              <a:ext uri="{FF2B5EF4-FFF2-40B4-BE49-F238E27FC236}">
                <ns2:creationId id="{47E14DB1-10CD-1A00-06DC-F11F90562A04}"/>
              </a:ext>
            </a:extLst>
          </p:cNvPr>
          <p:cNvSpPr>
            <a:spLocks noGrp="1"/>
          </p:cNvSpPr>
          <p:nvPr/>
        </p:nvSpPr>
        <p:spPr>
          <a:xfrm>
            <a:off x="386251" y="5134071"/>
            <a:ext cx="5537200" cy="86032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평소에는 Phase 8의 가벼운 local routing을 유지하고, 선택 링크가 위험할 때만 predictive branch로 전환한다.</a:t>
            </a:r>
          </a:p>
        </p:txBody>
      </p:sp>
    </p:spTree>
    <p:extLst>
      <p:ext uri="{BB962C8B-B14F-4D97-AF65-F5344CB8AC3E}">
        <ns3:creationId val="210985885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2" name="Google Shape;532;p58">
            <a:extLst>
              <a:ext uri="{FF2B5EF4-FFF2-40B4-BE49-F238E27FC236}">
                <ns2:creationId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4</a:t>
            </a:fld>
          </a:p>
        </p:txBody>
      </p:sp>
      <p:sp>
        <p:nvSpPr>
          <p:cNvPr id="7" name="Rounded Rectangle 6">
            <a:extLst>
              <a:ext uri="{FF2B5EF4-FFF2-40B4-BE49-F238E27FC236}">
                <ns2:creationId id="{9E3149F3-A7D7-BC8F-C84C-4A4E60EA2799}"/>
              </a:ext>
            </a:extLst>
          </p:cNvPr>
          <p:cNvSpPr>
            <a:spLocks noGrp="1"/>
          </p:cNvSpPr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Rounded Rectangle 8">
            <a:extLst>
              <a:ext uri="{FF2B5EF4-FFF2-40B4-BE49-F238E27FC236}">
                <ns2:creationId id="{5CD1077A-BBDF-3B07-D940-FA5482CB0124}"/>
              </a:ext>
            </a:extLst>
          </p:cNvPr>
          <p:cNvSpPr>
            <a:spLocks noGrp="1"/>
          </p:cNvSpPr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Content Placeholder 10">
            <a:extLst>
              <a:ext uri="{FF2B5EF4-FFF2-40B4-BE49-F238E27FC236}">
                <ns2:creationId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350"/>
            </a:pPr>
            <a:r>
              <a:rPr sz="135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42, 77, 123, 314, 2718로 학습 편차를 평균화한다.</a:t>
            </a:r>
          </a:p>
        </p:txBody>
      </p:sp>
      <p:sp>
        <p:nvSpPr>
          <p:cNvPr id="2" name="Rounded Rectangle 1">
            <a:extLst>
              <a:ext uri="{FF2B5EF4-FFF2-40B4-BE49-F238E27FC236}">
                <ns2:creationId id="{B4E203EC-EB81-96EF-66AB-3B6012B4B3EF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>
            <a:extLst>
              <a:ext uri="{FF2B5EF4-FFF2-40B4-BE49-F238E27FC236}">
                <ns2:creationId id="{2000F722-C0CE-FDAF-EAFE-20BC4A7F4118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Google Shape;534;p58">
            <a:extLst>
              <a:ext uri="{FF2B5EF4-FFF2-40B4-BE49-F238E27FC236}">
                <ns2:creationId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실험은 scenario, method, seed, episode의 곱으로 만들어진다.</a:t>
            </a:r>
          </a:p>
        </p:txBody>
      </p:sp>
      <p:sp>
        <p:nvSpPr>
          <p:cNvPr id="13" name="Google Shape;534;p58">
            <a:extLst>
              <a:ext uri="{FF2B5EF4-FFF2-40B4-BE49-F238E27FC236}">
                <ns2:creationId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Phase 12는 84,000개의 episode로 구성된다</a:t>
            </a:r>
          </a:p>
        </p:txBody>
      </p:sp>
      <p:sp>
        <p:nvSpPr>
          <p:cNvPr id="14" name="TextBox 13">
            <a:extLst>
              <a:ext uri="{FF2B5EF4-FFF2-40B4-BE49-F238E27FC236}">
                <ns2:creationId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625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500" b="1">
                <a:solidFill>
                  <a:srgbClr val="3457B9"/>
                </a:solidFill>
              </a:defRPr>
            </a:pPr>
            <a:r>
              <a:rPr sz="1500" b="1" i="0" u="none" cap="none">
                <a:ln>
                  <a:noFill/>
                </a:ln>
                <a:solidFill>
                  <a:srgbClr val="3457B9"/>
                </a:solidFill>
                <a:latin typeface="Helvetica Neue Medium"/>
                <a:ea typeface="Helvetica Neue Medium"/>
                <a:cs typeface="Helvetica Neue Medium"/>
              </a:rPr>
              <a:t>Training seeds</a:t>
            </a:r>
          </a:p>
        </p:txBody>
      </p:sp>
      <p:sp>
        <p:nvSpPr>
          <p:cNvPr id="16" name="Content Placeholder 10">
            <a:extLst>
              <a:ext uri="{FF2B5EF4-FFF2-40B4-BE49-F238E27FC236}">
                <ns2:creationId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350"/>
            </a:pPr>
            <a:r>
              <a:rPr sz="135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14개 환경: link loss, mobility, sparse, hole, break 포함.</a:t>
            </a:r>
          </a:p>
        </p:txBody>
      </p:sp>
      <p:sp>
        <p:nvSpPr>
          <p:cNvPr id="17" name="TextBox 16">
            <a:extLst>
              <a:ext uri="{FF2B5EF4-FFF2-40B4-BE49-F238E27FC236}">
                <ns2:creationId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500" b="1">
                <a:solidFill>
                  <a:srgbClr val="3457B9"/>
                </a:solidFill>
              </a:defRPr>
            </a:pPr>
            <a:r>
              <a:rPr sz="1500" b="1" i="0" u="none" cap="none">
                <a:ln>
                  <a:noFill/>
                </a:ln>
                <a:solidFill>
                  <a:srgbClr val="3457B9"/>
                </a:solidFill>
                <a:latin typeface="Helvetica Neue Medium"/>
                <a:ea typeface="Helvetica Neue Medium"/>
                <a:cs typeface="Helvetica Neue Medium"/>
              </a:rPr>
              <a:t>Scenario</a:t>
            </a:r>
          </a:p>
        </p:txBody>
      </p:sp>
      <p:sp>
        <p:nvSpPr>
          <p:cNvPr id="18" name="Content Placeholder 10">
            <a:extLst>
              <a:ext uri="{FF2B5EF4-FFF2-40B4-BE49-F238E27FC236}">
                <ns2:creationId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350"/>
            </a:pPr>
            <a:r>
              <a:rPr sz="135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GPSR부터 Risk-Switch Lite-GLOBE-P까지 6개 routing policy.</a:t>
            </a:r>
          </a:p>
        </p:txBody>
      </p:sp>
      <p:sp>
        <p:nvSpPr>
          <p:cNvPr id="19" name="TextBox 18">
            <a:extLst>
              <a:ext uri="{FF2B5EF4-FFF2-40B4-BE49-F238E27FC236}">
                <ns2:creationId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625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500" b="1">
                <a:solidFill>
                  <a:srgbClr val="3457B9"/>
                </a:solidFill>
              </a:defRPr>
            </a:pPr>
            <a:r>
              <a:rPr sz="1500" b="1" i="0" u="none" cap="none">
                <a:ln>
                  <a:noFill/>
                </a:ln>
                <a:solidFill>
                  <a:srgbClr val="3457B9"/>
                </a:solidFill>
                <a:latin typeface="Helvetica Neue Medium"/>
                <a:ea typeface="Helvetica Neue Medium"/>
                <a:cs typeface="Helvetica Neue Medium"/>
              </a:rPr>
              <a:t>Method</a:t>
            </a:r>
          </a:p>
        </p:txBody>
      </p:sp>
      <p:sp>
        <p:nvSpPr>
          <p:cNvPr id="20" name="Content Placeholder 10">
            <a:extLst>
              <a:ext uri="{FF2B5EF4-FFF2-40B4-BE49-F238E27FC236}">
                <ns2:creationId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 sz="1350"/>
            </a:pPr>
            <a:r>
              <a:rPr sz="135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scenario-method-seed마다 200개의 packet delivery trial.</a:t>
            </a:r>
          </a:p>
        </p:txBody>
      </p:sp>
      <p:sp>
        <p:nvSpPr>
          <p:cNvPr id="21" name="TextBox 20">
            <a:extLst>
              <a:ext uri="{FF2B5EF4-FFF2-40B4-BE49-F238E27FC236}">
                <ns2:creationId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500" b="1">
                <a:solidFill>
                  <a:srgbClr val="3457B9"/>
                </a:solidFill>
              </a:defRPr>
            </a:pPr>
            <a:r>
              <a:rPr sz="1500" b="1" i="0" u="none" cap="none">
                <a:ln>
                  <a:noFill/>
                </a:ln>
                <a:solidFill>
                  <a:srgbClr val="3457B9"/>
                </a:solidFill>
                <a:latin typeface="Helvetica Neue Medium"/>
                <a:ea typeface="Helvetica Neue Medium"/>
                <a:cs typeface="Helvetica Neue Medium"/>
              </a:rPr>
              <a:t>Episode</a:t>
            </a:r>
          </a:p>
        </p:txBody>
      </p:sp>
    </p:spTree>
    <p:extLst>
      <p:ext uri="{BB962C8B-B14F-4D97-AF65-F5344CB8AC3E}">
        <ns3:creationId val="217953532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6" name="Content Placeholder 15">
            <a:extLst>
              <a:ext uri="{FF2B5EF4-FFF2-40B4-BE49-F238E27FC236}">
                <ns2:creationId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현재 UAV가 next-hop 선택</a:t>
            </a:r>
          </a:p>
        </p:txBody>
      </p:sp>
      <p:sp>
        <p:nvSpPr>
          <p:cNvPr id="4" name="Slide Number Placeholder 3">
            <a:extLst>
              <a:ext uri="{FF2B5EF4-FFF2-40B4-BE49-F238E27FC236}">
                <ns2:creationId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574A810-7A8E-054F-9F6B-09E9C694ECF9}" type="slidenum">
              <a:t>12</a:t>
            </a:fld>
          </a:p>
        </p:txBody>
      </p:sp>
      <p:sp>
        <p:nvSpPr>
          <p:cNvPr id="11" name="Title 10">
            <a:extLst>
              <a:ext uri="{FF2B5EF4-FFF2-40B4-BE49-F238E27FC236}">
                <ns2:creationId id="{9759E2FE-9F02-E1B4-EBBC-AA8624ACC33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93700" y="344008"/>
            <a:ext cx="7846838" cy="1034893"/>
          </a:xfrm>
        </p:spPr>
        <p:txBody>
          <a:bodyPr/>
          <a:lstStyle/>
          <a:p>
            <a:r>
              <a:rPr>
                <a:solidFill>
                  <a:schemeClr val="accent1"/>
                </a:solidFill>
              </a:rPr>
              <a:t>Episode는 패킷 하나를 목적지까지 보내는 한 번의 시도다</a:t>
            </a:r>
          </a:p>
        </p:txBody>
      </p:sp>
      <p:sp>
        <p:nvSpPr>
          <p:cNvPr id="17" name="Text Placeholder 16">
            <a:extLst>
              <a:ext uri="{FF2B5EF4-FFF2-40B4-BE49-F238E27FC236}">
                <ns2:creationId id="{986AEEE5-7F7B-65AD-1D88-9157CF0514D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17119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Terminate</a:t>
            </a:r>
          </a:p>
        </p:txBody>
      </p:sp>
      <p:sp>
        <p:nvSpPr>
          <p:cNvPr id="18" name="Content Placeholder 17">
            <a:extLst>
              <a:ext uri="{FF2B5EF4-FFF2-40B4-BE49-F238E27FC236}">
                <ns2:creationId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목적지 도착 또는 실패 조건 발생</a:t>
            </a:r>
          </a:p>
        </p:txBody>
      </p:sp>
      <p:cxnSp>
        <p:nvCxnSpPr>
          <p:cNvPr id="30" name="Google Shape;2259;p159"/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ns2:creationId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>
              <a:ext uri="{FF2B5EF4-FFF2-40B4-BE49-F238E27FC236}">
                <ns2:creationId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>
              <a:ext uri="{FF2B5EF4-FFF2-40B4-BE49-F238E27FC236}">
                <ns2:creationId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>
              <a:ext uri="{FF2B5EF4-FFF2-40B4-BE49-F238E27FC236}">
                <ns2:creationId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Reset</a:t>
            </a:r>
          </a:p>
        </p:txBody>
      </p:sp>
      <p:sp>
        <p:nvSpPr>
          <p:cNvPr id="13" name="Content Placeholder 15">
            <a:extLst>
              <a:ext uri="{FF2B5EF4-FFF2-40B4-BE49-F238E27FC236}">
                <ns2:creationId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UAV 위치, 속도, 링크, queue 생성</a:t>
            </a:r>
          </a:p>
        </p:txBody>
      </p:sp>
      <p:sp>
        <p:nvSpPr>
          <p:cNvPr id="14" name="Content Placeholder 15">
            <a:extLst>
              <a:ext uri="{FF2B5EF4-FFF2-40B4-BE49-F238E27FC236}">
                <ns2:creationId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Forward</a:t>
            </a:r>
          </a:p>
        </p:txBody>
      </p:sp>
    </p:spTree>
    <p:extLst>
      <p:ext uri="{BB962C8B-B14F-4D97-AF65-F5344CB8AC3E}">
        <ns3:creationId val="3446338916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2" name="Google Shape;532;p58">
            <a:extLst>
              <a:ext uri="{FF2B5EF4-FFF2-40B4-BE49-F238E27FC236}">
                <ns2:creationId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6</a:t>
            </a:fld>
          </a:p>
        </p:txBody>
      </p:sp>
      <p:sp>
        <p:nvSpPr>
          <p:cNvPr id="10" name="Rounded Rectangle 9">
            <a:extLst>
              <a:ext uri="{FF2B5EF4-FFF2-40B4-BE49-F238E27FC236}">
                <ns2:creationId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ounded Rectangle 10">
            <a:extLst>
              <a:ext uri="{FF2B5EF4-FFF2-40B4-BE49-F238E27FC236}">
                <ns2:creationId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Content Placeholder 9">
            <a:extLst>
              <a:ext uri="{FF2B5EF4-FFF2-40B4-BE49-F238E27FC236}">
                <ns2:creationId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일반 OOD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link loss, fast mobility, sparse 조건에서 일반화 성능 평가</a:t>
            </a:r>
          </a:p>
        </p:txBody>
      </p:sp>
      <p:sp>
        <p:nvSpPr>
          <p:cNvPr id="13" name="Content Placeholder 10">
            <a:extLst>
              <a:ext uri="{FF2B5EF4-FFF2-40B4-BE49-F238E27FC236}">
                <ns2:creationId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구조적 함정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가까워 보이는 길이 막다른 길인 topology 평가</a:t>
            </a:r>
          </a:p>
        </p:txBody>
      </p:sp>
      <p:sp>
        <p:nvSpPr>
          <p:cNvPr id="14" name="Google Shape;340;p61">
            <a:extLst>
              <a:ext uri="{FF2B5EF4-FFF2-40B4-BE49-F238E27FC236}">
                <ns2:creationId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5" name="Google Shape;340;p61">
            <a:extLst>
              <a:ext uri="{FF2B5EF4-FFF2-40B4-BE49-F238E27FC236}">
                <ns2:creationId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5" name="Rounded Rectangle 4">
            <a:extLst>
              <a:ext uri="{FF2B5EF4-FFF2-40B4-BE49-F238E27FC236}">
                <ns2:creationId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Content Placeholder 9">
            <a:extLst>
              <a:ext uri="{FF2B5EF4-FFF2-40B4-BE49-F238E27FC236}">
                <ns2:creationId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각 scenario는 UAV 수, 통신 반경, 이동 속도, 링크 손실률, topology 고정 여부를 바꾼다.</a:t>
            </a:r>
          </a:p>
        </p:txBody>
      </p:sp>
      <p:sp>
        <p:nvSpPr>
          <p:cNvPr id="7" name="Google Shape;340;p61">
            <a:extLst>
              <a:ext uri="{FF2B5EF4-FFF2-40B4-BE49-F238E27FC236}">
                <ns2:creationId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7" name="Google Shape;534;p58">
            <a:extLst>
              <a:ext uri="{FF2B5EF4-FFF2-40B4-BE49-F238E27FC236}">
                <ns2:creationId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단순 평균 환경만 본 것이 아니라, 실제 UAV routing에서 문제가 되는 조건을 의도적으로 분리해 검증했다.</a:t>
            </a:r>
          </a:p>
        </p:txBody>
      </p:sp>
      <p:sp>
        <p:nvSpPr>
          <p:cNvPr id="18" name="Google Shape;534;p58">
            <a:extLst>
              <a:ext uri="{FF2B5EF4-FFF2-40B4-BE49-F238E27FC236}">
                <ns2:creationId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Scenario는 FANET이 어려워지는 방식을 네 그룹으로 나눈다</a:t>
            </a:r>
          </a:p>
        </p:txBody>
      </p:sp>
    </p:spTree>
    <p:extLst>
      <p:ext uri="{BB962C8B-B14F-4D97-AF65-F5344CB8AC3E}">
        <ns3:creationId val="1566183075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2" name="Google Shape;532;p58">
            <a:extLst>
              <a:ext uri="{FF2B5EF4-FFF2-40B4-BE49-F238E27FC236}">
                <ns2:creationId id="{C4429360-E0B5-E472-3BCB-2FC70A04DA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9</a:t>
            </a:fld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="4752742" y="1549337"/>
          <a:ext cx="6778000" cy="4627827"/>
        </p:xfrm>
        <a:graphic>
          <a:graphicData uri="http://schemas.openxmlformats.org/drawingml/2006/table">
            <a:tbl>
              <a:tblPr firstRow="1" band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Scenario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3457B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한글 의미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3457B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UAV/endpoint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3457B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핵심 난점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3457B9"/>
                    </a:solidFill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heldout_medium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기본 중간 난이도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8 / 랜덤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일반 성능 기준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ood_link_loss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링크 손실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8 / 랜덤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무선 링크 15% 손실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ood_fast_mobility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빠른 이동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8 / 랜덤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이웃 관계가 빠르게 변함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ood_sparse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듬성듬성한 연결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8 / 랜덤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후보 next-hop 감소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structural_hole_45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막다른 길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8 / 0-&gt;5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가까운 길이 trap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predictive_break_45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곧 끊길 링크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9 / 0-&gt;8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lifetime 예측 필요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ood_nodes_16/24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노드 수 확장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16/24 / 랜덤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큰 네트워크 일반화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unconditional_sparse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연결 보장 없음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8 / 랜덤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처음부터 불가능한 episode 포함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link_loss_30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심한 링크 손실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8 / 랜덤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30% stochastic loss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Google Shape;534;p58">
            <a:extLst>
              <a:ext uri="{FF2B5EF4-FFF2-40B4-BE49-F238E27FC236}">
                <ns2:creationId id="{71547039-AB2A-5CA1-49F7-26E9E71601EF}"/>
              </a:ext>
            </a:extLst>
          </p:cNvPr>
          <p:cNvSpPr>
            <a:spLocks noGrp="1"/>
          </p:cNvSpPr>
          <p:nvPr/>
        </p:nvSpPr>
        <p:spPr>
          <a:xfrm>
            <a:off x="393700" y="2774196"/>
            <a:ext cx="3606800" cy="3220203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랜덤 scenario는 source/destination을 seed 기반으로 샘플링하고, structural/predictive scenario는 고정 endpoint를 사용한다.</a:t>
            </a:r>
          </a:p>
        </p:txBody>
      </p:sp>
      <p:sp>
        <p:nvSpPr>
          <p:cNvPr id="8" name="Google Shape;534;p58">
            <a:extLst>
              <a:ext uri="{FF2B5EF4-FFF2-40B4-BE49-F238E27FC236}">
                <ns2:creationId id="{D136FB89-7449-CC90-F061-B6BF578EA25E}"/>
              </a:ext>
            </a:extLst>
          </p:cNvPr>
          <p:cNvSpPr>
            <a:spLocks noGrp="1"/>
          </p:cNvSpPr>
          <p:nvPr/>
        </p:nvSpPr>
        <p:spPr>
          <a:xfrm>
            <a:off x="393700" y="1564835"/>
            <a:ext cx="3606800" cy="1178365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Scenario별 환경 설정은 routing 실패 원인을 분리해서 보게 한다</a:t>
            </a:r>
          </a:p>
        </p:txBody>
      </p:sp>
    </p:spTree>
    <p:extLst>
      <p:ext uri="{BB962C8B-B14F-4D97-AF65-F5344CB8AC3E}">
        <ns3:creationId val="2553894934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6" name="Content Placeholder 15">
            <a:extLst>
              <a:ext uri="{FF2B5EF4-FFF2-40B4-BE49-F238E27FC236}">
                <ns2:creationId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Phase 8 / Lite-GLOBE-P</a:t>
            </a:r>
          </a:p>
        </p:txBody>
      </p:sp>
      <p:sp>
        <p:nvSpPr>
          <p:cNvPr id="4" name="Slide Number Placeholder 3">
            <a:extLst>
              <a:ext uri="{FF2B5EF4-FFF2-40B4-BE49-F238E27FC236}">
                <ns2:creationId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574A810-7A8E-054F-9F6B-09E9C694ECF9}" type="slidenum">
              <a:t>12</a:t>
            </a:fld>
          </a:p>
        </p:txBody>
      </p:sp>
      <p:sp>
        <p:nvSpPr>
          <p:cNvPr id="11" name="Title 10">
            <a:extLst>
              <a:ext uri="{FF2B5EF4-FFF2-40B4-BE49-F238E27FC236}">
                <ns2:creationId id="{9759E2FE-9F02-E1B4-EBBC-AA8624ACC33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93700" y="344008"/>
            <a:ext cx="7846838" cy="1034893"/>
          </a:xfrm>
        </p:spPr>
        <p:txBody>
          <a:bodyPr/>
          <a:lstStyle/>
          <a:p>
            <a:r>
              <a:rPr>
                <a:solidFill>
                  <a:schemeClr val="accent1"/>
                </a:solidFill>
              </a:rPr>
              <a:t>Method는 단순 거리 기반에서 위험 전환형 정책으로 발전한다</a:t>
            </a:r>
          </a:p>
        </p:txBody>
      </p:sp>
      <p:sp>
        <p:nvSpPr>
          <p:cNvPr id="17" name="Text Placeholder 16">
            <a:extLst>
              <a:ext uri="{FF2B5EF4-FFF2-40B4-BE49-F238E27FC236}">
                <ns2:creationId id="{986AEEE5-7F7B-65AD-1D88-9157CF0514D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17119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Final proposal</a:t>
            </a:r>
          </a:p>
        </p:txBody>
      </p:sp>
      <p:sp>
        <p:nvSpPr>
          <p:cNvPr id="18" name="Content Placeholder 17">
            <a:extLst>
              <a:ext uri="{FF2B5EF4-FFF2-40B4-BE49-F238E27FC236}">
                <ns2:creationId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Risk-Switch Lite-GLOBE-P</a:t>
            </a:r>
          </a:p>
        </p:txBody>
      </p:sp>
      <p:cxnSp>
        <p:nvCxnSpPr>
          <p:cNvPr id="30" name="Google Shape;2259;p159"/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ns2:creationId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>
              <a:ext uri="{FF2B5EF4-FFF2-40B4-BE49-F238E27FC236}">
                <ns2:creationId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Google Shape;2262;p159">
            <a:extLst>
              <a:ext uri="{FF2B5EF4-FFF2-40B4-BE49-F238E27FC236}">
                <ns2:creationId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Content Placeholder 15">
            <a:extLst>
              <a:ext uri="{FF2B5EF4-FFF2-40B4-BE49-F238E27FC236}">
                <ns2:creationId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Baseline</a:t>
            </a:r>
          </a:p>
        </p:txBody>
      </p:sp>
      <p:sp>
        <p:nvSpPr>
          <p:cNvPr id="13" name="Content Placeholder 15">
            <a:extLst>
              <a:ext uri="{FF2B5EF4-FFF2-40B4-BE49-F238E27FC236}">
                <ns2:creationId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GPSR / Predictive Geographic</a:t>
            </a:r>
          </a:p>
        </p:txBody>
      </p:sp>
      <p:sp>
        <p:nvSpPr>
          <p:cNvPr id="14" name="Content Placeholder 15">
            <a:extLst>
              <a:ext uri="{FF2B5EF4-FFF2-40B4-BE49-F238E27FC236}">
                <ns2:creationId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Learned local policy</a:t>
            </a:r>
          </a:p>
        </p:txBody>
      </p:sp>
    </p:spTree>
    <p:extLst>
      <p:ext uri="{BB962C8B-B14F-4D97-AF65-F5344CB8AC3E}">
        <ns3:creationId val="3446338916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2" name="Google Shape;532;p58">
            <a:extLst>
              <a:ext uri="{FF2B5EF4-FFF2-40B4-BE49-F238E27FC236}">
                <ns2:creationId id="{C4429360-E0B5-E472-3BCB-2FC70A04DA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9</a:t>
            </a:fld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="4752742" y="1549337"/>
          <a:ext cx="6778000" cy="4627827"/>
        </p:xfrm>
        <a:graphic>
          <a:graphicData uri="http://schemas.openxmlformats.org/drawingml/2006/table">
            <a:tbl>
              <a:tblPr firstRow="1" band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Method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3457B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핵심 알고리즘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3457B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강한 환경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3457B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약한 환경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3457B9"/>
                    </a:solidFill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GPSR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argmin distance(j,D)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단순 일반 경로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hole / predictive break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Predictive Geo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progress + risk feature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곧 끊길 링크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입력 비용 증가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Phase 8 KD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geo prior + learned residual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일반 OOD / node 확장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predictive break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Predictive-only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predictive prior - gate penalty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link lifetime 필요 환경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항상 feature 비용 큼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No-switch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prior + predictive + residual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일부 link-break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seed 편차 / 비용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Risk-Switch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Phase 8 unless danger high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전체 reliability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energy / loss 결합 case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Danger score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[τm-M]+ + [τl-L]+ + [τo-O]+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위험 링크 탐지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loss uncertainty는 추가 개선 필요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PDR 기준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성공 episode / 전체 episode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신뢰성 평가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delay와 함께 해석 필요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Deadline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ceil(1.5*hops)+1 내 도착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실시간성 평가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우회가 길면 감소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Google Shape;534;p58">
            <a:extLst>
              <a:ext uri="{FF2B5EF4-FFF2-40B4-BE49-F238E27FC236}">
                <ns2:creationId id="{71547039-AB2A-5CA1-49F7-26E9E71601EF}"/>
              </a:ext>
            </a:extLst>
          </p:cNvPr>
          <p:cNvSpPr>
            <a:spLocks noGrp="1"/>
          </p:cNvSpPr>
          <p:nvPr/>
        </p:nvSpPr>
        <p:spPr>
          <a:xfrm>
            <a:off x="393700" y="2774196"/>
            <a:ext cx="3606800" cy="3220203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같은 episode에서도 method가 어떤 정보를 보느냐에 따라 선택 경로와 실패 원인이 달라진다.</a:t>
            </a:r>
          </a:p>
        </p:txBody>
      </p:sp>
      <p:sp>
        <p:nvSpPr>
          <p:cNvPr id="8" name="Google Shape;534;p58">
            <a:extLst>
              <a:ext uri="{FF2B5EF4-FFF2-40B4-BE49-F238E27FC236}">
                <ns2:creationId id="{D136FB89-7449-CC90-F061-B6BF578EA25E}"/>
              </a:ext>
            </a:extLst>
          </p:cNvPr>
          <p:cNvSpPr>
            <a:spLocks noGrp="1"/>
          </p:cNvSpPr>
          <p:nvPr/>
        </p:nvSpPr>
        <p:spPr>
          <a:xfrm>
            <a:off x="393700" y="1564835"/>
            <a:ext cx="3606800" cy="1178365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각 method는 next-hop score를 계산하는 방식이 다르다</a:t>
            </a:r>
          </a:p>
        </p:txBody>
      </p:sp>
    </p:spTree>
    <p:extLst>
      <p:ext uri="{BB962C8B-B14F-4D97-AF65-F5344CB8AC3E}">
        <ns3:creationId val="2553894934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2" name="Google Shape;532;p58">
            <a:extLst>
              <a:ext uri="{FF2B5EF4-FFF2-40B4-BE49-F238E27FC236}">
                <ns2:creationId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5</a:t>
            </a:fld>
          </a:p>
        </p:txBody>
      </p:sp>
      <p:sp>
        <p:nvSpPr>
          <p:cNvPr id="3" name="Google Shape;534;p58">
            <a:extLst>
              <a:ext uri="{FF2B5EF4-FFF2-40B4-BE49-F238E27FC236}">
                <ns2:creationId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M: link margin</a:t>
            </a:r>
          </a:p>
        </p:txBody>
      </p:sp>
      <p:sp>
        <p:nvSpPr>
          <p:cNvPr id="5" name="Google Shape;534;p58">
            <a:extLst>
              <a:ext uri="{FF2B5EF4-FFF2-40B4-BE49-F238E27FC236}">
                <ns2:creationId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Risk feature는 단순 거리를 링크 안정성 판단으로 확장한다</a:t>
            </a:r>
          </a:p>
        </p:txBody>
      </p:sp>
      <p:sp>
        <p:nvSpPr>
          <p:cNvPr id="27" name="Content Placeholder 10">
            <a:extLst>
              <a:ext uri="{FF2B5EF4-FFF2-40B4-BE49-F238E27FC236}">
                <ns2:creationId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candidate_risk_features[j] = [M_j, L_j, Q_j, O_j]</a:t>
            </a:r>
          </a:p>
        </p:txBody>
      </p:sp>
      <p:sp>
        <p:nvSpPr>
          <p:cNvPr id="28" name="TextBox 27">
            <a:extLst>
              <a:ext uri="{FF2B5EF4-FFF2-40B4-BE49-F238E27FC236}">
                <ns2:creationId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4864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각 후보 next-hop j에 대해 margin, lifetime, queue headroom, onward lifetime을 계산한다.</a:t>
            </a:r>
          </a:p>
        </p:txBody>
      </p:sp>
      <p:sp>
        <p:nvSpPr>
          <p:cNvPr id="2" name="Rounded Rectangle 1">
            <a:extLst>
              <a:ext uri="{FF2B5EF4-FFF2-40B4-BE49-F238E27FC236}">
                <ns2:creationId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Content Placeholder 10">
            <a:extLst>
              <a:ext uri="{FF2B5EF4-FFF2-40B4-BE49-F238E27FC236}">
                <ns2:creationId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L: link lifetime</a:t>
            </a:r>
          </a:p>
        </p:txBody>
      </p:sp>
      <p:sp>
        <p:nvSpPr>
          <p:cNvPr id="6" name="TextBox 5">
            <a:extLst>
              <a:ext uri="{FF2B5EF4-FFF2-40B4-BE49-F238E27FC236}">
                <ns2:creationId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통신 반경 안에서 거리 여유가 얼마나 있는가. 1에 가까울수록 안정적.</a:t>
            </a:r>
          </a:p>
        </p:txBody>
      </p:sp>
      <p:sp>
        <p:nvSpPr>
          <p:cNvPr id="7" name="Rounded Rectangle 6">
            <a:extLst>
              <a:ext uri="{FF2B5EF4-FFF2-40B4-BE49-F238E27FC236}">
                <ns2:creationId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Content Placeholder 10">
            <a:extLst>
              <a:ext uri="{FF2B5EF4-FFF2-40B4-BE49-F238E27FC236}">
                <ns2:creationId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Q/O: queue + onward</a:t>
            </a:r>
          </a:p>
        </p:txBody>
      </p:sp>
      <p:sp>
        <p:nvSpPr>
          <p:cNvPr id="9" name="TextBox 8">
            <a:extLst>
              <a:ext uri="{FF2B5EF4-FFF2-40B4-BE49-F238E27FC236}">
                <ns2:creationId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상대 위치/속도를 보고 앞으로 몇 step 유지될지 예측.</a:t>
            </a:r>
          </a:p>
        </p:txBody>
      </p:sp>
      <p:sp>
        <p:nvSpPr>
          <p:cNvPr id="10" name="Rounded Rectangle 9">
            <a:extLst>
              <a:ext uri="{FF2B5EF4-FFF2-40B4-BE49-F238E27FC236}">
                <ns2:creationId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  <p:extLst>
      <p:ext uri="{BB962C8B-B14F-4D97-AF65-F5344CB8AC3E}">
        <ns3:creationId val="3366140372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2" name="Google Shape;532;p58">
            <a:extLst>
              <a:ext uri="{FF2B5EF4-FFF2-40B4-BE49-F238E27FC236}">
                <ns2:creationId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5</a:t>
            </a:fld>
          </a:p>
        </p:txBody>
      </p:sp>
      <p:sp>
        <p:nvSpPr>
          <p:cNvPr id="3" name="Google Shape;534;p58">
            <a:extLst>
              <a:ext uri="{FF2B5EF4-FFF2-40B4-BE49-F238E27FC236}">
                <ns2:creationId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왜 GPSR이 실패하는가</a:t>
            </a:r>
          </a:p>
        </p:txBody>
      </p:sp>
      <p:sp>
        <p:nvSpPr>
          <p:cNvPr id="5" name="Google Shape;534;p58">
            <a:extLst>
              <a:ext uri="{FF2B5EF4-FFF2-40B4-BE49-F238E27FC236}">
                <ns2:creationId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Structural hole은 가까운 길이 막다른 길인 시험 문제다</a:t>
            </a:r>
          </a:p>
        </p:txBody>
      </p:sp>
      <p:sp>
        <p:nvSpPr>
          <p:cNvPr id="27" name="Content Placeholder 10">
            <a:extLst>
              <a:ext uri="{FF2B5EF4-FFF2-40B4-BE49-F238E27FC236}">
                <ns2:creationId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structural_hole_45: GPSR 0.000 / Risk-Switch 1.000</a:t>
            </a:r>
          </a:p>
        </p:txBody>
      </p:sp>
      <p:sp>
        <p:nvSpPr>
          <p:cNvPr id="28" name="TextBox 27">
            <a:extLst>
              <a:ext uri="{FF2B5EF4-FFF2-40B4-BE49-F238E27FC236}">
                <ns2:creationId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4864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GPSR은 trap으로 진입</a:t>
            </a:r>
          </a:p>
        </p:txBody>
      </p:sp>
      <p:sp>
        <p:nvSpPr>
          <p:cNvPr id="2" name="Rounded Rectangle 1">
            <a:extLst>
              <a:ext uri="{FF2B5EF4-FFF2-40B4-BE49-F238E27FC236}">
                <ns2:creationId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Content Placeholder 10">
            <a:extLst>
              <a:ext uri="{FF2B5EF4-FFF2-40B4-BE49-F238E27FC236}">
                <ns2:creationId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하지만 onward 후보가 사라져 loop/drop</a:t>
            </a:r>
          </a:p>
        </p:txBody>
      </p:sp>
      <p:sp>
        <p:nvSpPr>
          <p:cNvPr id="6" name="TextBox 5">
            <a:extLst>
              <a:ext uri="{FF2B5EF4-FFF2-40B4-BE49-F238E27FC236}">
                <ns2:creationId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거리만 보면 A 방향이 좋아 보임</a:t>
            </a:r>
          </a:p>
        </p:txBody>
      </p:sp>
      <p:sp>
        <p:nvSpPr>
          <p:cNvPr id="7" name="Rounded Rectangle 6">
            <a:extLst>
              <a:ext uri="{FF2B5EF4-FFF2-40B4-BE49-F238E27FC236}">
                <ns2:creationId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Content Placeholder 10">
            <a:extLst>
              <a:ext uri="{FF2B5EF4-FFF2-40B4-BE49-F238E27FC236}">
                <ns2:creationId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Phase 8의 detour 학습을 보존</a:t>
            </a:r>
          </a:p>
        </p:txBody>
      </p:sp>
      <p:sp>
        <p:nvSpPr>
          <p:cNvPr id="9" name="TextBox 8">
            <a:extLst>
              <a:ext uri="{FF2B5EF4-FFF2-40B4-BE49-F238E27FC236}">
                <ns2:creationId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4864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Risk-Switch는 우회 경로 유지</a:t>
            </a:r>
          </a:p>
        </p:txBody>
      </p:sp>
      <p:sp>
        <p:nvSpPr>
          <p:cNvPr id="10" name="Rounded Rectangle 9">
            <a:extLst>
              <a:ext uri="{FF2B5EF4-FFF2-40B4-BE49-F238E27FC236}">
                <ns2:creationId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34" name="">
            <a:extLst>
              <a:ext uri="{FF2B5EF4-FFF2-40B4-BE49-F238E27FC236}">
                <ns2:creationId id="{9565E1B1-EE5F-4B4B-A29A-F56F7DA533EF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457200" cy="457200"/>
          </a:xfrm>
          <a:prstGeom prst="ellipse">
            <a:avLst/>
          </a:prstGeom>
          <a:solidFill>
            <a:srgbClr val="F7FAFF"/>
          </a:solidFill>
          <a:ln w="19050">
            <a:solidFill>
              <a:srgbClr val="3457B9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457B9"/>
                </a:solidFill>
              </a:defRPr>
            </a:pPr>
            <a:r>
              <a:rPr sz="1125" b="1">
                <a:solidFill>
                  <a:srgbClr val="3457B9"/>
                </a:solidFill>
              </a:rPr>
              <a:t>S</a:t>
            </a:r>
          </a:p>
        </p:txBody>
      </p:sp>
      <p:sp>
        <p:nvSpPr>
          <p:cNvPr id="535" name="">
            <a:extLst>
              <a:ext uri="{FF2B5EF4-FFF2-40B4-BE49-F238E27FC236}">
                <ns2:creationId id="{72E3C15F-B3C0-4A81-8D4C-05C4A19D556F}"/>
              </a:ext>
            </a:extLst>
          </p:cNvPr>
          <p:cNvSpPr>
            <a:spLocks noGrp="1"/>
          </p:cNvSpPr>
          <p:nvPr/>
        </p:nvSpPr>
        <p:spPr>
          <a:xfrm>
            <a:off x="2190750" y="3295650"/>
            <a:ext cx="457200" cy="457200"/>
          </a:xfrm>
          <a:prstGeom prst="ellipse">
            <a:avLst/>
          </a:prstGeom>
          <a:solidFill>
            <a:srgbClr val="FFF6F6"/>
          </a:solidFill>
          <a:ln w="19050">
            <a:solidFill>
              <a:srgbClr val="3457B9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457B9"/>
                </a:solidFill>
              </a:defRPr>
            </a:pPr>
            <a:r>
              <a:rPr sz="1125" b="1">
                <a:solidFill>
                  <a:srgbClr val="3457B9"/>
                </a:solidFill>
              </a:rPr>
              <a:t>A</a:t>
            </a:r>
          </a:p>
        </p:txBody>
      </p:sp>
      <p:sp>
        <p:nvSpPr>
          <p:cNvPr id="536" name="">
            <a:extLst>
              <a:ext uri="{FF2B5EF4-FFF2-40B4-BE49-F238E27FC236}">
                <ns2:creationId id="{9387A7DB-8A0B-4B8C-A0B1-9B5EC1EF415D}"/>
              </a:ext>
            </a:extLst>
          </p:cNvPr>
          <p:cNvSpPr>
            <a:spLocks noGrp="1"/>
          </p:cNvSpPr>
          <p:nvPr/>
        </p:nvSpPr>
        <p:spPr>
          <a:xfrm>
            <a:off x="3429000" y="3295650"/>
            <a:ext cx="457200" cy="457200"/>
          </a:xfrm>
          <a:prstGeom prst="ellipse">
            <a:avLst/>
          </a:prstGeom>
          <a:solidFill>
            <a:srgbClr val="FFF0F0"/>
          </a:solidFill>
          <a:ln w="19050">
            <a:solidFill>
              <a:srgbClr val="3457B9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457B9"/>
                </a:solidFill>
              </a:defRPr>
            </a:pPr>
            <a:r>
              <a:rPr sz="1125" b="1">
                <a:solidFill>
                  <a:srgbClr val="3457B9"/>
                </a:solidFill>
              </a:rPr>
              <a:t>X</a:t>
            </a:r>
          </a:p>
        </p:txBody>
      </p:sp>
      <p:sp>
        <p:nvSpPr>
          <p:cNvPr id="537" name="">
            <a:extLst>
              <a:ext uri="{FF2B5EF4-FFF2-40B4-BE49-F238E27FC236}">
                <ns2:creationId id="{095E9A98-3CBA-47FF-8DAE-849816CF251E}"/>
              </a:ext>
            </a:extLst>
          </p:cNvPr>
          <p:cNvSpPr>
            <a:spLocks noGrp="1"/>
          </p:cNvSpPr>
          <p:nvPr/>
        </p:nvSpPr>
        <p:spPr>
          <a:xfrm>
            <a:off x="2190750" y="4400550"/>
            <a:ext cx="457200" cy="457200"/>
          </a:xfrm>
          <a:prstGeom prst="ellipse">
            <a:avLst/>
          </a:prstGeom>
          <a:solidFill>
            <a:srgbClr val="F7FAFF"/>
          </a:solidFill>
          <a:ln w="19050">
            <a:solidFill>
              <a:srgbClr val="3457B9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457B9"/>
                </a:solidFill>
              </a:defRPr>
            </a:pPr>
            <a:r>
              <a:rPr sz="1125" b="1">
                <a:solidFill>
                  <a:srgbClr val="3457B9"/>
                </a:solidFill>
              </a:rPr>
              <a:t>B</a:t>
            </a:r>
          </a:p>
        </p:txBody>
      </p:sp>
      <p:sp>
        <p:nvSpPr>
          <p:cNvPr id="538" name="">
            <a:extLst>
              <a:ext uri="{FF2B5EF4-FFF2-40B4-BE49-F238E27FC236}">
                <ns2:creationId id="{85C6B311-E1A7-4311-B50B-542055655BED}"/>
              </a:ext>
            </a:extLst>
          </p:cNvPr>
          <p:cNvSpPr>
            <a:spLocks noGrp="1"/>
          </p:cNvSpPr>
          <p:nvPr/>
        </p:nvSpPr>
        <p:spPr>
          <a:xfrm>
            <a:off x="4000500" y="4400550"/>
            <a:ext cx="457200" cy="457200"/>
          </a:xfrm>
          <a:prstGeom prst="ellipse">
            <a:avLst/>
          </a:prstGeom>
          <a:solidFill>
            <a:srgbClr val="F0F7FF"/>
          </a:solidFill>
          <a:ln w="19050">
            <a:solidFill>
              <a:srgbClr val="3457B9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457B9"/>
                </a:solidFill>
              </a:defRPr>
            </a:pPr>
            <a:r>
              <a:rPr sz="1125" b="1">
                <a:solidFill>
                  <a:srgbClr val="3457B9"/>
                </a:solidFill>
              </a:rPr>
              <a:t>D</a:t>
            </a:r>
          </a:p>
        </p:txBody>
      </p:sp>
      <p:cxnSp>
        <p:nvCxnSpPr>
          <p:cNvPr id="562" name=""/>
          <p:cNvCxnSpPr>
            <a:stCxn id="534" idx="6"/>
            <a:endCxn id="535" idx="2"/>
          </p:cNvCxnSpPr>
          <p:nvPr/>
        </p:nvCxnSpPr>
        <p:spPr>
          <a:xfrm flipV="1">
            <a:off x="1314450" y="3524250"/>
            <a:ext cx="876300" cy="438150"/>
          </a:xfrm>
          <a:prstGeom prst="straightConnector1">
            <a:avLst/>
          </a:prstGeom>
          <a:ln w="19050">
            <a:solidFill>
              <a:srgbClr val="C0392B"/>
            </a:solidFill>
            <a:prstDash val="dash"/>
            <a:headEnd type="arrow" w="med" len="med"/>
          </a:ln>
        </p:spPr>
      </p:cxnSp>
      <p:cxnSp>
        <p:nvCxnSpPr>
          <p:cNvPr id="563" name=""/>
          <p:cNvCxnSpPr>
            <a:stCxn id="535" idx="6"/>
            <a:endCxn id="536" idx="2"/>
          </p:cNvCxnSpPr>
          <p:nvPr/>
        </p:nvCxnSpPr>
        <p:spPr>
          <a:xfrm>
            <a:off x="2647950" y="3524250"/>
            <a:ext cx="781050" cy="0"/>
          </a:xfrm>
          <a:prstGeom prst="straightConnector1">
            <a:avLst/>
          </a:prstGeom>
          <a:ln w="19050">
            <a:solidFill>
              <a:srgbClr val="C0392B"/>
            </a:solidFill>
            <a:prstDash val="dash"/>
            <a:headEnd type="arrow" w="med" len="med"/>
          </a:ln>
        </p:spPr>
      </p:cxnSp>
      <p:cxnSp>
        <p:nvCxnSpPr>
          <p:cNvPr id="564" name=""/>
          <p:cNvCxnSpPr>
            <a:stCxn id="534" idx="6"/>
            <a:endCxn id="537" idx="2"/>
          </p:cNvCxnSpPr>
          <p:nvPr/>
        </p:nvCxnSpPr>
        <p:spPr>
          <a:xfrm>
            <a:off x="1314450" y="3962400"/>
            <a:ext cx="876300" cy="666750"/>
          </a:xfrm>
          <a:prstGeom prst="straightConnector1">
            <a:avLst/>
          </a:prstGeom>
          <a:ln w="19050">
            <a:solidFill>
              <a:srgbClr val="3457B9"/>
            </a:solidFill>
            <a:prstDash val="solid"/>
            <a:headEnd type="arrow" w="med" len="med"/>
          </a:ln>
        </p:spPr>
      </p:cxnSp>
      <p:cxnSp>
        <p:nvCxnSpPr>
          <p:cNvPr id="565" name=""/>
          <p:cNvCxnSpPr>
            <a:stCxn id="537" idx="6"/>
            <a:endCxn id="538" idx="2"/>
          </p:cNvCxnSpPr>
          <p:nvPr/>
        </p:nvCxnSpPr>
        <p:spPr>
          <a:xfrm>
            <a:off x="2647950" y="4629150"/>
            <a:ext cx="1352550" cy="0"/>
          </a:xfrm>
          <a:prstGeom prst="straightConnector1">
            <a:avLst/>
          </a:prstGeom>
          <a:ln w="19050">
            <a:solidFill>
              <a:srgbClr val="3457B9"/>
            </a:solidFill>
            <a:prstDash val="solid"/>
            <a:headEnd type="arrow" w="med" len="med"/>
          </a:ln>
        </p:spPr>
      </p:cxnSp>
      <p:sp>
        <p:nvSpPr>
          <p:cNvPr id="543" name="">
            <a:extLst>
              <a:ext uri="{FF2B5EF4-FFF2-40B4-BE49-F238E27FC236}">
                <ns2:creationId id="{1E910FC9-8E3C-448E-B107-6E1BD7EE9398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B667A"/>
                </a:solidFill>
              </a:defRPr>
            </a:pPr>
            <a:r>
              <a:rPr sz="1050">
                <a:solidFill>
                  <a:srgbClr val="5B667A"/>
                </a:solidFill>
              </a:rPr>
              <a:t>점선은 가까워 보이지만 막히는 길, 실선은 목적지까지 이어지는 우회 경로</a:t>
            </a:r>
          </a:p>
        </p:txBody>
      </p:sp>
    </p:spTree>
    <p:extLst>
      <p:ext uri="{BB962C8B-B14F-4D97-AF65-F5344CB8AC3E}">
        <ns3:creationId val="3366140372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2" name="Google Shape;532;p58">
            <a:extLst>
              <a:ext uri="{FF2B5EF4-FFF2-40B4-BE49-F238E27FC236}">
                <ns2:creationId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5</a:t>
            </a:fld>
          </a:p>
        </p:txBody>
      </p:sp>
      <p:sp>
        <p:nvSpPr>
          <p:cNvPr id="3" name="Google Shape;534;p58">
            <a:extLst>
              <a:ext uri="{FF2B5EF4-FFF2-40B4-BE49-F238E27FC236}">
                <ns2:creationId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핵심 관측</a:t>
            </a:r>
          </a:p>
        </p:txBody>
      </p:sp>
      <p:sp>
        <p:nvSpPr>
          <p:cNvPr id="5" name="Google Shape;534;p58">
            <a:extLst>
              <a:ext uri="{FF2B5EF4-FFF2-40B4-BE49-F238E27FC236}">
                <ns2:creationId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Predictive break는 지금 연결된 링크가 곧 끊기는 시험 문제다</a:t>
            </a:r>
          </a:p>
        </p:txBody>
      </p:sp>
      <p:sp>
        <p:nvSpPr>
          <p:cNvPr id="27" name="Content Placeholder 10">
            <a:extLst>
              <a:ext uri="{FF2B5EF4-FFF2-40B4-BE49-F238E27FC236}">
                <ns2:creationId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predictive_break_45: Phase 8 0.000 / Risk-Switch 1.000</a:t>
            </a:r>
          </a:p>
        </p:txBody>
      </p:sp>
      <p:sp>
        <p:nvSpPr>
          <p:cNvPr id="28" name="TextBox 27">
            <a:extLst>
              <a:ext uri="{FF2B5EF4-FFF2-40B4-BE49-F238E27FC236}">
                <ns2:creationId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4864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현재 연결은 좋아 보이지만 곧 끊김</a:t>
            </a:r>
          </a:p>
        </p:txBody>
      </p:sp>
      <p:sp>
        <p:nvSpPr>
          <p:cNvPr id="2" name="Rounded Rectangle 1">
            <a:extLst>
              <a:ext uri="{FF2B5EF4-FFF2-40B4-BE49-F238E27FC236}">
                <ns2:creationId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Content Placeholder 10">
            <a:extLst>
              <a:ext uri="{FF2B5EF4-FFF2-40B4-BE49-F238E27FC236}">
                <ns2:creationId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현재 연결보다 미래 안정성을 우선</a:t>
            </a:r>
          </a:p>
        </p:txBody>
      </p:sp>
      <p:sp>
        <p:nvSpPr>
          <p:cNvPr id="6" name="TextBox 5">
            <a:extLst>
              <a:ext uri="{FF2B5EF4-FFF2-40B4-BE49-F238E27FC236}">
                <ns2:creationId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Link lifetime이 낮으면 위험 링크</a:t>
            </a:r>
          </a:p>
        </p:txBody>
      </p:sp>
      <p:sp>
        <p:nvSpPr>
          <p:cNvPr id="7" name="Rounded Rectangle 6">
            <a:extLst>
              <a:ext uri="{FF2B5EF4-FFF2-40B4-BE49-F238E27FC236}">
                <ns2:creationId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Content Placeholder 10">
            <a:extLst>
              <a:ext uri="{FF2B5EF4-FFF2-40B4-BE49-F238E27FC236}">
                <ns2:creationId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break+loss case는 추가 개선 대상</a:t>
            </a:r>
          </a:p>
        </p:txBody>
      </p:sp>
      <p:sp>
        <p:nvSpPr>
          <p:cNvPr id="9" name="TextBox 8">
            <a:extLst>
              <a:ext uri="{FF2B5EF4-FFF2-40B4-BE49-F238E27FC236}">
                <ns2:creationId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4864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Predictive branch로 안정 후보 선택</a:t>
            </a:r>
          </a:p>
        </p:txBody>
      </p:sp>
      <p:sp>
        <p:nvSpPr>
          <p:cNvPr id="10" name="Rounded Rectangle 9">
            <a:extLst>
              <a:ext uri="{FF2B5EF4-FFF2-40B4-BE49-F238E27FC236}">
                <ns2:creationId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34" name="">
            <a:extLst>
              <a:ext uri="{FF2B5EF4-FFF2-40B4-BE49-F238E27FC236}">
                <ns2:creationId id="{13D4C7A4-C5B9-47AD-99E6-B25B9263F430}"/>
              </a:ext>
            </a:extLst>
          </p:cNvPr>
          <p:cNvSpPr>
            <a:spLocks noGrp="1"/>
          </p:cNvSpPr>
          <p:nvPr/>
        </p:nvSpPr>
        <p:spPr>
          <a:xfrm>
            <a:off x="857250" y="3867150"/>
            <a:ext cx="457200" cy="457200"/>
          </a:xfrm>
          <a:prstGeom prst="ellipse">
            <a:avLst/>
          </a:prstGeom>
          <a:solidFill>
            <a:srgbClr val="F7FAFF"/>
          </a:solidFill>
          <a:ln w="19050">
            <a:solidFill>
              <a:srgbClr val="3457B9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457B9"/>
                </a:solidFill>
              </a:defRPr>
            </a:pPr>
            <a:r>
              <a:rPr sz="1125" b="1">
                <a:solidFill>
                  <a:srgbClr val="3457B9"/>
                </a:solidFill>
              </a:rPr>
              <a:t>S</a:t>
            </a:r>
          </a:p>
        </p:txBody>
      </p:sp>
      <p:sp>
        <p:nvSpPr>
          <p:cNvPr id="535" name="">
            <a:extLst>
              <a:ext uri="{FF2B5EF4-FFF2-40B4-BE49-F238E27FC236}">
                <ns2:creationId id="{6589B50A-EFAC-42C1-A6F1-F802188A1482}"/>
              </a:ext>
            </a:extLst>
          </p:cNvPr>
          <p:cNvSpPr>
            <a:spLocks noGrp="1"/>
          </p:cNvSpPr>
          <p:nvPr/>
        </p:nvSpPr>
        <p:spPr>
          <a:xfrm>
            <a:off x="2190750" y="3867150"/>
            <a:ext cx="457200" cy="457200"/>
          </a:xfrm>
          <a:prstGeom prst="ellipse">
            <a:avLst/>
          </a:prstGeom>
          <a:solidFill>
            <a:srgbClr val="F7FAFF"/>
          </a:solidFill>
          <a:ln w="19050">
            <a:solidFill>
              <a:srgbClr val="3457B9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457B9"/>
                </a:solidFill>
              </a:defRPr>
            </a:pPr>
            <a:r>
              <a:rPr sz="1125" b="1">
                <a:solidFill>
                  <a:srgbClr val="3457B9"/>
                </a:solidFill>
              </a:rPr>
              <a:t>A</a:t>
            </a:r>
          </a:p>
        </p:txBody>
      </p:sp>
      <p:sp>
        <p:nvSpPr>
          <p:cNvPr id="536" name="">
            <a:extLst>
              <a:ext uri="{FF2B5EF4-FFF2-40B4-BE49-F238E27FC236}">
                <ns2:creationId id="{3F9D1D9C-A7D3-4A85-B3BD-AE14378C30B3}"/>
              </a:ext>
            </a:extLst>
          </p:cNvPr>
          <p:cNvSpPr>
            <a:spLocks noGrp="1"/>
          </p:cNvSpPr>
          <p:nvPr/>
        </p:nvSpPr>
        <p:spPr>
          <a:xfrm>
            <a:off x="3524250" y="3390900"/>
            <a:ext cx="457200" cy="457200"/>
          </a:xfrm>
          <a:prstGeom prst="ellipse">
            <a:avLst/>
          </a:prstGeom>
          <a:solidFill>
            <a:srgbClr val="FFF6F6"/>
          </a:solidFill>
          <a:ln w="19050">
            <a:solidFill>
              <a:srgbClr val="3457B9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457B9"/>
                </a:solidFill>
              </a:defRPr>
            </a:pPr>
            <a:r>
              <a:rPr sz="1125" b="1">
                <a:solidFill>
                  <a:srgbClr val="3457B9"/>
                </a:solidFill>
              </a:rPr>
              <a:t>B</a:t>
            </a:r>
          </a:p>
        </p:txBody>
      </p:sp>
      <p:sp>
        <p:nvSpPr>
          <p:cNvPr id="537" name="">
            <a:extLst>
              <a:ext uri="{FF2B5EF4-FFF2-40B4-BE49-F238E27FC236}">
                <ns2:creationId id="{34EBF581-B815-4706-A11A-BE6A91AE99A5}"/>
              </a:ext>
            </a:extLst>
          </p:cNvPr>
          <p:cNvSpPr>
            <a:spLocks noGrp="1"/>
          </p:cNvSpPr>
          <p:nvPr/>
        </p:nvSpPr>
        <p:spPr>
          <a:xfrm>
            <a:off x="4095750" y="4495800"/>
            <a:ext cx="457200" cy="457200"/>
          </a:xfrm>
          <a:prstGeom prst="ellipse">
            <a:avLst/>
          </a:prstGeom>
          <a:solidFill>
            <a:srgbClr val="F0F7FF"/>
          </a:solidFill>
          <a:ln w="19050">
            <a:solidFill>
              <a:srgbClr val="3457B9"/>
            </a:solidFill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457B9"/>
                </a:solidFill>
              </a:defRPr>
            </a:pPr>
            <a:r>
              <a:rPr sz="1125" b="1">
                <a:solidFill>
                  <a:srgbClr val="3457B9"/>
                </a:solidFill>
              </a:rPr>
              <a:t>D</a:t>
            </a:r>
          </a:p>
        </p:txBody>
      </p:sp>
      <p:cxnSp>
        <p:nvCxnSpPr>
          <p:cNvPr id="560" name=""/>
          <p:cNvCxnSpPr>
            <a:stCxn id="534" idx="6"/>
            <a:endCxn id="535" idx="2"/>
          </p:cNvCxnSpPr>
          <p:nvPr/>
        </p:nvCxnSpPr>
        <p:spPr>
          <a:xfrm>
            <a:off x="1314450" y="4095750"/>
            <a:ext cx="876300" cy="0"/>
          </a:xfrm>
          <a:prstGeom prst="straightConnector1">
            <a:avLst/>
          </a:prstGeom>
          <a:ln w="19050">
            <a:solidFill>
              <a:srgbClr val="3457B9"/>
            </a:solidFill>
            <a:prstDash val="solid"/>
            <a:headEnd type="arrow" w="med" len="med"/>
          </a:ln>
        </p:spPr>
      </p:cxnSp>
      <p:cxnSp>
        <p:nvCxnSpPr>
          <p:cNvPr id="561" name=""/>
          <p:cNvCxnSpPr>
            <a:stCxn id="535" idx="6"/>
            <a:endCxn id="536" idx="2"/>
          </p:cNvCxnSpPr>
          <p:nvPr/>
        </p:nvCxnSpPr>
        <p:spPr>
          <a:xfrm flipV="1">
            <a:off x="2647950" y="3619500"/>
            <a:ext cx="876300" cy="476250"/>
          </a:xfrm>
          <a:prstGeom prst="straightConnector1">
            <a:avLst/>
          </a:prstGeom>
          <a:ln w="19050">
            <a:solidFill>
              <a:srgbClr val="C0392B"/>
            </a:solidFill>
            <a:prstDash val="dash"/>
            <a:headEnd type="arrow" w="med" len="med"/>
          </a:ln>
        </p:spPr>
      </p:cxnSp>
      <p:cxnSp>
        <p:nvCxnSpPr>
          <p:cNvPr id="562" name=""/>
          <p:cNvCxnSpPr>
            <a:stCxn id="535" idx="6"/>
            <a:endCxn id="537" idx="2"/>
          </p:cNvCxnSpPr>
          <p:nvPr/>
        </p:nvCxnSpPr>
        <p:spPr>
          <a:xfrm>
            <a:off x="2647950" y="4095750"/>
            <a:ext cx="1447800" cy="628650"/>
          </a:xfrm>
          <a:prstGeom prst="straightConnector1">
            <a:avLst/>
          </a:prstGeom>
          <a:ln w="19050">
            <a:solidFill>
              <a:srgbClr val="3457B9"/>
            </a:solidFill>
            <a:prstDash val="solid"/>
            <a:headEnd type="arrow" w="med" len="med"/>
          </a:ln>
        </p:spPr>
      </p:cxnSp>
      <p:sp>
        <p:nvSpPr>
          <p:cNvPr id="541" name="">
            <a:extLst>
              <a:ext uri="{FF2B5EF4-FFF2-40B4-BE49-F238E27FC236}">
                <ns2:creationId id="{8EB2FFA2-E344-4D13-AAE2-F970354C3A90}"/>
              </a:ext>
            </a:extLst>
          </p:cNvPr>
          <p:cNvSpPr>
            <a:spLocks noGrp="1"/>
          </p:cNvSpPr>
          <p:nvPr/>
        </p:nvSpPr>
        <p:spPr>
          <a:xfrm>
            <a:off x="3276600" y="30289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C0392B"/>
                </a:solidFill>
              </a:defRPr>
            </a:pPr>
            <a:r>
              <a:rPr sz="1050" b="1">
                <a:solidFill>
                  <a:srgbClr val="C0392B"/>
                </a:solidFill>
              </a:rPr>
              <a:t>B가 이동해 링크 단절</a:t>
            </a:r>
          </a:p>
        </p:txBody>
      </p:sp>
      <p:sp>
        <p:nvSpPr>
          <p:cNvPr id="542" name="">
            <a:extLst>
              <a:ext uri="{FF2B5EF4-FFF2-40B4-BE49-F238E27FC236}">
                <ns2:creationId id="{8C4160C5-95E6-413A-932A-12CFCB44054D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5B667A"/>
                </a:solidFill>
              </a:defRPr>
            </a:pPr>
            <a:r>
              <a:rPr sz="1050">
                <a:solidFill>
                  <a:srgbClr val="5B667A"/>
                </a:solidFill>
              </a:rPr>
              <a:t>현재 연결만 보지 않고 lifetime이 낮은 링크를 피해야 함</a:t>
            </a:r>
          </a:p>
        </p:txBody>
      </p:sp>
    </p:spTree>
    <p:extLst>
      <p:ext uri="{BB962C8B-B14F-4D97-AF65-F5344CB8AC3E}">
        <ns3:creationId val="3366140372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2" name="Google Shape;532;p58">
            <a:extLst>
              <a:ext uri="{FF2B5EF4-FFF2-40B4-BE49-F238E27FC236}">
                <ns2:creationId id="{95E36811-4D7D-1AF4-2047-7797FCF554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11</a:t>
            </a:fld>
          </a:p>
        </p:txBody>
      </p:sp>
      <p:graphicFrame>
        <p:nvGraphicFramePr>
          <p:cNvPr id="540" name="Chart 3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ns3:chart ns4:id="Rcd799bfe8bed4f41"/>
          </a:graphicData>
        </a:graphic>
      </p:graphicFrame>
      <p:sp>
        <p:nvSpPr>
          <p:cNvPr id="2" name="Rounded Rectangle 1">
            <a:extLst>
              <a:ext uri="{FF2B5EF4-FFF2-40B4-BE49-F238E27FC236}">
                <ns2:creationId id="{C1DC18F5-97D1-0F9E-AF97-E39D1D597D57}"/>
              </a:ext>
            </a:extLst>
          </p:cNvPr>
          <p:cNvSpPr>
            <a:spLocks noGrp="1"/>
          </p:cNvSpPr>
          <p:nvPr/>
        </p:nvSpPr>
        <p:spPr>
          <a:xfrm>
            <a:off x="6271986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Content Placeholder 9">
            <a:extLst>
              <a:ext uri="{FF2B5EF4-FFF2-40B4-BE49-F238E27FC236}">
                <ns2:creationId id="{90C522A2-2174-5AFA-9A00-7E4BBCEB22B0}"/>
              </a:ext>
            </a:extLst>
          </p:cNvPr>
          <p:cNvSpPr>
            <a:spLocks noGrp="1"/>
          </p:cNvSpPr>
          <p:nvPr/>
        </p:nvSpPr>
        <p:spPr>
          <a:xfrm>
            <a:off x="6494348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350" b="0">
                <a:solidFill>
                  <a:srgbClr val="3457B9"/>
                </a:solidFill>
              </a:defRPr>
            </a:pPr>
            <a:r>
              <a:rPr sz="4350" b="0" u="none" cap="none">
                <a:ln>
                  <a:noFill/>
                </a:ln>
                <a:solidFill>
                  <a:srgbClr val="3457B9"/>
                </a:solidFill>
                <a:latin typeface="Roboto Medium"/>
                <a:ea typeface="Roboto Medium"/>
                <a:cs typeface="Roboto Medium"/>
              </a:rPr>
              <a:t>0.905</a:t>
            </a:r>
          </a:p>
        </p:txBody>
      </p:sp>
      <p:sp>
        <p:nvSpPr>
          <p:cNvPr id="7" name="Content Placeholder 15">
            <a:extLst>
              <a:ext uri="{FF2B5EF4-FFF2-40B4-BE49-F238E27FC236}">
                <ns2:creationId id="{3859261F-DEEB-D3E4-08EA-A3B8D1EB0F8B}"/>
              </a:ext>
            </a:extLst>
          </p:cNvPr>
          <p:cNvSpPr>
            <a:spLocks noGrp="1"/>
          </p:cNvSpPr>
          <p:nvPr/>
        </p:nvSpPr>
        <p:spPr>
          <a:xfrm>
            <a:off x="6560966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전체 평균 PDR</a:t>
            </a:r>
          </a:p>
        </p:txBody>
      </p:sp>
      <p:sp>
        <p:nvSpPr>
          <p:cNvPr id="8" name="Rounded Rectangle 7">
            <a:extLst>
              <a:ext uri="{FF2B5EF4-FFF2-40B4-BE49-F238E27FC236}">
                <ns2:creationId id="{46A67EF5-6C28-37C0-A44F-C89DA6A63CE8}"/>
              </a:ext>
            </a:extLst>
          </p:cNvPr>
          <p:cNvSpPr>
            <a:spLocks noGrp="1"/>
          </p:cNvSpPr>
          <p:nvPr/>
        </p:nvSpPr>
        <p:spPr>
          <a:xfrm>
            <a:off x="9224191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Content Placeholder 9">
            <a:extLst>
              <a:ext uri="{FF2B5EF4-FFF2-40B4-BE49-F238E27FC236}">
                <ns2:creationId id="{C1178A3C-CA3E-3A18-E320-61DF2ABD5D3C}"/>
              </a:ext>
            </a:extLst>
          </p:cNvPr>
          <p:cNvSpPr>
            <a:spLocks noGrp="1"/>
          </p:cNvSpPr>
          <p:nvPr/>
        </p:nvSpPr>
        <p:spPr>
          <a:xfrm>
            <a:off x="9446553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350" b="0">
                <a:solidFill>
                  <a:srgbClr val="3457B9"/>
                </a:solidFill>
              </a:defRPr>
            </a:pPr>
            <a:r>
              <a:rPr sz="4350" b="0" u="none" cap="none">
                <a:ln>
                  <a:noFill/>
                </a:ln>
                <a:solidFill>
                  <a:srgbClr val="3457B9"/>
                </a:solidFill>
                <a:latin typeface="Roboto Medium"/>
                <a:ea typeface="Roboto Medium"/>
                <a:cs typeface="Roboto Medium"/>
              </a:rPr>
              <a:t>0.838</a:t>
            </a:r>
          </a:p>
        </p:txBody>
      </p:sp>
      <p:sp>
        <p:nvSpPr>
          <p:cNvPr id="10" name="Content Placeholder 15">
            <a:extLst>
              <a:ext uri="{FF2B5EF4-FFF2-40B4-BE49-F238E27FC236}">
                <ns2:creationId id="{9A0C1C6C-0D79-048C-2E65-5A332ED31144}"/>
              </a:ext>
            </a:extLst>
          </p:cNvPr>
          <p:cNvSpPr>
            <a:spLocks noGrp="1"/>
          </p:cNvSpPr>
          <p:nvPr/>
        </p:nvSpPr>
        <p:spPr>
          <a:xfrm>
            <a:off x="9513171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Deadline delivery</a:t>
            </a:r>
          </a:p>
        </p:txBody>
      </p:sp>
      <p:sp>
        <p:nvSpPr>
          <p:cNvPr id="19" name="Content Placeholder 2">
            <a:extLst>
              <a:ext uri="{FF2B5EF4-FFF2-40B4-BE49-F238E27FC236}">
                <ns2:creationId id="{A1ADE962-9ED7-3644-FA2A-7A64E19E9545}"/>
              </a:ext>
            </a:extLst>
          </p:cNvPr>
          <p:cNvSpPr>
            <a:spLocks noGrp="1"/>
          </p:cNvSpPr>
          <p:nvPr/>
        </p:nvSpPr>
        <p:spPr>
          <a:xfrm>
            <a:off x="6258427" y="4971337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GPSR 대비 PDR +32.5%. Predictive Geographic/Evo-QGeo/DRAMA보다 적은 input bytes로 높은 reliability 달성.</a:t>
            </a:r>
          </a:p>
        </p:txBody>
      </p:sp>
      <p:sp>
        <p:nvSpPr>
          <p:cNvPr id="535" name="">
            <a:extLst>
              <a:ext uri="{FF2B5EF4-FFF2-40B4-BE49-F238E27FC236}">
                <ns2:creationId id="{11FD1F2E-B2A2-4C48-AF85-CC5A5ACDF9BA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742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3457B9"/>
                </a:solidFill>
              </a:defRPr>
            </a:pPr>
            <a:r>
              <a:rPr sz="2250" b="1">
                <a:solidFill>
                  <a:srgbClr val="3457B9"/>
                </a:solidFill>
              </a:rPr>
              <a:t>Risk-Switch는 전체 PDR과 deadline에서 최고 수준</a:t>
            </a:r>
          </a:p>
        </p:txBody>
      </p:sp>
      <p:sp>
        <p:nvSpPr>
          <p:cNvPr id="536" name="">
            <a:extLst>
              <a:ext uri="{FF2B5EF4-FFF2-40B4-BE49-F238E27FC236}">
                <ns2:creationId id="{16DB0387-BAE2-49D5-B1AF-0AE70D88C4AB}"/>
              </a:ext>
            </a:extLst>
          </p:cNvPr>
          <p:cNvSpPr>
            <a:spLocks noGrp="1"/>
          </p:cNvSpPr>
          <p:nvPr/>
        </p:nvSpPr>
        <p:spPr>
          <a:xfrm>
            <a:off x="408690" y="1023105"/>
            <a:ext cx="5124182" cy="5225194"/>
          </a:xfrm>
          <a:prstGeom prst="rect">
            <a:avLst/>
          </a:prstGeom>
          <a:solidFill>
            <a:srgbClr val="F8F9FB"/>
          </a:solidFill>
          <a:ln w="0">
            <a:solidFill>
              <a:srgbClr val="F8F9FB"/>
            </a:solidFill>
            <a:prstDash val="solid"/>
          </a:ln>
        </p:spPr>
      </p:sp>
      <p:graphicFrame>
        <p:nvGraphicFramePr>
          <p:cNvPr id="550" name="Chart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ns3:chart ns4:id="R635c533efb444e28"/>
          </a:graphicData>
        </a:graphic>
      </p:graphicFrame>
    </p:spTree>
    <p:extLst>
      <p:ext uri="{BB962C8B-B14F-4D97-AF65-F5344CB8AC3E}">
        <ns5:creationId val="399383134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openxmlformats.org/drawingml/2006/chart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2" name="Google Shape;532;p58">
            <a:extLst>
              <a:ext uri="{FF2B5EF4-FFF2-40B4-BE49-F238E27FC236}">
                <ns2:creationId id="{F29587C6-818E-614C-4E8F-CD264BB5DD4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10</a:t>
            </a:fld>
          </a:p>
        </p:txBody>
      </p:sp>
      <p:graphicFrame>
        <p:nvGraphicFramePr>
          <p:cNvPr id="540" name="Chart 3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ns3:chart ns4:id="R8c21582058bd4383"/>
          </a:graphicData>
        </a:graphic>
      </p:graphicFrame>
      <p:sp>
        <p:nvSpPr>
          <p:cNvPr id="6" name="Rounded Rectangle 5">
            <a:extLst>
              <a:ext uri="{FF2B5EF4-FFF2-40B4-BE49-F238E27FC236}">
                <ns2:creationId id="{DEFFCFBF-F669-9423-2DB8-D166659E1B79}"/>
              </a:ext>
            </a:extLst>
          </p:cNvPr>
          <p:cNvSpPr>
            <a:spLocks noGrp="1"/>
          </p:cNvSpPr>
          <p:nvPr/>
        </p:nvSpPr>
        <p:spPr>
          <a:xfrm>
            <a:off x="6264412" y="2374900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ounded Rectangle 10">
            <a:extLst>
              <a:ext uri="{FF2B5EF4-FFF2-40B4-BE49-F238E27FC236}">
                <ns2:creationId id="{2B25D3D5-48E8-D985-A4A9-9DA67A423BF8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Content Placeholder 10">
            <a:extLst>
              <a:ext uri="{FF2B5EF4-FFF2-40B4-BE49-F238E27FC236}">
                <ns2:creationId id="{993A9C42-081B-E830-D8CB-13511AF87915}"/>
              </a:ext>
            </a:extLst>
          </p:cNvPr>
          <p:cNvSpPr>
            <a:spLocks noGrp="1"/>
          </p:cNvSpPr>
          <p:nvPr/>
        </p:nvSpPr>
        <p:spPr>
          <a:xfrm>
            <a:off x="6558438" y="3088295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Risk-Switch 0.756, Phase 8 0.032로 결정적 개선</a:t>
            </a:r>
          </a:p>
        </p:txBody>
      </p:sp>
      <p:sp>
        <p:nvSpPr>
          <p:cNvPr id="13" name="TextBox 12">
            <a:extLst>
              <a:ext uri="{FF2B5EF4-FFF2-40B4-BE49-F238E27FC236}">
                <ns2:creationId id="{F3899B51-315F-2B69-8DFE-6F0EE585DE74}"/>
              </a:ext>
            </a:extLst>
          </p:cNvPr>
          <p:cNvSpPr>
            <a:spLocks noGrp="1"/>
          </p:cNvSpPr>
          <p:nvPr/>
        </p:nvSpPr>
        <p:spPr>
          <a:xfrm>
            <a:off x="6555127" y="2631212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350" b="1">
                <a:solidFill>
                  <a:srgbClr val="3457B9"/>
                </a:solidFill>
              </a:defRPr>
            </a:pPr>
            <a:r>
              <a:rPr sz="1350" b="1" i="0" u="none" cap="none">
                <a:ln>
                  <a:noFill/>
                </a:ln>
                <a:solidFill>
                  <a:srgbClr val="3457B9"/>
                </a:solidFill>
                <a:latin typeface="Helvetica Neue Medium"/>
                <a:ea typeface="Helvetica Neue Medium"/>
                <a:cs typeface="Helvetica Neue Medium"/>
              </a:rPr>
              <a:t>Predictive break</a:t>
            </a:r>
          </a:p>
        </p:txBody>
      </p:sp>
      <p:sp>
        <p:nvSpPr>
          <p:cNvPr id="14" name="Content Placeholder 10">
            <a:extLst>
              <a:ext uri="{FF2B5EF4-FFF2-40B4-BE49-F238E27FC236}">
                <ns2:creationId id="{DBE99E9C-A611-68DB-873D-1306B6DA4538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Phase 8이 약간 우세하지만 Risk-Switch도 0.963 유지</a:t>
            </a:r>
          </a:p>
        </p:txBody>
      </p:sp>
      <p:sp>
        <p:nvSpPr>
          <p:cNvPr id="15" name="TextBox 14">
            <a:extLst>
              <a:ext uri="{FF2B5EF4-FFF2-40B4-BE49-F238E27FC236}">
                <ns2:creationId id="{5A7172E7-1168-69D9-D755-CC735D3A9194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350" b="1">
                <a:solidFill>
                  <a:srgbClr val="3457B9"/>
                </a:solidFill>
              </a:defRPr>
            </a:pPr>
            <a:r>
              <a:rPr sz="1350" b="1" i="0" u="none" cap="none">
                <a:ln>
                  <a:noFill/>
                </a:ln>
                <a:solidFill>
                  <a:srgbClr val="3457B9"/>
                </a:solidFill>
                <a:latin typeface="Helvetica Neue Medium"/>
                <a:ea typeface="Helvetica Neue Medium"/>
                <a:cs typeface="Helvetica Neue Medium"/>
              </a:rPr>
              <a:t>Node 확장</a:t>
            </a:r>
          </a:p>
        </p:txBody>
      </p:sp>
      <p:sp>
        <p:nvSpPr>
          <p:cNvPr id="16" name="Rounded Rectangle 15">
            <a:extLst>
              <a:ext uri="{FF2B5EF4-FFF2-40B4-BE49-F238E27FC236}">
                <ns2:creationId id="{B252D751-7B28-98E9-CF7E-0EB98657E0AF}"/>
              </a:ext>
            </a:extLst>
          </p:cNvPr>
          <p:cNvSpPr>
            <a:spLocks noGrp="1"/>
          </p:cNvSpPr>
          <p:nvPr/>
        </p:nvSpPr>
        <p:spPr>
          <a:xfrm>
            <a:off x="6264412" y="391117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Content Placeholder 10">
            <a:extLst>
              <a:ext uri="{FF2B5EF4-FFF2-40B4-BE49-F238E27FC236}">
                <ns2:creationId id="{07D94FB0-B75A-4229-2FD1-CA1FAAC57998}"/>
              </a:ext>
            </a:extLst>
          </p:cNvPr>
          <p:cNvSpPr>
            <a:spLocks noGrp="1"/>
          </p:cNvSpPr>
          <p:nvPr/>
        </p:nvSpPr>
        <p:spPr>
          <a:xfrm>
            <a:off x="6558438" y="1104512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Risk-Switch 0.946, Phase 8 0.948로 거의 동급</a:t>
            </a:r>
          </a:p>
        </p:txBody>
      </p:sp>
      <p:sp>
        <p:nvSpPr>
          <p:cNvPr id="18" name="TextBox 17">
            <a:extLst>
              <a:ext uri="{FF2B5EF4-FFF2-40B4-BE49-F238E27FC236}">
                <ns2:creationId id="{20D1D081-A168-A031-F892-8E2476A4AF34}"/>
              </a:ext>
            </a:extLst>
          </p:cNvPr>
          <p:cNvSpPr>
            <a:spLocks noGrp="1"/>
          </p:cNvSpPr>
          <p:nvPr/>
        </p:nvSpPr>
        <p:spPr>
          <a:xfrm>
            <a:off x="6555127" y="647429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 sz="1350" b="1">
                <a:solidFill>
                  <a:srgbClr val="3457B9"/>
                </a:solidFill>
              </a:defRPr>
            </a:pPr>
            <a:r>
              <a:rPr sz="1350" b="1" i="0" u="none" cap="none">
                <a:ln>
                  <a:noFill/>
                </a:ln>
                <a:solidFill>
                  <a:srgbClr val="3457B9"/>
                </a:solidFill>
                <a:latin typeface="Helvetica Neue Medium"/>
                <a:ea typeface="Helvetica Neue Medium"/>
                <a:cs typeface="Helvetica Neue Medium"/>
              </a:rPr>
              <a:t>일반 OOD</a:t>
            </a:r>
          </a:p>
        </p:txBody>
      </p:sp>
      <p:sp>
        <p:nvSpPr>
          <p:cNvPr id="535" name="">
            <a:extLst>
              <a:ext uri="{FF2B5EF4-FFF2-40B4-BE49-F238E27FC236}">
                <ns2:creationId id="{D57F2888-4024-43C0-8A61-2E2A879CAAAA}"/>
              </a:ext>
            </a:extLst>
          </p:cNvPr>
          <p:cNvSpPr>
            <a:spLocks noGrp="1"/>
          </p:cNvSpPr>
          <p:nvPr/>
        </p:nvSpPr>
        <p:spPr>
          <a:xfrm>
            <a:off x="393668" y="344043"/>
            <a:ext cx="495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 b="1">
                <a:solidFill>
                  <a:srgbClr val="3457B9"/>
                </a:solidFill>
              </a:defRPr>
            </a:pPr>
            <a:r>
              <a:rPr sz="2250" b="1">
                <a:solidFill>
                  <a:srgbClr val="3457B9"/>
                </a:solidFill>
              </a:rPr>
              <a:t>Scenario group별 성능 해석</a:t>
            </a:r>
          </a:p>
        </p:txBody>
      </p:sp>
      <p:sp>
        <p:nvSpPr>
          <p:cNvPr id="536" name="">
            <a:extLst>
              <a:ext uri="{FF2B5EF4-FFF2-40B4-BE49-F238E27FC236}">
                <ns2:creationId id="{C64DE385-2DB2-4B63-9D0F-B1491EC9869C}"/>
              </a:ext>
            </a:extLst>
          </p:cNvPr>
          <p:cNvSpPr>
            <a:spLocks noGrp="1"/>
          </p:cNvSpPr>
          <p:nvPr/>
        </p:nvSpPr>
        <p:spPr>
          <a:xfrm>
            <a:off x="408690" y="1023105"/>
            <a:ext cx="5124182" cy="5225194"/>
          </a:xfrm>
          <a:prstGeom prst="rect">
            <a:avLst/>
          </a:prstGeom>
          <a:solidFill>
            <a:srgbClr val="F8F9FB"/>
          </a:solidFill>
          <a:ln w="0">
            <a:solidFill>
              <a:srgbClr val="F8F9FB"/>
            </a:solidFill>
            <a:prstDash val="solid"/>
          </a:ln>
        </p:spPr>
      </p:sp>
      <p:graphicFrame>
        <p:nvGraphicFramePr>
          <p:cNvPr id="552" name="Chart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ns3:chart ns4:id="Rc771a488b1de4910"/>
          </a:graphicData>
        </a:graphic>
      </p:graphicFrame>
    </p:spTree>
    <p:extLst>
      <p:ext uri="{BB962C8B-B14F-4D97-AF65-F5344CB8AC3E}">
        <ns5:creationId val="3145975295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2" name="Google Shape;532;p58">
            <a:extLst>
              <a:ext uri="{FF2B5EF4-FFF2-40B4-BE49-F238E27FC236}">
                <ns2:creationId id="{C4429360-E0B5-E472-3BCB-2FC70A04DA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9</a:t>
            </a:fld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="4752742" y="1549337"/>
          <a:ext cx="6778000" cy="4627827"/>
        </p:xfrm>
        <a:graphic>
          <a:graphicData uri="http://schemas.openxmlformats.org/drawingml/2006/table">
            <a:tbl>
              <a:tblPr firstRow="1" band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비교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3457B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Risk-Switch가 강한 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3457B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주의할 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3457B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+mn-lt"/>
                          <a:cs typeface="+mn-lt"/>
                        </a:rPr>
                        <a:t>발표 표현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  <a:solidFill>
                      <a:srgbClr val="3457B9"/>
                    </a:solidFill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GPSR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PDR +32.5%, deadline +31.5%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입력/energy는 더 큼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단순 거리 기반 한계 극복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Predictive Geo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PDR +1.5%, input -12.8%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PDR 차이는 작음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비슷한 안정성을 더 적은 입력으로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Evo-QGeo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PDR +2.1%, input -25.3%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break+loss 일부 우세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대부분 평균은 우세, 한계 명시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DRAMA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PDR +1.6%, input -22.7%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energy는 DRAMA 우세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통신/입력 비용 절감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Phase 8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predictive-break 보완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일반/node는 Phase 8 약간 우세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약점 보완형 final method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No-switch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PDR +1.7%, input -16.5%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energy 약간 증가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항상 결합보다 조건부 전환이 효율적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Predictive-only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동급 PDR, input 감소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PDR 자체는 동률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위험할 때만 predictive 사용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최종 결론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전체 신뢰성 최고 수준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energy/loss 결합 한계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균형 잡힌 최종 후보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향후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P+에서 loss/energy 보정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Phase 13 진행 중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50">
                          <a:solidFill>
                            <a:srgbClr val="111111"/>
                          </a:solidFill>
                          <a:latin typeface="+mn-lt"/>
                          <a:ea typeface="+mn-lt"/>
                          <a:cs typeface="+mn-lt"/>
                        </a:rPr>
                        <a:t>검증 완료 전에는 Phase 12 기준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Google Shape;534;p58">
            <a:extLst>
              <a:ext uri="{FF2B5EF4-FFF2-40B4-BE49-F238E27FC236}">
                <ns2:creationId id="{71547039-AB2A-5CA1-49F7-26E9E71601EF}"/>
              </a:ext>
            </a:extLst>
          </p:cNvPr>
          <p:cNvSpPr>
            <a:spLocks noGrp="1"/>
          </p:cNvSpPr>
          <p:nvPr/>
        </p:nvSpPr>
        <p:spPr>
          <a:xfrm>
            <a:off x="393700" y="2774196"/>
            <a:ext cx="3606800" cy="3220203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발표에서는 '모든 지표에서 완전 우월'이 아니라 'reliability와 input cost 균형이 가장 좋다'고 말하는 것이 정확하다.</a:t>
            </a:r>
          </a:p>
        </p:txBody>
      </p:sp>
      <p:sp>
        <p:nvSpPr>
          <p:cNvPr id="8" name="Google Shape;534;p58">
            <a:extLst>
              <a:ext uri="{FF2B5EF4-FFF2-40B4-BE49-F238E27FC236}">
                <ns2:creationId id="{D136FB89-7449-CC90-F061-B6BF578EA25E}"/>
              </a:ext>
            </a:extLst>
          </p:cNvPr>
          <p:cNvSpPr>
            <a:spLocks noGrp="1"/>
          </p:cNvSpPr>
          <p:nvPr/>
        </p:nvSpPr>
        <p:spPr>
          <a:xfrm>
            <a:off x="393700" y="1564835"/>
            <a:ext cx="3606800" cy="1178365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방법별 강점은 서로 다르지만 최종 균형은 Risk-Switch가 가장 좋다</a:t>
            </a:r>
          </a:p>
        </p:txBody>
      </p:sp>
    </p:spTree>
    <p:extLst>
      <p:ext uri="{BB962C8B-B14F-4D97-AF65-F5344CB8AC3E}">
        <ns3:creationId val="2553894934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2" name="Google Shape;532;p58">
            <a:extLst>
              <a:ext uri="{FF2B5EF4-FFF2-40B4-BE49-F238E27FC236}">
                <ns2:creationId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4</a:t>
            </a:fld>
          </a:p>
        </p:txBody>
      </p:sp>
      <p:sp>
        <p:nvSpPr>
          <p:cNvPr id="7" name="Rounded Rectangle 6">
            <a:extLst>
              <a:ext uri="{FF2B5EF4-FFF2-40B4-BE49-F238E27FC236}">
                <ns2:creationId id="{9E3149F3-A7D7-BC8F-C84C-4A4E60EA2799}"/>
              </a:ext>
            </a:extLst>
          </p:cNvPr>
          <p:cNvSpPr>
            <a:spLocks noGrp="1"/>
          </p:cNvSpPr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Rounded Rectangle 8">
            <a:extLst>
              <a:ext uri="{FF2B5EF4-FFF2-40B4-BE49-F238E27FC236}">
                <ns2:creationId id="{5CD1077A-BBDF-3B07-D940-FA5482CB0124}"/>
              </a:ext>
            </a:extLst>
          </p:cNvPr>
          <p:cNvSpPr>
            <a:spLocks noGrp="1"/>
          </p:cNvSpPr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Content Placeholder 10">
            <a:extLst>
              <a:ext uri="{FF2B5EF4-FFF2-40B4-BE49-F238E27FC236}">
                <ns2:creationId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선택한 next-hop이 현재 통신 가능한 이웃이 아닌 경우.</a:t>
            </a:r>
          </a:p>
        </p:txBody>
      </p:sp>
      <p:sp>
        <p:nvSpPr>
          <p:cNvPr id="2" name="Rounded Rectangle 1">
            <a:extLst>
              <a:ext uri="{FF2B5EF4-FFF2-40B4-BE49-F238E27FC236}">
                <ns2:creationId id="{B4E203EC-EB81-96EF-66AB-3B6012B4B3EF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Rounded Rectangle 3">
            <a:extLst>
              <a:ext uri="{FF2B5EF4-FFF2-40B4-BE49-F238E27FC236}">
                <ns2:creationId id="{2000F722-C0CE-FDAF-EAFE-20BC4A7F4118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Google Shape;534;p58">
            <a:extLst>
              <a:ext uri="{FF2B5EF4-FFF2-40B4-BE49-F238E27FC236}">
                <ns2:creationId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Episode 실패 조건을 구분해야 결과 해석이 명확해진다.</a:t>
            </a:r>
          </a:p>
        </p:txBody>
      </p:sp>
      <p:sp>
        <p:nvSpPr>
          <p:cNvPr id="13" name="Google Shape;534;p58">
            <a:extLst>
              <a:ext uri="{FF2B5EF4-FFF2-40B4-BE49-F238E27FC236}">
                <ns2:creationId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실패는 네트워크 문제와 정책 선택 문제가 함께 만든다</a:t>
            </a:r>
          </a:p>
        </p:txBody>
      </p:sp>
      <p:sp>
        <p:nvSpPr>
          <p:cNvPr id="14" name="TextBox 13">
            <a:extLst>
              <a:ext uri="{FF2B5EF4-FFF2-40B4-BE49-F238E27FC236}">
                <ns2:creationId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625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PDR이 낮은 이유가 '정책이 못해서'인지, '처음부터 연결 불가능해서'인지 분리해서 봐야 한다.</a:t>
            </a:r>
          </a:p>
        </p:txBody>
      </p:sp>
      <p:sp>
        <p:nvSpPr>
          <p:cNvPr id="16" name="Content Placeholder 10">
            <a:extLst>
              <a:ext uri="{FF2B5EF4-FFF2-40B4-BE49-F238E27FC236}">
                <ns2:creationId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Routing loop</a:t>
            </a:r>
          </a:p>
        </p:txBody>
      </p:sp>
      <p:sp>
        <p:nvSpPr>
          <p:cNvPr id="17" name="TextBox 16">
            <a:extLst>
              <a:ext uri="{FF2B5EF4-FFF2-40B4-BE49-F238E27FC236}">
                <ns2:creationId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Invalid action</a:t>
            </a:r>
          </a:p>
        </p:txBody>
      </p:sp>
      <p:sp>
        <p:nvSpPr>
          <p:cNvPr id="18" name="Content Placeholder 10">
            <a:extLst>
              <a:ext uri="{FF2B5EF4-FFF2-40B4-BE49-F238E27FC236}">
                <ns2:creationId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너무 오래 우회하거나 목적지에 도착하지 못한 경우.</a:t>
            </a:r>
          </a:p>
        </p:txBody>
      </p:sp>
      <p:sp>
        <p:nvSpPr>
          <p:cNvPr id="19" name="TextBox 18">
            <a:extLst>
              <a:ext uri="{FF2B5EF4-FFF2-40B4-BE49-F238E27FC236}">
                <ns2:creationId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이미 방문한 노드로 돌아가 loop가 발생한 경우.</a:t>
            </a:r>
          </a:p>
        </p:txBody>
      </p:sp>
      <p:sp>
        <p:nvSpPr>
          <p:cNvPr id="20" name="Content Placeholder 10">
            <a:extLst>
              <a:ext uri="{FF2B5EF4-FFF2-40B4-BE49-F238E27FC236}">
                <ns2:creationId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 fontScale="10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Agent drop</a:t>
            </a:r>
          </a:p>
        </p:txBody>
      </p:sp>
      <p:sp>
        <p:nvSpPr>
          <p:cNvPr id="21" name="TextBox 20">
            <a:extLst>
              <a:ext uri="{FF2B5EF4-FFF2-40B4-BE49-F238E27FC236}">
                <ns2:creationId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TTL / time limit</a:t>
            </a:r>
          </a:p>
        </p:txBody>
      </p:sp>
    </p:spTree>
    <p:extLst>
      <p:ext uri="{BB962C8B-B14F-4D97-AF65-F5344CB8AC3E}">
        <ns3:creationId val="2179535326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4" name="Google Shape;534;p58">
            <a:extLst>
              <a:ext uri="{FF2B5EF4-FFF2-40B4-BE49-F238E27FC236}">
                <ns2:creationId id="{E34D5067-87BC-420E-9660-4A44C1EC0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99" y="2812968"/>
            <a:ext cx="5537200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Local observation으로 실행하면서 link margin/lifetime 기반 danger score로 위험 상황을 감지한다.</a:t>
            </a:r>
          </a:p>
        </p:txBody>
      </p:sp>
      <p:sp>
        <p:nvSpPr>
          <p:cNvPr id="532" name="Google Shape;532;p58">
            <a:extLst>
              <a:ext uri="{FF2B5EF4-FFF2-40B4-BE49-F238E27FC236}">
                <ns2:creationId id="{ECD7D07B-189F-4FAA-AAF8-E8572B5E804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3</a:t>
            </a:fld>
          </a:p>
        </p:txBody>
      </p:sp>
      <p:sp>
        <p:nvSpPr>
          <p:cNvPr id="5" name="Google Shape;534;p58">
            <a:extLst>
              <a:ext uri="{FF2B5EF4-FFF2-40B4-BE49-F238E27FC236}">
                <ns2:creationId id="{A3548D03-1D0F-655D-DD48-D4BF5C80F44D}"/>
              </a:ext>
            </a:extLst>
          </p:cNvPr>
          <p:cNvSpPr>
            <a:spLocks noGrp="1"/>
          </p:cNvSpPr>
          <p:nvPr/>
        </p:nvSpPr>
        <p:spPr>
          <a:xfrm>
            <a:off x="393700" y="2111025"/>
            <a:ext cx="1844403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교수님께 강조할 논리</a:t>
            </a:r>
          </a:p>
        </p:txBody>
      </p:sp>
      <p:sp>
        <p:nvSpPr>
          <p:cNvPr id="6" name="Google Shape;534;p58">
            <a:extLst>
              <a:ext uri="{FF2B5EF4-FFF2-40B4-BE49-F238E27FC236}">
                <ns2:creationId id="{4051D0BE-5D22-BCB4-EADF-44F16643D9F5}"/>
              </a:ext>
            </a:extLst>
          </p:cNvPr>
          <p:cNvSpPr>
            <a:spLocks noGrp="1"/>
          </p:cNvSpPr>
          <p:nvPr/>
        </p:nvSpPr>
        <p:spPr>
          <a:xfrm>
            <a:off x="6260109" y="2826992"/>
            <a:ext cx="5537200" cy="1001086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실험으로 보인 사실</a:t>
            </a:r>
          </a:p>
        </p:txBody>
      </p:sp>
      <p:sp>
        <p:nvSpPr>
          <p:cNvPr id="7" name="Google Shape;534;p58">
            <a:extLst>
              <a:ext uri="{FF2B5EF4-FFF2-40B4-BE49-F238E27FC236}">
                <ns2:creationId id="{EE26938C-7FB7-798D-7C48-988932737F6D}"/>
              </a:ext>
            </a:extLst>
          </p:cNvPr>
          <p:cNvSpPr>
            <a:spLocks noGrp="1"/>
          </p:cNvSpPr>
          <p:nvPr/>
        </p:nvSpPr>
        <p:spPr>
          <a:xfrm>
            <a:off x="6260109" y="2344035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제안기법의 정체성</a:t>
            </a:r>
          </a:p>
        </p:txBody>
      </p:sp>
      <p:sp>
        <p:nvSpPr>
          <p:cNvPr id="10" name="Title 2">
            <a:extLst>
              <a:ext uri="{FF2B5EF4-FFF2-40B4-BE49-F238E27FC236}">
                <ns2:creationId id="{944AF173-BF22-B5ED-B88F-9080D8699E6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93699" y="1046195"/>
            <a:ext cx="11403610" cy="623819"/>
          </a:xfrm>
        </p:spPr>
        <p:txBody>
          <a:bodyPr>
            <a:normAutofit fontScale="92758"/>
          </a:bodyPr>
          <a:lstStyle/>
          <a:p>
            <a:r>
              <a:t>Risk-Switch의 contribution은 'global 정보 공유'가 아니라 local 위험 전환이다</a:t>
            </a:r>
          </a:p>
        </p:txBody>
      </p:sp>
      <p:sp>
        <p:nvSpPr>
          <p:cNvPr id="11" name="Subtitle 4">
            <a:extLst>
              <a:ext uri="{FF2B5EF4-FFF2-40B4-BE49-F238E27FC236}">
                <ns2:creationId id="{42E9C51D-AB09-8D83-4157-006D57137348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/>
            </a:r>
          </a:p>
        </p:txBody>
      </p:sp>
      <p:sp>
        <p:nvSpPr>
          <p:cNvPr id="15" name="Straight Connector 14">
            <a:extLst>
              <a:ext uri="{FF2B5EF4-FFF2-40B4-BE49-F238E27FC236}">
                <ns2:creationId id="{080715DF-7917-4E26-A1B9-CF064ABA0064}"/>
              </a:ext>
            </a:extLst>
          </p:cNvPr>
          <p:cNvSpPr>
            <a:spLocks noGrp="1"/>
          </p:cNvSpPr>
          <p:nvPr/>
        </p:nvSpPr>
        <p:spPr>
          <a:xfrm>
            <a:off x="6261100" y="4039769"/>
            <a:ext cx="5537200" cy="0"/>
          </a:xfrm>
          <a:prstGeom prst="line">
            <a:avLst/>
          </a:prstGeom>
          <a:ln w="12700"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Google Shape;534;p58">
            <a:extLst>
              <a:ext uri="{FF2B5EF4-FFF2-40B4-BE49-F238E27FC236}">
                <ns2:creationId id="{108E1773-B682-C5EE-6944-58546A384F37}"/>
              </a:ext>
            </a:extLst>
          </p:cNvPr>
          <p:cNvSpPr>
            <a:spLocks noGrp="1"/>
          </p:cNvSpPr>
          <p:nvPr/>
        </p:nvSpPr>
        <p:spPr>
          <a:xfrm>
            <a:off x="6260109" y="4867987"/>
            <a:ext cx="5537200" cy="120023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Energy와 break+loss 한계는 남아 있으므로 '모든 지표 완전 우월'이라고 말하지 않는다.</a:t>
            </a:r>
          </a:p>
        </p:txBody>
      </p:sp>
      <p:sp>
        <p:nvSpPr>
          <p:cNvPr id="17" name="Google Shape;534;p58">
            <a:extLst>
              <a:ext uri="{FF2B5EF4-FFF2-40B4-BE49-F238E27FC236}">
                <ns2:creationId id="{1C1F2FD8-0D30-C7BF-5234-6F0EE46F0DC3}"/>
              </a:ext>
            </a:extLst>
          </p:cNvPr>
          <p:cNvSpPr>
            <a:spLocks noGrp="1"/>
          </p:cNvSpPr>
          <p:nvPr/>
        </p:nvSpPr>
        <p:spPr>
          <a:xfrm>
            <a:off x="6260109" y="4385030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Phase 8의 predictive-break 실패를 크게 복구하면서 전체 PDR과 deadline을 최고 수준으로 올렸다.</a:t>
            </a:r>
          </a:p>
        </p:txBody>
      </p:sp>
      <p:sp>
        <p:nvSpPr>
          <p:cNvPr id="3" name="Rounded Rectangle 2">
            <a:extLst>
              <a:ext uri="{FF2B5EF4-FFF2-40B4-BE49-F238E27FC236}">
                <ns2:creationId id="{F16B487F-1A7A-C301-4AB8-8DC1C19839AB}"/>
              </a:ext>
            </a:extLst>
          </p:cNvPr>
          <p:cNvSpPr>
            <a:spLocks noGrp="1"/>
          </p:cNvSpPr>
          <p:nvPr/>
        </p:nvSpPr>
        <p:spPr>
          <a:xfrm>
            <a:off x="2349499" y="2093356"/>
            <a:ext cx="2271780" cy="402442"/>
          </a:xfrm>
          <a:prstGeom prst="roundRect">
            <a:avLst>
              <a:gd name="adj" fmla="val 15738"/>
            </a:avLst>
          </a:prstGeom>
          <a:solidFill>
            <a:schemeClr val="accent1">
              <a:alpha val="246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accent1"/>
                </a:solidFill>
              </a:rPr>
              <a:t>Risk-Switch는 항상 무거운 predictive policy를 쓰지 않는다. Phase 8이 고른 링크가 위험할 때만 branch를 바꾼다.</a:t>
            </a:r>
          </a:p>
        </p:txBody>
      </p:sp>
      <p:sp>
        <p:nvSpPr>
          <p:cNvPr id="14" name="TextBox 13">
            <a:extLst>
              <a:ext uri="{FF2B5EF4-FFF2-40B4-BE49-F238E27FC236}">
                <ns2:creationId id="{F3AF61EC-DBA0-BFB1-3293-0BF5DB670691}"/>
              </a:ext>
            </a:extLst>
          </p:cNvPr>
          <p:cNvSpPr>
            <a:spLocks noGrp="1"/>
          </p:cNvSpPr>
          <p:nvPr/>
        </p:nvSpPr>
        <p:spPr>
          <a:xfrm>
            <a:off x="393699" y="4756098"/>
            <a:ext cx="5537199" cy="3127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표현상 주의</a:t>
            </a:r>
          </a:p>
        </p:txBody>
      </p:sp>
      <p:sp>
        <p:nvSpPr>
          <p:cNvPr id="18" name="Google Shape;534;p58">
            <a:extLst>
              <a:ext uri="{FF2B5EF4-FFF2-40B4-BE49-F238E27FC236}">
                <ns2:creationId id="{47E14DB1-10CD-1A00-06DC-F11F90562A04}"/>
              </a:ext>
            </a:extLst>
          </p:cNvPr>
          <p:cNvSpPr>
            <a:spLocks noGrp="1"/>
          </p:cNvSpPr>
          <p:nvPr/>
        </p:nvSpPr>
        <p:spPr>
          <a:xfrm>
            <a:off x="386251" y="5134071"/>
            <a:ext cx="5537200" cy="86032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</p:txBody>
      </p:sp>
    </p:spTree>
    <p:extLst>
      <p:ext uri="{BB962C8B-B14F-4D97-AF65-F5344CB8AC3E}">
        <ns3:creationId val="210985885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2" name="Google Shape;532;p58">
            <a:extLst>
              <a:ext uri="{FF2B5EF4-FFF2-40B4-BE49-F238E27FC236}">
                <ns2:creationId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6</a:t>
            </a:fld>
          </a:p>
        </p:txBody>
      </p:sp>
      <p:sp>
        <p:nvSpPr>
          <p:cNvPr id="10" name="Rounded Rectangle 9">
            <a:extLst>
              <a:ext uri="{FF2B5EF4-FFF2-40B4-BE49-F238E27FC236}">
                <ns2:creationId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Rounded Rectangle 10">
            <a:extLst>
              <a:ext uri="{FF2B5EF4-FFF2-40B4-BE49-F238E27FC236}">
                <ns2:creationId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Content Placeholder 9">
            <a:extLst>
              <a:ext uri="{FF2B5EF4-FFF2-40B4-BE49-F238E27FC236}">
                <ns2:creationId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Loss-aware danger</a:t>
            </a:r>
          </a:p>
        </p:txBody>
      </p:sp>
      <p:sp>
        <p:nvSpPr>
          <p:cNvPr id="13" name="Content Placeholder 10">
            <a:extLst>
              <a:ext uri="{FF2B5EF4-FFF2-40B4-BE49-F238E27FC236}">
                <ns2:creationId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stochastic link loss를 danger score에 직접 반영</a:t>
            </a:r>
          </a:p>
        </p:txBody>
      </p:sp>
      <p:sp>
        <p:nvSpPr>
          <p:cNvPr id="14" name="Google Shape;340;p61">
            <a:extLst>
              <a:ext uri="{FF2B5EF4-FFF2-40B4-BE49-F238E27FC236}">
                <ns2:creationId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5" name="Google Shape;340;p61">
            <a:extLst>
              <a:ext uri="{FF2B5EF4-FFF2-40B4-BE49-F238E27FC236}">
                <ns2:creationId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5" name="Rounded Rectangle 4">
            <a:extLst>
              <a:ext uri="{FF2B5EF4-FFF2-40B4-BE49-F238E27FC236}">
                <ns2:creationId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" name="Content Placeholder 9">
            <a:extLst>
              <a:ext uri="{FF2B5EF4-FFF2-40B4-BE49-F238E27FC236}">
                <ns2:creationId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한계는 약점이 아니라 Phase 13/P+에서 설계적으로 풀 수 있는 개선 방향이다.</a:t>
            </a:r>
          </a:p>
        </p:txBody>
      </p:sp>
      <p:sp>
        <p:nvSpPr>
          <p:cNvPr id="7" name="Google Shape;340;p61">
            <a:extLst>
              <a:ext uri="{FF2B5EF4-FFF2-40B4-BE49-F238E27FC236}">
                <ns2:creationId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7" name="Google Shape;534;p58">
            <a:extLst>
              <a:ext uri="{FF2B5EF4-FFF2-40B4-BE49-F238E27FC236}">
                <ns2:creationId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Phase 12는 최종 후보로 충분히 강하지만, 논문 완성도를 위해 보완할 지점도 분명하다.</a:t>
            </a:r>
          </a:p>
        </p:txBody>
      </p:sp>
      <p:sp>
        <p:nvSpPr>
          <p:cNvPr id="18" name="Google Shape;534;p58">
            <a:extLst>
              <a:ext uri="{FF2B5EF4-FFF2-40B4-BE49-F238E27FC236}">
                <ns2:creationId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다음 개선은 link loss와 energy를 switch 판단에 넣는 것이다</a:t>
            </a:r>
          </a:p>
        </p:txBody>
      </p:sp>
    </p:spTree>
    <p:extLst>
      <p:ext uri="{BB962C8B-B14F-4D97-AF65-F5344CB8AC3E}">
        <ns3:creationId val="1566183075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32" name="Google Shape;532;p58">
            <a:extLst>
              <a:ext uri="{FF2B5EF4-FFF2-40B4-BE49-F238E27FC236}">
                <ns2:creationId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t>8</a:t>
            </a:fld>
          </a:p>
        </p:txBody>
      </p:sp>
      <p:sp>
        <p:nvSpPr>
          <p:cNvPr id="533" name="Google Shape;533;p58">
            <a:extLst>
              <a:ext uri="{FF2B5EF4-FFF2-40B4-BE49-F238E27FC236}">
                <ns2:creationId id="{D035ED81-B82C-6CFE-FAA7-0911E05CDEB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발표의 최종 메시지는 '위험할 때만 더 똑똑해지는 라우팅'이다</a:t>
            </a:r>
          </a:p>
        </p:txBody>
      </p:sp>
      <p:sp>
        <p:nvSpPr>
          <p:cNvPr id="3" name="Google Shape;534;p58">
            <a:extLst>
              <a:ext uri="{FF2B5EF4-FFF2-40B4-BE49-F238E27FC236}">
                <ns2:creationId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Phase 12는 단순히 성능표 하나가 아니라, FANET routing에서 어려운 조건을 분해하고 그 조건별로 어떤 정보가 필요한지 보여준다.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/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t>가까운 노드만 고르면 structural hole에서 실패하고, 현재 링크만 보면 predictive break에서 실패한다. Risk-Switch는 이 두 실패 원인을 link-risk feature로 감지해 필요한 순간에만 predictive branch를 사용한다.</a:t>
            </a:r>
          </a:p>
        </p:txBody>
      </p:sp>
    </p:spTree>
    <p:extLst>
      <p:ext uri="{BB962C8B-B14F-4D97-AF65-F5344CB8AC3E}">
        <ns3:creationId val="346614214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itle 3">
            <a:extLst>
              <a:ext uri="{FF2B5EF4-FFF2-40B4-BE49-F238E27FC236}">
                <ns2:creationId id="{32011EE4-C416-3EA2-180D-62404CE47D07}"/>
              </a:ext>
            </a:extLst>
          </p:cNvPr>
          <p:cNvSpPr>
            <a:spLocks noGrp="1"/>
          </p:cNvSpPr>
          <p:nvPr>
            <p:ph type="ctrTitle" idx="0"/>
          </p:nvPr>
        </p:nvSpPr>
        <p:spPr>
          <a:xfrm>
            <a:off x="393700" y="937510"/>
            <a:ext cx="9448800" cy="2491490"/>
          </a:xfrm>
        </p:spPr>
        <p:txBody>
          <a:bodyPr>
            <a:noAutofit/>
          </a:bodyPr>
          <a:lstStyle/>
          <a:p>
            <a:r>
              <a:rPr sz="6500">
                <a:solidFill>
                  <a:schemeClr val="accent1"/>
                </a:solidFill>
              </a:rPr>
              <a:t>Discussion</a:t>
            </a:r>
          </a:p>
        </p:txBody>
      </p:sp>
      <p:sp>
        <p:nvSpPr>
          <p:cNvPr id="5" name="Subtitle 4">
            <a:extLst>
              <a:ext uri="{FF2B5EF4-FFF2-40B4-BE49-F238E27FC236}">
                <ns2:creationId id="{119B400D-E218-8301-7E00-C5A55230D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201" y="4532466"/>
            <a:ext cx="6458364" cy="138802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Phase 12 기준 핵심 결론</a:t>
            </a:r>
          </a:p>
          <a:p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Risk-Switch Lite-GLOBE-P는 전체 reliability와 deadline delivery가 가장 강한 최종 후보이며, 남은 개선점은 energy와 link-loss-aware switch다.</a:t>
            </a:r>
          </a:p>
        </p:txBody>
      </p:sp>
      <p:sp>
        <p:nvSpPr>
          <p:cNvPr id="3" name="Straight Connector 2">
            <a:extLst>
              <a:ext uri="{FF2B5EF4-FFF2-40B4-BE49-F238E27FC236}">
                <ns2:creationId id="{25FC0030-8C6F-44DE-8913-09A9BCF90BA7}"/>
              </a:ext>
            </a:extLst>
          </p:cNvPr>
          <p:cNvSpPr>
            <a:spLocks noGrp="1"/>
          </p:cNvSpPr>
          <p:nvPr/>
        </p:nv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  <p:extLst>
      <p:ext uri="{BB962C8B-B14F-4D97-AF65-F5344CB8AC3E}">
        <ns3:creationId val="85835545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2026-07-28T06:41:50.7750000Z</dcterms:created>
  <dcterms:modified xsi:type="dcterms:W3CDTF">2026-07-28T06:41:50.7750000Z</dcterms:modified>
</coreProperties>
</file>