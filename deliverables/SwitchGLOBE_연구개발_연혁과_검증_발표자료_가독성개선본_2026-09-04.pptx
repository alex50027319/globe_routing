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a5c1a4c2754c83" /><Relationship Type="http://schemas.openxmlformats.org/officeDocument/2006/relationships/extended-properties" Target="/docProps/app.xml" Id="Re66a069bbbeb47c5" /><Relationship Type="http://schemas.openxmlformats.org/officeDocument/2006/relationships/officeDocument" Target="/ppt/presentation.xml" Id="Re95ac03558264d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1d0ac6b8de49ce"/>
  </p:sldMasterIdLst>
  <p:notesMasterIdLst>
    <p:notesMasterId xmlns:r="http://schemas.openxmlformats.org/officeDocument/2006/relationships" r:id="Rd511e217a8574f48"/>
  </p:notesMasterIdLst>
  <p:sldIdLst>
    <p:sldId xmlns:r="http://schemas.openxmlformats.org/officeDocument/2006/relationships" id="256" r:id="R829d3e9af7aa45ac"/>
    <p:sldId xmlns:r="http://schemas.openxmlformats.org/officeDocument/2006/relationships" id="257" r:id="R5b09c29e50fc4f74"/>
    <p:sldId xmlns:r="http://schemas.openxmlformats.org/officeDocument/2006/relationships" id="258" r:id="R211bb12f3f1e445c"/>
    <p:sldId xmlns:r="http://schemas.openxmlformats.org/officeDocument/2006/relationships" id="259" r:id="Rfb7cfaf6ba604f88"/>
    <p:sldId xmlns:r="http://schemas.openxmlformats.org/officeDocument/2006/relationships" id="260" r:id="Rc3c79aa71fcb4edc"/>
    <p:sldId xmlns:r="http://schemas.openxmlformats.org/officeDocument/2006/relationships" id="261" r:id="Rc5a7b04e1c464379"/>
    <p:sldId xmlns:r="http://schemas.openxmlformats.org/officeDocument/2006/relationships" id="262" r:id="R37ed209b8c404968"/>
    <p:sldId xmlns:r="http://schemas.openxmlformats.org/officeDocument/2006/relationships" id="263" r:id="R4336c95349754d24"/>
    <p:sldId xmlns:r="http://schemas.openxmlformats.org/officeDocument/2006/relationships" id="264" r:id="Rc2d56187f1d84721"/>
    <p:sldId xmlns:r="http://schemas.openxmlformats.org/officeDocument/2006/relationships" id="265" r:id="Rcfeb20940e9a4bb9"/>
    <p:sldId xmlns:r="http://schemas.openxmlformats.org/officeDocument/2006/relationships" id="266" r:id="Rf4f812bc357849ca"/>
    <p:sldId xmlns:r="http://schemas.openxmlformats.org/officeDocument/2006/relationships" id="267" r:id="R9e245ee108c64c88"/>
    <p:sldId xmlns:r="http://schemas.openxmlformats.org/officeDocument/2006/relationships" id="268" r:id="Reb7bff888973441b"/>
    <p:sldId xmlns:r="http://schemas.openxmlformats.org/officeDocument/2006/relationships" id="269" r:id="Rc41a271f7c534399"/>
    <p:sldId xmlns:r="http://schemas.openxmlformats.org/officeDocument/2006/relationships" id="270" r:id="R8abd696d34ba4e23"/>
    <p:sldId xmlns:r="http://schemas.openxmlformats.org/officeDocument/2006/relationships" id="271" r:id="R3a00ec7aa2de4d15"/>
    <p:sldId xmlns:r="http://schemas.openxmlformats.org/officeDocument/2006/relationships" id="272" r:id="R73ba63f901a04429"/>
    <p:sldId xmlns:r="http://schemas.openxmlformats.org/officeDocument/2006/relationships" id="273" r:id="Rd6715d6639f248e8"/>
    <p:sldId xmlns:r="http://schemas.openxmlformats.org/officeDocument/2006/relationships" id="274" r:id="Rf1ec50d17e1f4a26"/>
    <p:sldId xmlns:r="http://schemas.openxmlformats.org/officeDocument/2006/relationships" id="275" r:id="R8f911ea9b415426e"/>
    <p:sldId xmlns:r="http://schemas.openxmlformats.org/officeDocument/2006/relationships" id="276" r:id="R1daf2793523440fb"/>
    <p:sldId xmlns:r="http://schemas.openxmlformats.org/officeDocument/2006/relationships" id="277" r:id="Rd6864afced824e8e"/>
    <p:sldId xmlns:r="http://schemas.openxmlformats.org/officeDocument/2006/relationships" id="278" r:id="Re85cfac0cfcd4539"/>
    <p:sldId xmlns:r="http://schemas.openxmlformats.org/officeDocument/2006/relationships" id="279" r:id="Rabc16b45f686416d"/>
    <p:sldId xmlns:r="http://schemas.openxmlformats.org/officeDocument/2006/relationships" id="280" r:id="Rccbae4a4a97749ab"/>
    <p:sldId xmlns:r="http://schemas.openxmlformats.org/officeDocument/2006/relationships" id="281" r:id="Rfd54862349394030"/>
    <p:sldId xmlns:r="http://schemas.openxmlformats.org/officeDocument/2006/relationships" id="282" r:id="Rae18c6f2c62a49c4"/>
    <p:sldId xmlns:r="http://schemas.openxmlformats.org/officeDocument/2006/relationships" id="283" r:id="R9621f0d408d0467b"/>
    <p:sldId xmlns:r="http://schemas.openxmlformats.org/officeDocument/2006/relationships" id="284" r:id="R207ed688d3174b54"/>
    <p:sldId xmlns:r="http://schemas.openxmlformats.org/officeDocument/2006/relationships" id="285" r:id="R07d33e512da34c6d"/>
    <p:sldId xmlns:r="http://schemas.openxmlformats.org/officeDocument/2006/relationships" id="286" r:id="Rf00e1935b4224f7b"/>
    <p:sldId xmlns:r="http://schemas.openxmlformats.org/officeDocument/2006/relationships" id="287" r:id="Rea166f0f18484a75"/>
    <p:sldId xmlns:r="http://schemas.openxmlformats.org/officeDocument/2006/relationships" id="288" r:id="Rb4c93417e20c42af"/>
    <p:sldId xmlns:r="http://schemas.openxmlformats.org/officeDocument/2006/relationships" id="289" r:id="Rd702a2b7f1f3484a"/>
    <p:sldId xmlns:r="http://schemas.openxmlformats.org/officeDocument/2006/relationships" id="290" r:id="R3e85cc725fe44590"/>
    <p:sldId xmlns:r="http://schemas.openxmlformats.org/officeDocument/2006/relationships" id="291" r:id="R287351e490824eec"/>
    <p:sldId xmlns:r="http://schemas.openxmlformats.org/officeDocument/2006/relationships" id="292" r:id="R55d18fa283e44b9c"/>
    <p:sldId xmlns:r="http://schemas.openxmlformats.org/officeDocument/2006/relationships" id="293" r:id="R46864f8ec5ae4105"/>
    <p:sldId xmlns:r="http://schemas.openxmlformats.org/officeDocument/2006/relationships" id="294" r:id="R17ec5923ea6c4ff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6d47f690f744af" /><Relationship Type="http://schemas.openxmlformats.org/officeDocument/2006/relationships/slideMaster" Target="/ppt/slideMasters/slideMaster1.xml" Id="R231d0ac6b8de49ce" /><Relationship Type="http://schemas.openxmlformats.org/officeDocument/2006/relationships/notesMaster" Target="/ppt/notesMasters/notesMaster1.xml" Id="Rd511e217a8574f48" /><Relationship Type="http://schemas.openxmlformats.org/officeDocument/2006/relationships/presProps" Target="/ppt/presProps.xml" Id="R087bc4dba20e4c3e" /><Relationship Type="http://schemas.openxmlformats.org/officeDocument/2006/relationships/tableStyles" Target="/ppt/tableStyles.xml" Id="Rb044ef36a804424f" /><Relationship Type="http://schemas.openxmlformats.org/officeDocument/2006/relationships/slide" Target="/ppt/slides/slide1.xml" Id="R829d3e9af7aa45ac" /><Relationship Type="http://schemas.openxmlformats.org/officeDocument/2006/relationships/slide" Target="/ppt/slides/slide2.xml" Id="R5b09c29e50fc4f74" /><Relationship Type="http://schemas.openxmlformats.org/officeDocument/2006/relationships/slide" Target="/ppt/slides/slide3.xml" Id="R211bb12f3f1e445c" /><Relationship Type="http://schemas.openxmlformats.org/officeDocument/2006/relationships/slide" Target="/ppt/slides/slide4.xml" Id="Rfb7cfaf6ba604f88" /><Relationship Type="http://schemas.openxmlformats.org/officeDocument/2006/relationships/slide" Target="/ppt/slides/slide5.xml" Id="Rc3c79aa71fcb4edc" /><Relationship Type="http://schemas.openxmlformats.org/officeDocument/2006/relationships/slide" Target="/ppt/slides/slide6.xml" Id="Rc5a7b04e1c464379" /><Relationship Type="http://schemas.openxmlformats.org/officeDocument/2006/relationships/slide" Target="/ppt/slides/slide7.xml" Id="R37ed209b8c404968" /><Relationship Type="http://schemas.openxmlformats.org/officeDocument/2006/relationships/slide" Target="/ppt/slides/slide8.xml" Id="R4336c95349754d24" /><Relationship Type="http://schemas.openxmlformats.org/officeDocument/2006/relationships/slide" Target="/ppt/slides/slide9.xml" Id="Rc2d56187f1d84721" /><Relationship Type="http://schemas.openxmlformats.org/officeDocument/2006/relationships/slide" Target="/ppt/slides/slide10.xml" Id="Rcfeb20940e9a4bb9" /><Relationship Type="http://schemas.openxmlformats.org/officeDocument/2006/relationships/slide" Target="/ppt/slides/slide11.xml" Id="Rf4f812bc357849ca" /><Relationship Type="http://schemas.openxmlformats.org/officeDocument/2006/relationships/slide" Target="/ppt/slides/slide12.xml" Id="R9e245ee108c64c88" /><Relationship Type="http://schemas.openxmlformats.org/officeDocument/2006/relationships/slide" Target="/ppt/slides/slide13.xml" Id="Reb7bff888973441b" /><Relationship Type="http://schemas.openxmlformats.org/officeDocument/2006/relationships/slide" Target="/ppt/slides/slide14.xml" Id="Rc41a271f7c534399" /><Relationship Type="http://schemas.openxmlformats.org/officeDocument/2006/relationships/slide" Target="/ppt/slides/slide15.xml" Id="R8abd696d34ba4e23" /><Relationship Type="http://schemas.openxmlformats.org/officeDocument/2006/relationships/slide" Target="/ppt/slides/slide16.xml" Id="R3a00ec7aa2de4d15" /><Relationship Type="http://schemas.openxmlformats.org/officeDocument/2006/relationships/slide" Target="/ppt/slides/slide17.xml" Id="R73ba63f901a04429" /><Relationship Type="http://schemas.openxmlformats.org/officeDocument/2006/relationships/slide" Target="/ppt/slides/slide18.xml" Id="Rd6715d6639f248e8" /><Relationship Type="http://schemas.openxmlformats.org/officeDocument/2006/relationships/slide" Target="/ppt/slides/slide19.xml" Id="Rf1ec50d17e1f4a26" /><Relationship Type="http://schemas.openxmlformats.org/officeDocument/2006/relationships/slide" Target="/ppt/slides/slide20.xml" Id="R8f911ea9b415426e" /><Relationship Type="http://schemas.openxmlformats.org/officeDocument/2006/relationships/slide" Target="/ppt/slides/slide21.xml" Id="R1daf2793523440fb" /><Relationship Type="http://schemas.openxmlformats.org/officeDocument/2006/relationships/slide" Target="/ppt/slides/slide22.xml" Id="Rd6864afced824e8e" /><Relationship Type="http://schemas.openxmlformats.org/officeDocument/2006/relationships/slide" Target="/ppt/slides/slide23.xml" Id="Re85cfac0cfcd4539" /><Relationship Type="http://schemas.openxmlformats.org/officeDocument/2006/relationships/slide" Target="/ppt/slides/slide24.xml" Id="Rabc16b45f686416d" /><Relationship Type="http://schemas.openxmlformats.org/officeDocument/2006/relationships/slide" Target="/ppt/slides/slide25.xml" Id="Rccbae4a4a97749ab" /><Relationship Type="http://schemas.openxmlformats.org/officeDocument/2006/relationships/slide" Target="/ppt/slides/slide26.xml" Id="Rfd54862349394030" /><Relationship Type="http://schemas.openxmlformats.org/officeDocument/2006/relationships/slide" Target="/ppt/slides/slide27.xml" Id="Rae18c6f2c62a49c4" /><Relationship Type="http://schemas.openxmlformats.org/officeDocument/2006/relationships/slide" Target="/ppt/slides/slide28.xml" Id="R9621f0d408d0467b" /><Relationship Type="http://schemas.openxmlformats.org/officeDocument/2006/relationships/slide" Target="/ppt/slides/slide29.xml" Id="R207ed688d3174b54" /><Relationship Type="http://schemas.openxmlformats.org/officeDocument/2006/relationships/slide" Target="/ppt/slides/slide30.xml" Id="R07d33e512da34c6d" /><Relationship Type="http://schemas.openxmlformats.org/officeDocument/2006/relationships/slide" Target="/ppt/slides/slide31.xml" Id="Rf00e1935b4224f7b" /><Relationship Type="http://schemas.openxmlformats.org/officeDocument/2006/relationships/slide" Target="/ppt/slides/slide32.xml" Id="Rea166f0f18484a75" /><Relationship Type="http://schemas.openxmlformats.org/officeDocument/2006/relationships/slide" Target="/ppt/slides/slide33.xml" Id="Rb4c93417e20c42af" /><Relationship Type="http://schemas.openxmlformats.org/officeDocument/2006/relationships/slide" Target="/ppt/slides/slide34.xml" Id="Rd702a2b7f1f3484a" /><Relationship Type="http://schemas.openxmlformats.org/officeDocument/2006/relationships/slide" Target="/ppt/slides/slide35.xml" Id="R3e85cc725fe44590" /><Relationship Type="http://schemas.openxmlformats.org/officeDocument/2006/relationships/slide" Target="/ppt/slides/slide36.xml" Id="R287351e490824eec" /><Relationship Type="http://schemas.openxmlformats.org/officeDocument/2006/relationships/slide" Target="/ppt/slides/slide37.xml" Id="R55d18fa283e44b9c" /><Relationship Type="http://schemas.openxmlformats.org/officeDocument/2006/relationships/slide" Target="/ppt/slides/slide38.xml" Id="R46864f8ec5ae4105" /><Relationship Type="http://schemas.openxmlformats.org/officeDocument/2006/relationships/slide" Target="/ppt/slides/slide39.xml" Id="R17ec5923ea6c4f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9deb4b01a643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SwitchGLOBE Academic">
      <a:dk1>
        <a:srgbClr val="000000"/>
      </a:dk1>
      <a:lt1>
        <a:srgbClr val="FFFFFF"/>
      </a:lt1>
      <a:dk2>
        <a:srgbClr val="123B5D"/>
      </a:dk2>
      <a:lt2>
        <a:srgbClr val="D9E2EA"/>
      </a:lt2>
      <a:accent1>
        <a:srgbClr val="2E74B5"/>
      </a:accent1>
      <a:accent2>
        <a:srgbClr val="2AA7B8"/>
      </a:accent2>
      <a:accent3>
        <a:srgbClr val="F0A202"/>
      </a:accent3>
      <a:accent4>
        <a:srgbClr val="A93A32"/>
      </a:accent4>
      <a:accent5>
        <a:srgbClr val="5F4B8B"/>
      </a:accent5>
      <a:accent6>
        <a:srgbClr val="177B57"/>
      </a:accent6>
      <a:hlink>
        <a:srgbClr val="2E74B5"/>
      </a:hlink>
      <a:folHlink>
        <a:srgbClr val="5F4B8B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witchGLOBE Academic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5ca1561927423a" /><Relationship Type="http://schemas.openxmlformats.org/officeDocument/2006/relationships/notesMaster" Target="/ppt/notesMasters/notesMaster1.xml" Id="R83decef253ea41b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c90c8be9ed34d08" /><Relationship Type="http://schemas.openxmlformats.org/officeDocument/2006/relationships/notesMaster" Target="/ppt/notesMasters/notesMaster1.xml" Id="R9cea5c30aac54f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22d1fcac7846bf" /><Relationship Type="http://schemas.openxmlformats.org/officeDocument/2006/relationships/notesMaster" Target="/ppt/notesMasters/notesMaster1.xml" Id="Rfafa45ce6ea046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466e80252047ed" /><Relationship Type="http://schemas.openxmlformats.org/officeDocument/2006/relationships/notesMaster" Target="/ppt/notesMasters/notesMaster1.xml" Id="R8e76a505c0a346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df77ca95a234e6e" /><Relationship Type="http://schemas.openxmlformats.org/officeDocument/2006/relationships/notesMaster" Target="/ppt/notesMasters/notesMaster1.xml" Id="R1415ebc9d0404b1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b85462c28dd4784" /><Relationship Type="http://schemas.openxmlformats.org/officeDocument/2006/relationships/notesMaster" Target="/ppt/notesMasters/notesMaster1.xml" Id="Rf7211f8ecef94d6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560c210bd864065" /><Relationship Type="http://schemas.openxmlformats.org/officeDocument/2006/relationships/notesMaster" Target="/ppt/notesMasters/notesMaster1.xml" Id="R2d7bb8a117e4470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4904cdc89424e25" /><Relationship Type="http://schemas.openxmlformats.org/officeDocument/2006/relationships/notesMaster" Target="/ppt/notesMasters/notesMaster1.xml" Id="R6c88d0067c10482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352285ab21e4a48" /><Relationship Type="http://schemas.openxmlformats.org/officeDocument/2006/relationships/notesMaster" Target="/ppt/notesMasters/notesMaster1.xml" Id="Rf383ffe40364480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42c36245c6e4493" /><Relationship Type="http://schemas.openxmlformats.org/officeDocument/2006/relationships/notesMaster" Target="/ppt/notesMasters/notesMaster1.xml" Id="R97b86230f3f74cb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964ad32bf3c4b48" /><Relationship Type="http://schemas.openxmlformats.org/officeDocument/2006/relationships/notesMaster" Target="/ppt/notesMasters/notesMaster1.xml" Id="Rf1c27720949c409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feb23fcc814422a" /><Relationship Type="http://schemas.openxmlformats.org/officeDocument/2006/relationships/notesMaster" Target="/ppt/notesMasters/notesMaster1.xml" Id="R6690451666dd434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3e903fd17e64c83" /><Relationship Type="http://schemas.openxmlformats.org/officeDocument/2006/relationships/notesMaster" Target="/ppt/notesMasters/notesMaster1.xml" Id="R338aa0d9609a453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cc16a05d8a444e5" /><Relationship Type="http://schemas.openxmlformats.org/officeDocument/2006/relationships/notesMaster" Target="/ppt/notesMasters/notesMaster1.xml" Id="R4e07321d9f48499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04fc751011a4f61" /><Relationship Type="http://schemas.openxmlformats.org/officeDocument/2006/relationships/notesMaster" Target="/ppt/notesMasters/notesMaster1.xml" Id="Rfa9789c3be264cf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cd86fef658e40cd" /><Relationship Type="http://schemas.openxmlformats.org/officeDocument/2006/relationships/notesMaster" Target="/ppt/notesMasters/notesMaster1.xml" Id="Rd59e873d0db14e9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453e2e083e54c27" /><Relationship Type="http://schemas.openxmlformats.org/officeDocument/2006/relationships/notesMaster" Target="/ppt/notesMasters/notesMaster1.xml" Id="Rf3649e7d3e4d4f6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389a21a81564239" /><Relationship Type="http://schemas.openxmlformats.org/officeDocument/2006/relationships/notesMaster" Target="/ppt/notesMasters/notesMaster1.xml" Id="R1f6b6b8e62aa492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d32736e7cbd4b4f" /><Relationship Type="http://schemas.openxmlformats.org/officeDocument/2006/relationships/notesMaster" Target="/ppt/notesMasters/notesMaster1.xml" Id="R79ac5d7aae6b42a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b937770cdb64f0b" /><Relationship Type="http://schemas.openxmlformats.org/officeDocument/2006/relationships/notesMaster" Target="/ppt/notesMasters/notesMaster1.xml" Id="R5abaebfa5d83441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10a2985b8304c57" /><Relationship Type="http://schemas.openxmlformats.org/officeDocument/2006/relationships/notesMaster" Target="/ppt/notesMasters/notesMaster1.xml" Id="R1f23cefa25484f1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9fe545d31424239" /><Relationship Type="http://schemas.openxmlformats.org/officeDocument/2006/relationships/notesMaster" Target="/ppt/notesMasters/notesMaster1.xml" Id="R8f76a0211329474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70a8e92c6854cfc" /><Relationship Type="http://schemas.openxmlformats.org/officeDocument/2006/relationships/notesMaster" Target="/ppt/notesMasters/notesMaster1.xml" Id="Rd3bfd335c48249d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1b3356b3ef34821" /><Relationship Type="http://schemas.openxmlformats.org/officeDocument/2006/relationships/notesMaster" Target="/ppt/notesMasters/notesMaster1.xml" Id="Rd00dab92f910492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47fe4e4a5cb4d6f" /><Relationship Type="http://schemas.openxmlformats.org/officeDocument/2006/relationships/notesMaster" Target="/ppt/notesMasters/notesMaster1.xml" Id="R3026996b2c93459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1b7edb272a94bae" /><Relationship Type="http://schemas.openxmlformats.org/officeDocument/2006/relationships/notesMaster" Target="/ppt/notesMasters/notesMaster1.xml" Id="Rabdd0f5a00884d9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af525c858804d40" /><Relationship Type="http://schemas.openxmlformats.org/officeDocument/2006/relationships/notesMaster" Target="/ppt/notesMasters/notesMaster1.xml" Id="R377133e2fe664ca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a98de8c71be4ff1" /><Relationship Type="http://schemas.openxmlformats.org/officeDocument/2006/relationships/notesMaster" Target="/ppt/notesMasters/notesMaster1.xml" Id="R9f3f501fbe1d42e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2fe83fb891c4056" /><Relationship Type="http://schemas.openxmlformats.org/officeDocument/2006/relationships/notesMaster" Target="/ppt/notesMasters/notesMaster1.xml" Id="R6a95f498b8b543a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be42913b529494f" /><Relationship Type="http://schemas.openxmlformats.org/officeDocument/2006/relationships/notesMaster" Target="/ppt/notesMasters/notesMaster1.xml" Id="R040b834ece014fda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0f5ba588afc640df" /><Relationship Type="http://schemas.openxmlformats.org/officeDocument/2006/relationships/notesMaster" Target="/ppt/notesMasters/notesMaster1.xml" Id="R4c8a9836813a4e25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225641491ca84766" /><Relationship Type="http://schemas.openxmlformats.org/officeDocument/2006/relationships/notesMaster" Target="/ppt/notesMasters/notesMaster1.xml" Id="Rebad220ea3424e05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5c94d62689747aa" /><Relationship Type="http://schemas.openxmlformats.org/officeDocument/2006/relationships/notesMaster" Target="/ppt/notesMasters/notesMaster1.xml" Id="R1370d3f9a6c940eb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66d2d75b41e14d2f" /><Relationship Type="http://schemas.openxmlformats.org/officeDocument/2006/relationships/notesMaster" Target="/ppt/notesMasters/notesMaster1.xml" Id="Rc878986d86ef480f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85b0795df21425d" /><Relationship Type="http://schemas.openxmlformats.org/officeDocument/2006/relationships/notesMaster" Target="/ppt/notesMasters/notesMaster1.xml" Id="R03dd933c05584798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e2b3adce16ed4368" /><Relationship Type="http://schemas.openxmlformats.org/officeDocument/2006/relationships/notesMaster" Target="/ppt/notesMasters/notesMaster1.xml" Id="Re8428e0a74874ed6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a209ddaa48874bc2" /><Relationship Type="http://schemas.openxmlformats.org/officeDocument/2006/relationships/notesMaster" Target="/ppt/notesMasters/notesMaster1.xml" Id="R9bffd3fcb1f14074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3ba1fcd65ffc43cb" /><Relationship Type="http://schemas.openxmlformats.org/officeDocument/2006/relationships/notesMaster" Target="/ppt/notesMasters/notesMaster1.xml" Id="Ra3e7dee7da0a4b71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f6d8411f8a324163" /><Relationship Type="http://schemas.openxmlformats.org/officeDocument/2006/relationships/notesMaster" Target="/ppt/notesMasters/notesMaster1.xml" Id="Rd6f93340475a4a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 log --all</a:t>
            </a:r>
          </a:p>
          <a:p xmlns:a="http://schemas.openxmlformats.org/drawingml/2006/main">
            <a:r>
              <a:t>- docs/method_history.md</a:t>
            </a:r>
          </a:p>
          <a:p xmlns:a="http://schemas.openxmlformats.org/drawingml/2006/main">
            <a:r>
              <a:t>- artifacts/final_paper_simulation/synthesis/combined_comparison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artifacts/final_paper_simulation/synthesis/combined_comparison/tables/combined_comparison.md</a:t>
            </a:r>
          </a:p>
          <a:p xmlns:a="http://schemas.openxmlformats.org/drawingml/2006/main">
            <a:r>
              <a:t>- artifacts/final_paper_simulation/full/final_latency_verified</a:t>
            </a:r>
          </a:p>
          <a:p xmlns:a="http://schemas.openxmlformats.org/drawingml/2006/main">
            <a:r>
              <a:t>- artifacts/external_comparison_analysis/README.md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 log --all --reverse</a:t>
            </a:r>
          </a:p>
          <a:p xmlns:a="http://schemas.openxmlformats.org/drawingml/2006/main">
            <a:r>
              <a:t>- initial commit c7f60ed</a:t>
            </a:r>
          </a:p>
          <a:p xmlns:a="http://schemas.openxmlformats.org/drawingml/2006/main">
            <a:r>
              <a:t>- repository zero-byte notes inspection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initial README</a:t>
            </a:r>
          </a:p>
          <a:p xmlns:a="http://schemas.openxmlformats.org/drawingml/2006/main">
            <a:r>
              <a:t>- docs/method_history.md</a:t>
            </a:r>
          </a:p>
          <a:p xmlns:a="http://schemas.openxmlformats.org/drawingml/2006/main">
            <a:r>
              <a:t>- .claude/context/method-lineage.md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ResearchAIWorkspace/lite_globe phase 1-4 source</a:t>
            </a:r>
          </a:p>
          <a:p xmlns:a="http://schemas.openxmlformats.org/drawingml/2006/main">
            <a:r>
              <a:t>- docs/paper_method_summary.md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commit c7f60ed</a:t>
            </a:r>
          </a:p>
          <a:p xmlns:a="http://schemas.openxmlformats.org/drawingml/2006/main">
            <a:r>
              <a:t>- initial README phase 1-4</a:t>
            </a:r>
          </a:p>
          <a:p xmlns:a="http://schemas.openxmlformats.org/drawingml/2006/main">
            <a:r>
              <a:t>- ResearchAIWorkspace/lite_globe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initial README phase 5-8</a:t>
            </a:r>
          </a:p>
          <a:p xmlns:a="http://schemas.openxmlformats.org/drawingml/2006/main">
            <a:r>
              <a:t>- docs/method_history.md</a:t>
            </a:r>
          </a:p>
          <a:p xmlns:a="http://schemas.openxmlformats.org/drawingml/2006/main">
            <a:r>
              <a:t>- current policy source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initial README phase 9-12</a:t>
            </a:r>
          </a:p>
          <a:p xmlns:a="http://schemas.openxmlformats.org/drawingml/2006/main">
            <a:r>
              <a:t>- docs/paper_method_summary.md</a:t>
            </a:r>
          </a:p>
          <a:p xmlns:a="http://schemas.openxmlformats.org/drawingml/2006/main">
            <a:r>
              <a:t>- current RiskSwitchLiteGlobePStudentPolicy source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 log --all --reverse</a:t>
            </a:r>
          </a:p>
          <a:p xmlns:a="http://schemas.openxmlformats.org/drawingml/2006/main">
            <a:r>
              <a:t>- branch tips at 2026-09-03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paper/archive/v1_english_phase12/figures/method_overview_pub_preview.png from main</a:t>
            </a:r>
          </a:p>
          <a:p xmlns:a="http://schemas.openxmlformats.org/drawingml/2006/main">
            <a:r>
              <a:t>- docs/method_history.md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docs/paper_method_summary.md</a:t>
            </a:r>
          </a:p>
          <a:p xmlns:a="http://schemas.openxmlformats.org/drawingml/2006/main">
            <a:r>
              <a:t>- current source</a:t>
            </a:r>
          </a:p>
          <a:p xmlns:a="http://schemas.openxmlformats.org/drawingml/2006/main">
            <a:r>
              <a:t>- phase12 calibration config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docs/method_history.md</a:t>
            </a:r>
          </a:p>
          <a:p xmlns:a="http://schemas.openxmlformats.org/drawingml/2006/main">
            <a:r>
              <a:t>- .claude/context/method-lineage.md</a:t>
            </a:r>
          </a:p>
          <a:p xmlns:a="http://schemas.openxmlformats.org/drawingml/2006/main">
            <a:r>
              <a:t>- current policy class RiskSwitchLiteGlobePStudentPolicy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phase 2 local student source</a:t>
            </a:r>
          </a:p>
          <a:p xmlns:a="http://schemas.openxmlformats.org/drawingml/2006/main">
            <a:r>
              <a:t>- phase 7 no-node-ID constraints</a:t>
            </a:r>
          </a:p>
          <a:p xmlns:a="http://schemas.openxmlformats.org/drawingml/2006/main">
            <a:r>
              <a:t>- current environment/action mask source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phase 4 distillation source</a:t>
            </a:r>
          </a:p>
          <a:p xmlns:a="http://schemas.openxmlformats.org/drawingml/2006/main">
            <a:r>
              <a:t>- phase 8 mixed data config</a:t>
            </a:r>
          </a:p>
          <a:p xmlns:a="http://schemas.openxmlformats.org/drawingml/2006/main">
            <a:r>
              <a:t>- docs/paper_method_summary.md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phase 8/11 source</a:t>
            </a:r>
          </a:p>
          <a:p xmlns:a="http://schemas.openxmlformats.org/drawingml/2006/main">
            <a:r>
              <a:t>- current phase12 config</a:t>
            </a:r>
          </a:p>
          <a:p xmlns:a="http://schemas.openxmlformats.org/drawingml/2006/main">
            <a:r>
              <a:t>- docs/method_history.md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RiskSwitchLiteGlobePStudentPolicy</a:t>
            </a:r>
          </a:p>
          <a:p xmlns:a="http://schemas.openxmlformats.org/drawingml/2006/main">
            <a:r>
              <a:t>- phase12 default calibration config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policy switch logic</a:t>
            </a:r>
          </a:p>
          <a:p xmlns:a="http://schemas.openxmlformats.org/drawingml/2006/main">
            <a:r>
              <a:t>- docs/paper_method_summary.md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</a:t>
            </a:r>
          </a:p>
          <a:p xmlns:a="http://schemas.openxmlformats.org/drawingml/2006/main">
            <a:r>
              <a:t>- artifacts/external_comparison_analysis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artifacts/final_paper_simulation/full/baselines</a:t>
            </a:r>
          </a:p>
          <a:p xmlns:a="http://schemas.openxmlformats.org/drawingml/2006/main">
            <a:r>
              <a:t>- combined comparison manifest</a:t>
            </a:r>
          </a:p>
          <a:p xmlns:a="http://schemas.openxmlformats.org/drawingml/2006/main">
            <a:r>
              <a:t>- validation logs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combined_comparison.md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artifacts/final_paper_simulation/synthesis/combined_comparison/tables/combined_comparison.md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artifacts/final_paper_simulation/synthesis/combined_comparison/figures/fig_combined_pdr_deadline_energy_by_method.png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paired Exact vs Evo analysis in final synthesis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artifacts/external_comparison_analysis/figure_scenario_gain_heatmap.png</a:t>
            </a:r>
          </a:p>
          <a:p xmlns:a="http://schemas.openxmlformats.org/drawingml/2006/main">
            <a:r>
              <a:t>- baseline scenario aggregate 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final validation README/manifest</a:t>
            </a:r>
          </a:p>
          <a:p xmlns:a="http://schemas.openxmlformats.org/drawingml/2006/main">
            <a:r>
              <a:t>- source ZIP audit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artifacts/final_paper_simulation/full/final_latency_verified/aggregate_statistics.csv</a:t>
            </a:r>
          </a:p>
          <a:p xmlns:a="http://schemas.openxmlformats.org/drawingml/2006/main">
            <a:r>
              <a:t>- latency protocol manifest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artifacts/final_paper_simulation/full/final_latency_verified/latency_p95_cpu.png</a:t>
            </a:r>
          </a:p>
          <a:p xmlns:a="http://schemas.openxmlformats.org/drawingml/2006/main">
            <a:r>
              <a:t>- aggregate_statistics.csv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Phase C paired acceptance</a:t>
            </a:r>
          </a:p>
          <a:p xmlns:a="http://schemas.openxmlformats.org/drawingml/2006/main">
            <a:r>
              <a:t>- combined comparison table</a:t>
            </a:r>
          </a:p>
          <a:p xmlns:a="http://schemas.openxmlformats.org/drawingml/2006/main">
            <a:r>
              <a:t>- commit 16672ce framing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phase13 merged artifacts</a:t>
            </a:r>
          </a:p>
          <a:p xmlns:a="http://schemas.openxmlformats.org/drawingml/2006/main">
            <a:r>
              <a:t>- novelty ablation smoke</a:t>
            </a:r>
          </a:p>
          <a:p xmlns:a="http://schemas.openxmlformats.org/drawingml/2006/main">
            <a:r>
              <a:t>- refactor/EVO+GLOBE logs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artifacts/final_paper_simulation/smoke/novelty_ablation/manifest</a:t>
            </a:r>
          </a:p>
          <a:p xmlns:a="http://schemas.openxmlformats.org/drawingml/2006/main">
            <a:r>
              <a:t>- component_contribution_four_panel.png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artifacts/lite_globe/phase13_merged</a:t>
            </a:r>
          </a:p>
          <a:p xmlns:a="http://schemas.openxmlformats.org/drawingml/2006/main">
            <a:r>
              <a:t>- historical Phase 13 source</a:t>
            </a:r>
          </a:p>
          <a:p xmlns:a="http://schemas.openxmlformats.org/drawingml/2006/main">
            <a:r>
              <a:t>- docs/method_history.md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refactor/EVO+GLOBE branch logs</a:t>
            </a:r>
          </a:p>
          <a:p xmlns:a="http://schemas.openxmlformats.org/drawingml/2006/main">
            <a:r>
              <a:t>- candidate evaluation artifacts</a:t>
            </a:r>
          </a:p>
          <a:p xmlns:a="http://schemas.openxmlformats.org/drawingml/2006/main">
            <a:r>
              <a:t>- commits 6246b54, d6b3324, 1f3b6f7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paper/current on main</a:t>
            </a:r>
          </a:p>
          <a:p xmlns:a="http://schemas.openxmlformats.org/drawingml/2006/main">
            <a:r>
              <a:t>- paper/archive/v1_english_phase12</a:t>
            </a:r>
          </a:p>
          <a:p xmlns:a="http://schemas.openxmlformats.org/drawingml/2006/main">
            <a:r>
              <a:t>- combined_comparison.md</a:t>
            </a:r>
          </a:p>
          <a:p xmlns:a="http://schemas.openxmlformats.org/drawingml/2006/main">
            <a:r>
              <a:t>- commit 16672ce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pytest run on 2026-09-03</a:t>
            </a:r>
          </a:p>
          <a:p xmlns:a="http://schemas.openxmlformats.org/drawingml/2006/main">
            <a:r>
              <a:t>- tests/lite_globe/test_gated_switchglobe_calibration.py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combined_comparison.md</a:t>
            </a:r>
          </a:p>
          <a:p xmlns:a="http://schemas.openxmlformats.org/drawingml/2006/main">
            <a:r>
              <a:t>- external_comparison_analysis/README.md</a:t>
            </a:r>
          </a:p>
          <a:p xmlns:a="http://schemas.openxmlformats.org/drawingml/2006/main">
            <a:r>
              <a:t>- smoke manifests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final synthesis</a:t>
            </a:r>
          </a:p>
          <a:p xmlns:a="http://schemas.openxmlformats.org/drawingml/2006/main">
            <a:r>
              <a:t>- current docs and tests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final synthesis</a:t>
            </a:r>
          </a:p>
          <a:p xmlns:a="http://schemas.openxmlformats.org/drawingml/2006/main">
            <a:r>
              <a:t>- docs/method_history.md</a:t>
            </a:r>
          </a:p>
          <a:p xmlns:a="http://schemas.openxmlformats.org/drawingml/2006/main">
            <a:r>
              <a:t>- branch-specific artifacts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scenario aggregate analysis</a:t>
            </a:r>
          </a:p>
          <a:p xmlns:a="http://schemas.openxmlformats.org/drawingml/2006/main">
            <a:r>
              <a:t>- current pytest results</a:t>
            </a:r>
          </a:p>
          <a:p xmlns:a="http://schemas.openxmlformats.org/drawingml/2006/main">
            <a:r>
              <a:t>- reviewer risk notes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SwitchGLOBE_연구개발_연혁과_검증_종합보고서_2026-09-03.docx</a:t>
            </a:r>
          </a:p>
          <a:p xmlns:a="http://schemas.openxmlformats.org/drawingml/2006/main">
            <a:r>
              <a:t>- final synthesis artifacts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f055e04898489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db1fcc5eaf4ad9" /><Relationship Type="http://schemas.openxmlformats.org/officeDocument/2006/relationships/slideLayout" Target="/ppt/slideLayouts/slideLayout1.xml" Id="R3c27c02342f64d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27c02342f64d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SwitchGLOBE Academic">
      <a:dk1>
        <a:srgbClr val="000000"/>
      </a:dk1>
      <a:lt1>
        <a:srgbClr val="FFFFFF"/>
      </a:lt1>
      <a:dk2>
        <a:srgbClr val="123B5D"/>
      </a:dk2>
      <a:lt2>
        <a:srgbClr val="D9E2EA"/>
      </a:lt2>
      <a:accent1>
        <a:srgbClr val="2E74B5"/>
      </a:accent1>
      <a:accent2>
        <a:srgbClr val="2AA7B8"/>
      </a:accent2>
      <a:accent3>
        <a:srgbClr val="F0A202"/>
      </a:accent3>
      <a:accent4>
        <a:srgbClr val="A93A32"/>
      </a:accent4>
      <a:accent5>
        <a:srgbClr val="5F4B8B"/>
      </a:accent5>
      <a:accent6>
        <a:srgbClr val="177B57"/>
      </a:accent6>
      <a:hlink>
        <a:srgbClr val="2E74B5"/>
      </a:hlink>
      <a:folHlink>
        <a:srgbClr val="5F4B8B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witchGLOBE Academic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17322496784bd9" /><Relationship Type="http://schemas.openxmlformats.org/officeDocument/2006/relationships/notesSlide" Target="/ppt/notesSlides/notesSlide1.xml" Id="Rfe13bc324e0245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25634e47ea44da" /><Relationship Type="http://schemas.openxmlformats.org/officeDocument/2006/relationships/notesSlide" Target="/ppt/notesSlides/notesSlide2.xml" Id="R2a2f5fc80c8c47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145c43a48243e9" /><Relationship Type="http://schemas.openxmlformats.org/officeDocument/2006/relationships/notesSlide" Target="/ppt/notesSlides/notesSlide3.xml" Id="R7f968d1e06044da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7ee1d8214945af" /><Relationship Type="http://schemas.openxmlformats.org/officeDocument/2006/relationships/notesSlide" Target="/ppt/notesSlides/notesSlide4.xml" Id="Ree1fa82ecf8347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078d9d46d344ba" /><Relationship Type="http://schemas.openxmlformats.org/officeDocument/2006/relationships/notesSlide" Target="/ppt/notesSlides/notesSlide5.xml" Id="R2538f1310b59440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d883950e954832" /><Relationship Type="http://schemas.openxmlformats.org/officeDocument/2006/relationships/notesSlide" Target="/ppt/notesSlides/notesSlide6.xml" Id="R9f989b0c99554bf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e7c384875043da" /><Relationship Type="http://schemas.openxmlformats.org/officeDocument/2006/relationships/notesSlide" Target="/ppt/notesSlides/notesSlide7.xml" Id="R94d7a675722c4f1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de4bb8e1834d35" /><Relationship Type="http://schemas.openxmlformats.org/officeDocument/2006/relationships/notesSlide" Target="/ppt/notesSlides/notesSlide8.xml" Id="Rf5bff535e9c5491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493fdd4fbd4391" /><Relationship Type="http://schemas.openxmlformats.org/officeDocument/2006/relationships/notesSlide" Target="/ppt/notesSlides/notesSlide9.xml" Id="R00cf0fa291d541d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d49cb2c88b4528" /><Relationship Type="http://schemas.openxmlformats.org/officeDocument/2006/relationships/image" Target="/ppt/media/image.png" Id="R399345fb60c84e68" /><Relationship Type="http://schemas.openxmlformats.org/officeDocument/2006/relationships/notesSlide" Target="/ppt/notesSlides/notesSlide10.xml" Id="R2b7373c215de430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f31191d6ad48d9" /><Relationship Type="http://schemas.openxmlformats.org/officeDocument/2006/relationships/notesSlide" Target="/ppt/notesSlides/notesSlide11.xml" Id="Rdadbd0b3c28c464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b4dcc153714980" /><Relationship Type="http://schemas.openxmlformats.org/officeDocument/2006/relationships/notesSlide" Target="/ppt/notesSlides/notesSlide12.xml" Id="R0c0e0ae69a8d49d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39186b5acb4cd3" /><Relationship Type="http://schemas.openxmlformats.org/officeDocument/2006/relationships/notesSlide" Target="/ppt/notesSlides/notesSlide13.xml" Id="R20c1522384e7466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6ac39c5aec4223" /><Relationship Type="http://schemas.openxmlformats.org/officeDocument/2006/relationships/notesSlide" Target="/ppt/notesSlides/notesSlide14.xml" Id="R056c713eff5342f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57b6e4414c47b4" /><Relationship Type="http://schemas.openxmlformats.org/officeDocument/2006/relationships/notesSlide" Target="/ppt/notesSlides/notesSlide15.xml" Id="Rc2934c1318fe47a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b26f2286794e78" /><Relationship Type="http://schemas.openxmlformats.org/officeDocument/2006/relationships/notesSlide" Target="/ppt/notesSlides/notesSlide16.xml" Id="Rffce0856fe2041f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a8ff3ecf854636" /><Relationship Type="http://schemas.openxmlformats.org/officeDocument/2006/relationships/notesSlide" Target="/ppt/notesSlides/notesSlide17.xml" Id="Rf8aad5b36a9b450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f263a1984b4466" /><Relationship Type="http://schemas.openxmlformats.org/officeDocument/2006/relationships/notesSlide" Target="/ppt/notesSlides/notesSlide18.xml" Id="Rbeb607baae79446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899847c4ee4cfa" /><Relationship Type="http://schemas.openxmlformats.org/officeDocument/2006/relationships/notesSlide" Target="/ppt/notesSlides/notesSlide19.xml" Id="R72cf9e1e899c422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4c832e2cab475a" /><Relationship Type="http://schemas.openxmlformats.org/officeDocument/2006/relationships/notesSlide" Target="/ppt/notesSlides/notesSlide20.xml" Id="R0939c2b5bca5490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29d48166354abb" /><Relationship Type="http://schemas.openxmlformats.org/officeDocument/2006/relationships/notesSlide" Target="/ppt/notesSlides/notesSlide21.xml" Id="R1f50eb599f7d4f4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3f2141b2f74e46" /><Relationship Type="http://schemas.openxmlformats.org/officeDocument/2006/relationships/image" Target="/ppt/media/image2.png" Id="R25ed408a62194a98" /><Relationship Type="http://schemas.openxmlformats.org/officeDocument/2006/relationships/notesSlide" Target="/ppt/notesSlides/notesSlide22.xml" Id="R563611640e8f471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21bb57abce472e" /><Relationship Type="http://schemas.openxmlformats.org/officeDocument/2006/relationships/notesSlide" Target="/ppt/notesSlides/notesSlide23.xml" Id="R6898c6e9cbf94d1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5abb9e38674fa0" /><Relationship Type="http://schemas.openxmlformats.org/officeDocument/2006/relationships/image" Target="/ppt/media/image3.png" Id="Rd8a48b4320464af1" /><Relationship Type="http://schemas.openxmlformats.org/officeDocument/2006/relationships/notesSlide" Target="/ppt/notesSlides/notesSlide24.xml" Id="R5061a5757389417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01f05cca1549d2" /><Relationship Type="http://schemas.openxmlformats.org/officeDocument/2006/relationships/notesSlide" Target="/ppt/notesSlides/notesSlide25.xml" Id="R7f260bddcb794ff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d0be17d8284561" /><Relationship Type="http://schemas.openxmlformats.org/officeDocument/2006/relationships/notesSlide" Target="/ppt/notesSlides/notesSlide26.xml" Id="R36ac7a14e4a44af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d538098df44b83" /><Relationship Type="http://schemas.openxmlformats.org/officeDocument/2006/relationships/image" Target="/ppt/media/image4.png" Id="Re94740cfcf964377" /><Relationship Type="http://schemas.openxmlformats.org/officeDocument/2006/relationships/notesSlide" Target="/ppt/notesSlides/notesSlide27.xml" Id="Rd77c92cba56d40b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222b639b1f4bd4" /><Relationship Type="http://schemas.openxmlformats.org/officeDocument/2006/relationships/notesSlide" Target="/ppt/notesSlides/notesSlide28.xml" Id="Rd1110af04f1643f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6f8e45b1d445a1" /><Relationship Type="http://schemas.openxmlformats.org/officeDocument/2006/relationships/notesSlide" Target="/ppt/notesSlides/notesSlide29.xml" Id="Ra5f04873da6c49e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1a49c17ae34387" /><Relationship Type="http://schemas.openxmlformats.org/officeDocument/2006/relationships/image" Target="/ppt/media/image5.png" Id="R2c0f090f56eb4673" /><Relationship Type="http://schemas.openxmlformats.org/officeDocument/2006/relationships/notesSlide" Target="/ppt/notesSlides/notesSlide30.xml" Id="Rda81960a60cf456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96423d8599433d" /><Relationship Type="http://schemas.openxmlformats.org/officeDocument/2006/relationships/image" Target="/ppt/media/image6.png" Id="Ra06350a4e20c4650" /><Relationship Type="http://schemas.openxmlformats.org/officeDocument/2006/relationships/notesSlide" Target="/ppt/notesSlides/notesSlide31.xml" Id="Rd3d7d22bcd474cbb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84b0b3227546f2" /><Relationship Type="http://schemas.openxmlformats.org/officeDocument/2006/relationships/notesSlide" Target="/ppt/notesSlides/notesSlide32.xml" Id="Rab8938ebc5ab4fa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90fc8453fb4f7a" /><Relationship Type="http://schemas.openxmlformats.org/officeDocument/2006/relationships/notesSlide" Target="/ppt/notesSlides/notesSlide33.xml" Id="R1790003a57d04bba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6725a3681e45a1" /><Relationship Type="http://schemas.openxmlformats.org/officeDocument/2006/relationships/notesSlide" Target="/ppt/notesSlides/notesSlide34.xml" Id="R0fe2a5353489477e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1235a805294dc9" /><Relationship Type="http://schemas.openxmlformats.org/officeDocument/2006/relationships/notesSlide" Target="/ppt/notesSlides/notesSlide35.xml" Id="R278ca9e036d2490c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c89281cc5c4df9" /><Relationship Type="http://schemas.openxmlformats.org/officeDocument/2006/relationships/notesSlide" Target="/ppt/notesSlides/notesSlide36.xml" Id="Raec9b75c8cd142df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a430b09bf14f83" /><Relationship Type="http://schemas.openxmlformats.org/officeDocument/2006/relationships/notesSlide" Target="/ppt/notesSlides/notesSlide37.xml" Id="R44e3fa401f484002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54af89ca09453b" /><Relationship Type="http://schemas.openxmlformats.org/officeDocument/2006/relationships/notesSlide" Target="/ppt/notesSlides/notesSlide38.xml" Id="R44e7e7c792984239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6383885d4741d0" /><Relationship Type="http://schemas.openxmlformats.org/officeDocument/2006/relationships/notesSlide" Target="/ppt/notesSlides/notesSlide39.xml" Id="R906763745d964f9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A95589-0B56-4F55-8927-440503E4C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GLOBE_ROUTING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F47361-369D-4A04-AAD1-44130FCB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SwitchGLOBE 제안기법은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어떻게 탄생하고 검증되었는가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31514B-60FC-4C34-91B7-F65BB06F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695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전체 브랜치 · Git 이력 · artifact · 원고를 교차검증한 시간순 연구 기록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78963E-1066-4E30-95B4-AD0CC9662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952500"/>
            <a:ext cx="30480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5D"/>
          </a:solidFill>
          <a:ln xmlns:a="http://schemas.openxmlformats.org/drawingml/2006/main" w="1333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9CEAAD-2B71-4781-94FC-2FB0159B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2573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FD3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8FD3FF"/>
                </a:solidFill>
                <a:latin typeface="AppleGothic"/>
                <a:ea typeface="AppleGothic"/>
                <a:cs typeface="AppleGothic"/>
              </a:rPr>
              <a:t>FINAL METHOD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024CFE-370D-4186-AFE2-86B2077BC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71650"/>
            <a:ext cx="238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8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SwitchGLOBE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8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Exact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74FFC7-8AF8-40B8-8299-30140371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24200"/>
            <a:ext cx="2381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DDEAF3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DDEAF3"/>
                </a:solidFill>
                <a:latin typeface="AppleGothic"/>
                <a:ea typeface="AppleGothic"/>
                <a:cs typeface="AppleGothic"/>
              </a:rPr>
              <a:t>Phase 12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DDEAF3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DDEAF3"/>
                </a:solidFill>
                <a:latin typeface="AppleGothic"/>
                <a:ea typeface="AppleGothic"/>
                <a:cs typeface="AppleGothic"/>
              </a:rPr>
              <a:t>Geo-Residual + Predictive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DDEAF3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DDEAF3"/>
                </a:solidFill>
                <a:latin typeface="AppleGothic"/>
                <a:ea typeface="AppleGothic"/>
                <a:cs typeface="AppleGothic"/>
              </a:rPr>
              <a:t>위험 기반 로컬 스위치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C8DD72-E912-4A4A-9534-AB6DDF211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9580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13335">
            <a:solidFill>
              <a:srgbClr val="D9E2EA"/>
            </a:solidFill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5 seeds · 14 scenarios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2C1E60-834D-40DB-8C09-AFAAC1A50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76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근거 기준일 2026-09-03 · refactor/GLOBE</a:t>
            </a:r>
          </a:p>
        </p:txBody>
      </p:sp>
    </p:spTree>
    <p:extLst>
      <p:ext uri="{BB962C8B-B14F-4D97-AF65-F5344CB8AC3E}">
        <p14:creationId xmlns:p14="http://schemas.microsoft.com/office/powerpoint/2010/main" val="10066522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C5D765-0C7E-42F2-A114-2716B2E3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00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195E0B-BC2F-43B8-A56E-14F13E5A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결론부터: 최종 채택은 SwitchGLOBE Exact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ACD7B8-EDAE-4B77-BF67-F4C535C5B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C78934-6BF8-4FB3-A7E7-1945A165E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66875"/>
            <a:ext cx="0" cy="10668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CE7FB5-A5CB-43F3-929D-80F3252A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478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CONNECTED-PAIR PDR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7E01E8-AB1B-40F2-8AED-7AA69A96C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2228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0.9053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D2C9FC-9DBC-454D-A388-03C41561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±0.0014 · 8개 방법 중 1위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98E065-2D81-4792-901E-9D6998DA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666875"/>
            <a:ext cx="0" cy="10668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13FC57-00C3-45AC-8A61-3361AF86B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16478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OVERALL PDR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D838C1-2F70-4112-988C-DA0A8B8FA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1943100"/>
            <a:ext cx="2228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0.8542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9804C8-F041-4716-9304-298B8B02A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524125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±0.0015 · 1위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08DC7F-2311-4416-BA60-DBA0A049D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66875"/>
            <a:ext cx="0" cy="10668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F06493-67BE-4871-8E53-309C972A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6478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DEADLINE RATIO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9F93C7-F1C8-4366-89B1-E63519BAD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43100"/>
            <a:ext cx="2228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0.8376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465290-5660-49FD-B0A7-9314CCA4E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524125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±0.0014 · 1위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A33AF5-D677-4EC1-A958-6557C5849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666875"/>
            <a:ext cx="0" cy="10668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4DB146-EB9B-4787-AC00-7504D04B1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647825"/>
            <a:ext cx="2962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ENERGY / DELIVERED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799920-1CE4-4241-99AB-F5A480B7B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943100"/>
            <a:ext cx="29622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2.2279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2AA961-C239-43CA-AEB4-8B5CAD03E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524125"/>
            <a:ext cx="2962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±0.0029 · simulator proxy · 1위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552C7E-19D2-447F-B8FC-47D0E79FC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52800"/>
            <a:ext cx="7143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9E2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CF0B0A-1198-4FB9-847F-17DF17FE2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67246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10"/>
              </a:spcAft>
              <a:buNone/>
              <a:def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전역 GNN-PPO 교사는 학습에만 사용하고, 실행은 1-hop 로컬 관측으로 수행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10"/>
              </a:spcAft>
              <a:buNone/>
              <a:def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Geo-Residual 정상 분기와 Predictive 분기를 위험 점수로 선택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10"/>
              </a:spcAft>
              <a:buNone/>
              <a:def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Fast는 CPU P95를 63.22% 줄였지만 신뢰성 허용기준 실패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10"/>
              </a:spcAft>
              <a:buNone/>
              <a:def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P+·EVO 결합은 반복 검증 또는 성능 개선이 부족해 최종에서 제외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F12D20-C7C7-4AFC-B43D-B8916886B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352800"/>
            <a:ext cx="3667125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F0C5C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047DCB-1288-453F-A067-B831352F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90925"/>
            <a:ext cx="319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A93A32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A93A32"/>
                </a:solidFill>
                <a:latin typeface="AppleGothic"/>
                <a:ea typeface="AppleGothic"/>
                <a:cs typeface="AppleGothic"/>
              </a:rPr>
              <a:t>정직하게 남겨야 할 약점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37C6B7-A1D0-46F7-A11A-60C95A01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48125"/>
            <a:ext cx="32194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27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P95 지연은 OLSR·Greedy·AODV보다 길다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27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입력 byte는 전통 라우팅보다 훨씬 크다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27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predictive_break_225+loss에서 Evo보다 약하다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AF4452-B891-4EE3-952C-FD402B9B5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GLOBE ROUTING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7A8CDE-E5BD-4023-8A70-B8BBA9F14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827582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9DDDA7-D48A-4B05-9690-4B240434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00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77DA29-8B75-4BA4-B19C-5B810D992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정확한 연표를 위해 증거의 우선순위를 고정했다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1F24B1-CD66-4D16-840B-33B43E0A2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7FF22D-FCDE-4B99-BA9B-6EC610519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2000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8CC7A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6DC790-AC6A-4889-B93C-60C9DE64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523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2850" b="1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513328-48EA-414E-8B7E-CF1C74F9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165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최종 full / synthesis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22E68E-98D5-4A3D-A724-2FFA9B57A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1657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CSV · manifest · 검증 로그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856B1C-003E-400E-BD0E-F32C6809D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619250"/>
            <a:ext cx="2000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9E2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6C08D8-8A71-46B9-A74D-68D9F4AA8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90700"/>
            <a:ext cx="523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2850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BAF689-2ABC-4AF6-8DDC-43F91C88F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57450"/>
            <a:ext cx="165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현재 소스 / 설정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50AF78-E7D9-43AE-B70C-F5F21F21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43250"/>
            <a:ext cx="1657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알고리즘과 기본값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5919F3-763A-4B97-BDA1-0095D259D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619250"/>
            <a:ext cx="2000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9AB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9C26E7-D53F-4B93-B922-469A86E5B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790700"/>
            <a:ext cx="523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5F4B8B"/>
                </a:solidFill>
                <a:latin typeface="AppleGothic"/>
                <a:ea typeface="AppleGothic"/>
                <a:cs typeface="AppleGothic"/>
              </a:defRPr>
            </a:pPr>
            <a:r>
              <a:rPr sz="2850" b="1">
                <a:solidFill>
                  <a:srgbClr val="5F4B8B"/>
                </a:solidFill>
                <a:latin typeface="AppleGothic"/>
                <a:ea typeface="AppleGothic"/>
                <a:cs typeface="AppleGothic"/>
              </a:rPr>
              <a:t>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F7D19D-2F95-4419-A2F2-F9206C5E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457450"/>
            <a:ext cx="165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Git --all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B783BA-8CF9-4175-BC9F-477C8268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143250"/>
            <a:ext cx="1657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시간·분기·cherry-pick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3E69DC-F8B1-41BF-A493-A60F5E221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619250"/>
            <a:ext cx="2000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E4B65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918B02-76F4-42F0-A68D-505D35F63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790700"/>
            <a:ext cx="523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A66000"/>
                </a:solidFill>
                <a:latin typeface="AppleGothic"/>
                <a:ea typeface="AppleGothic"/>
                <a:cs typeface="AppleGothic"/>
              </a:defRPr>
            </a:pPr>
            <a:r>
              <a:rPr sz="2850" b="1">
                <a:solidFill>
                  <a:srgbClr val="A66000"/>
                </a:solidFill>
                <a:latin typeface="AppleGothic"/>
                <a:ea typeface="AppleGothic"/>
                <a:cs typeface="AppleGothic"/>
              </a:rPr>
              <a:t>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F9CE59-1072-419C-9331-0E60EB6C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457450"/>
            <a:ext cx="165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원고 / 발표자료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62833F-1077-47EA-AAF2-39E23D011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143250"/>
            <a:ext cx="1657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당시 주장과 설명의 변화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F833F3-2517-467E-93DD-62EB91FE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619250"/>
            <a:ext cx="2000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E9A39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CF33A8-E60F-4CAF-8F33-BC61B7885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790700"/>
            <a:ext cx="523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A93A32"/>
                </a:solidFill>
                <a:latin typeface="AppleGothic"/>
                <a:ea typeface="AppleGothic"/>
                <a:cs typeface="AppleGothic"/>
              </a:defRPr>
            </a:pPr>
            <a:r>
              <a:rPr sz="2850" b="1">
                <a:solidFill>
                  <a:srgbClr val="A93A32"/>
                </a:solidFill>
                <a:latin typeface="AppleGothic"/>
                <a:ea typeface="AppleGothic"/>
                <a:cs typeface="AppleGothic"/>
              </a:rPr>
              <a:t>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BE3796-E936-417A-8ED3-FD7AE6847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457450"/>
            <a:ext cx="165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Smoke / 단일 seed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AD8CB6-95FC-4624-BEB8-A759B6F35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143250"/>
            <a:ext cx="1657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방향성만; 최종 주장은 금지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B71039-98CA-460A-9F37-87B852BC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0"/>
            <a:ext cx="1104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F2D49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E2DB20-60C3-44B7-99A6-4514DBF9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958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553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A66000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A66000"/>
                </a:solidFill>
                <a:latin typeface="AppleGothic"/>
                <a:ea typeface="AppleGothic"/>
                <a:cs typeface="AppleGothic"/>
              </a:rPr>
              <a:t>날짜 한계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2E87D2-9143-4CFB-84B9-5954ECBD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657725"/>
            <a:ext cx="9096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최초 커밋(2026-06-19)은 이미 Phase 1–13 작업공간을 포함한다. 따라서 초기 Phase의 순서는 복원 가능하지만 6월 19일 이전의 정확한 달력 날짜는 확정할 수 없다.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45E6A5-E8E6-4541-9DD0-8B82A66A4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GLOBE ROUTING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232992-B349-449D-8837-DF41DBBA6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108008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23B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BC415F-503A-41B4-93AC-D473822BC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52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800" b="1">
                <a:solidFill>
                  <a:srgbClr val="73B7E6"/>
                </a:solidFill>
                <a:latin typeface="AppleGothic"/>
                <a:ea typeface="AppleGothic"/>
                <a:cs typeface="AppleGothic"/>
              </a:defRPr>
            </a:pPr>
            <a:r>
              <a:rPr sz="4800" b="1">
                <a:solidFill>
                  <a:srgbClr val="73B7E6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CBF2A5-A6E7-4026-AEC2-4405B41F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I. 아이디어의 형성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7D4FC5-A038-496A-8D2C-965F6E818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0"/>
            <a:ext cx="952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C9DCEB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C9DCEB"/>
                </a:solidFill>
                <a:latin typeface="AppleGothic"/>
                <a:ea typeface="AppleGothic"/>
                <a:cs typeface="AppleGothic"/>
              </a:rPr>
              <a:t>환경, 교사, 증류, 위험 예측, 로컬 스위치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87DA55-A95E-4284-9773-0207F2332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8EB6D1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8EB6D1"/>
                </a:solidFill>
                <a:latin typeface="AppleGothic"/>
                <a:ea typeface="AppleGothic"/>
                <a:cs typeface="AppleGothic"/>
              </a:rPr>
              <a:t>SWITCHGLOBE · 2026-09-03</a:t>
            </a:r>
          </a:p>
        </p:txBody>
      </p:sp>
    </p:spTree>
    <p:extLst>
      <p:ext uri="{BB962C8B-B14F-4D97-AF65-F5344CB8AC3E}">
        <p14:creationId xmlns:p14="http://schemas.microsoft.com/office/powerpoint/2010/main" val="18116717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934432-7280-4CE5-A3D9-CAED485D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00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1266D3-B29E-44AF-9AE6-B8AA619F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출발점은 ‘전역 성능을 로컬 실행으로 옮길 수 있는가’였다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E6B268-6D7F-4DEA-A7CF-BB5CB1D8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FD0E9C-4AA2-4D5A-A9E3-FE85AA35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4810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B2E1D9-28F4-404D-B8CE-8C09BF437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훈련 시점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261E5F-3B1E-46A7-BBBC-2814BFAE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전역 GNN-PPO 교사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E49627-4C9E-4E57-9D8D-3D040AED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4000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전체 그래프와 풍부한 상태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1-hop 이웃 + DROP 행동공간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강한 정책분포를 데이터로 생성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BD057E-FE96-44D6-8DF9-173BCB77D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571625"/>
            <a:ext cx="4810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7E6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9F9DAF-3DB9-49AE-8CB9-F5367AE58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1809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실행 시점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941733-5B99-4BCE-8A37-6C3282523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4003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분산 로컬 학생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3A33A0-F6CF-433E-BAF6-579EB743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181350"/>
            <a:ext cx="4000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자기 상태 + 현재 1-hop 이웃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가변 이웃 수·순서에 불변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전역 교사·중앙 서버 없이 즉시 결정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8C8866-75A8-4073-ABB2-57D82993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90512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5F4B8B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5F4B8B"/>
                </a:solidFill>
                <a:latin typeface="AppleGothic"/>
                <a:ea typeface="AppleGothic"/>
                <a:cs typeface="AppleGothic"/>
              </a:rPr>
              <a:t>오프라인 지식 전이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3B3FE3-3AC7-4DC9-9A38-F6063E0EB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333750"/>
            <a:ext cx="1381125" cy="438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F4B8B"/>
          </a:solidFill>
          <a:ln xmlns:a="http://schemas.openxmlformats.org/drawingml/2006/main" w="0">
            <a:solidFill>
              <a:srgbClr val="5F4B8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F7319E-DDE3-45EF-8ABA-AC43B50E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GLOBE ROUTING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44EF60-3B08-41A3-A507-46A67ABB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704752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59AEE1-2628-4A0A-9A70-8344FF074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00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26445B-96A7-4378-9866-135EC6C2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Phase 1–4가 GLOBE의 핵심 골격을 만들었다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ABEEF2-C4B1-43A9-94D3-34CDA64C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BEC7F1-BDE2-4815-8889-AB9A0A62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66875"/>
            <a:ext cx="247650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80143B-A498-490B-A25D-B6764A09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57375"/>
            <a:ext cx="1000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13335">
            <a:solidFill>
              <a:srgbClr val="D9E2EA"/>
            </a:solidFill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PHASE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F479BB-1F5A-47C2-A6E6-8C7B07339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FANET 환경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741742-A039-43C4-83A8-89173800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209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Random/GPSR · action mask · reward/metrics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909A13-0FB3-439F-8F43-B43A25AE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067050"/>
            <a:ext cx="4381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2EA"/>
          </a:solidFill>
          <a:ln xmlns:a="http://schemas.openxmlformats.org/drawingml/2006/main" w="0">
            <a:solidFill>
              <a:srgbClr val="D9E2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42EB42-9704-48CE-9DBC-1456FE41C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66875"/>
            <a:ext cx="247650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9E2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0A0064-DC49-47BC-B48A-559D4DDB0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57375"/>
            <a:ext cx="1000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13335">
            <a:solidFill>
              <a:srgbClr val="D9E2EA"/>
            </a:solidFill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PHASE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D6F84A-EB3B-438B-9D88-007B2677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28875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로컬 학생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693AAA-B644-43C0-A214-4D7689740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81350"/>
            <a:ext cx="209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shared MLP · invariant pooling · masked softmax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B85CCF-B418-421C-98F5-D6494FA4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67050"/>
            <a:ext cx="4381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2EA"/>
          </a:solidFill>
          <a:ln xmlns:a="http://schemas.openxmlformats.org/drawingml/2006/main" w="0">
            <a:solidFill>
              <a:srgbClr val="D9E2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DEF70E-9B56-45C6-8E6D-3DB982E46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66875"/>
            <a:ext cx="247650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9E2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174585-649F-48B1-97AB-CAD9CE2A2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57375"/>
            <a:ext cx="1000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13335">
            <a:solidFill>
              <a:srgbClr val="D9E2EA"/>
            </a:solidFill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PHASE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F4DB74-E3F4-47B8-B8FC-11AFB6905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28875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전역 교사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46E307-AE11-4124-B6D3-D9464D018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81350"/>
            <a:ext cx="209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GNN + PPO · 전체 토폴로지 지식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97DA03-57A4-437C-914A-9835B1DF8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67050"/>
            <a:ext cx="4381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2EA"/>
          </a:solidFill>
          <a:ln xmlns:a="http://schemas.openxmlformats.org/drawingml/2006/main" w="0">
            <a:solidFill>
              <a:srgbClr val="D9E2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F44EF4-EE65-45FC-9C83-483AE9A56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66875"/>
            <a:ext cx="247650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7E6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AA8C9B-0D52-4E04-81AF-3A3CE161B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857375"/>
            <a:ext cx="1000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B57"/>
          </a:solidFill>
          <a:ln xmlns:a="http://schemas.openxmlformats.org/drawingml/2006/main" w="13335">
            <a:solidFill>
              <a:srgbClr val="D9E2EA"/>
            </a:solidFill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PHASE 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62DA72-0CB2-4CD3-952A-003E13037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28875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오프라인 증류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083C54-E47E-4FC0-95FA-D9C23497F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81350"/>
            <a:ext cx="209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masked forward-KL · grouped split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A862D9-2F99-480A-A491-22E32A31D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286375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GLOBE의 원형 = 강한 전역 교사 + 누수 없는 오프라인 증류 + 엄격한 로컬 실행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C88C33-F85C-415B-8C45-C936C84C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GLOBE ROUTING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D9E5EC-272B-4E57-8461-619FBB591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333055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9AB67C-D96C-488C-A68A-A1A47A6E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00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31A9E2-1DB3-4CE6-916C-25C58ACB1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Phase 5–8은 ‘성능’보다 ‘일반화와 안정성’을 다듬었다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71C9EA-2B55-497C-8A64-A01E1CA6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71500" y="1666875"/>
          <a:ext xmlns:a="http://schemas.openxmlformats.org/drawingml/2006/main" cx="11049000" cy="3143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047750"/>
                <a:gridCol w="3429000"/>
                <a:gridCol w="3429000"/>
                <a:gridCol w="3143250"/>
              </a:tblGrid>
              <a:tr h="6286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Phase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추가한 것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연구 판단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최종 역할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Local PPO fine-tuning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추가 on-policy 보정 탐색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최종 핵심에서 제외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Multi-seed · cost · OOD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단일 평균 의존 축소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검증 규율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Curriculum · no node IDs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held-out 일반화 강화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교사/데이터 성숙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212B"/>
                          </a:solidFill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212B"/>
                          </a:solidFill>
                        </a:rPr>
                        <a:t>Geo-Residual · visited mask</a:t>
                      </a:r>
                    </a:p>
                  </a:txBody>
                  <a:tcPr marL="91440" marR="91440" marT="45720" marB="45720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212B"/>
                          </a:solidFill>
                        </a:rPr>
                        <a:t>기하 prior와 학습 점수 결합</a:t>
                      </a:r>
                    </a:p>
                  </a:txBody>
                  <a:tcPr marL="91440" marR="91440" marT="45720" marB="45720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212B"/>
                          </a:solidFill>
                        </a:rPr>
                        <a:t>정상 분기</a:t>
                      </a:r>
                    </a:p>
                  </a:txBody>
                  <a:tcPr marL="91440" marR="91440" marT="45720" marB="45720">
                    <a:solidFill>
                      <a:srgbClr val="E8F5E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55770F-FE45-4D2F-815E-5C78BA30E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91125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9E2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C0E16D-8C0B-416F-A685-D99BD56F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911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핵심 전환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91C875-77AD-4863-91A7-2041AA51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343525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Geo-Residual 학생이 이후 SwitchGLOBE의 ‘정상 분기’가 되었다.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0953BF-2BE3-4BD7-B3BD-033AE0A4A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GLOBE ROUTING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76AC4E-77ED-4898-B957-A4082966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09020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7FF4D2-11B1-4B55-A878-5C4275FA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00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38C6CF-409F-4E91-9ECA-415058472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Phase 9–12는 ‘다가오는 단절’을 별도 정책으로 다뤘다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74FAB0-52CC-457E-BAA1-DF32B9E2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F78004-9146-4FCB-9D81-64F7F8DC8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573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13335">
            <a:solidFill>
              <a:srgbClr val="D9E2EA"/>
            </a:solidFill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PHASE 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D77D4A-1DFA-4676-AAD8-1AFFD84DB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581150"/>
            <a:ext cx="252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Risk feature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834FBB-0068-455D-9FF7-C1DA6BF2D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002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margin · lifetime · onward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009D88-41C3-42BC-81EC-F3C31BE38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562100"/>
            <a:ext cx="261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9E2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6DF3B5-8E34-45E7-81A4-17B86C9AF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657350"/>
            <a:ext cx="223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275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위험 신호 정의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967BEF-7ADF-4D63-8947-C1A13C0D5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860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13335">
            <a:solidFill>
              <a:srgbClr val="D9E2EA"/>
            </a:solidFill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PHASE 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FD0BC8-E8B5-42CC-8800-4642385D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609850"/>
            <a:ext cx="252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External RL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224527-3BBC-4076-B3A8-C992C00B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289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외부 기준선 suite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02D530-6FB0-44BF-B5AA-F80E392C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590800"/>
            <a:ext cx="261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9E2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73FBE6-5C02-4F7F-B5C5-48C1EE72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686050"/>
            <a:ext cx="223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275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비교 범위 확대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A1B4FD-76A3-4107-8DD8-EB3D06EBD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147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13335">
            <a:solidFill>
              <a:srgbClr val="D9E2EA"/>
            </a:solidFill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PHASE 11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AA51D7-8901-4FF0-83B6-009ADFBA3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638550"/>
            <a:ext cx="252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Predictive 학생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918BF5-6F25-4683-8796-FB712B5C5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576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future link survival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2E51C7-A5BD-4073-AA46-E29E26D36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619500"/>
            <a:ext cx="261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9E2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3BA9B1-638A-4141-8F53-1BF715C3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714750"/>
            <a:ext cx="223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275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예측 분기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1C8306-D555-4F9C-AB06-C858AD95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434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B57"/>
          </a:solidFill>
          <a:ln xmlns:a="http://schemas.openxmlformats.org/drawingml/2006/main" w="13335">
            <a:solidFill>
              <a:srgbClr val="D9E2EA"/>
            </a:solidFill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PHASE 12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AB9041-1C0D-4130-AE9D-5AEE8FEF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252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Risk switch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4EA492-9C28-457E-991B-C483DA8BE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6863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정상/예측 행동을 상태별 선택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ABCE11-F149-4B94-9067-E8748BE91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648200"/>
            <a:ext cx="261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9DDC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DD6F50-67C8-4724-90D3-A2A81A904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743450"/>
            <a:ext cx="223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275" b="1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최종 Exact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C9C2AD-48B0-4DAC-9C37-D8D87C57F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753100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5F4B8B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5F4B8B"/>
                </a:solidFill>
                <a:latin typeface="AppleGothic"/>
                <a:ea typeface="AppleGothic"/>
                <a:cs typeface="AppleGothic"/>
              </a:rPr>
              <a:t>항상 Predictive를 쓰지 않고, 위험한 순간에만 전환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48DE0E-C04F-437A-AB41-7AF0D70D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GLOBE ROUTING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CA933E-3620-4746-A60A-DFA94AD0F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157949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1CB9FA-B37C-4CFC-9535-00673405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00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5B53B5-A17A-4FB3-9C3C-0D5E36F9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Git 연표는 6월의 통합 시작에서 9월의 최종 프레이밍으로 이어진다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6484F8-A690-4AC2-B81E-DD7D4E9A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04A2E4-6D92-4C6B-B0D8-645F6CD14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10287000" cy="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D05C24-2285-430C-BBE1-BD487D490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765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94F783-00A3-45AF-9C06-03FE477F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2887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06.19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19740A-BB4C-47C7-B215-EA760CCE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38550"/>
            <a:ext cx="1428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최초 workspace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Phase 1–13 포함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E82B55-11B1-4673-BFBE-BFA3462DD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0765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9976E2-137C-4625-B536-5B6C6064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42887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06.28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0EB7D7-1B5D-40CA-A3B4-05A3D673C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638550"/>
            <a:ext cx="1428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Phase 13 · 초안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교수용 26장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3C27DA-30E4-47C5-9846-3EC3CDDA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765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D75246-2DCC-4270-9C58-34EDAA14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42887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06.29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2407F8-DC4A-4C3A-A7B5-0B36BFE7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638550"/>
            <a:ext cx="1428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Colab 실행·회수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안정화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0964EF-19DA-48E6-978D-A88A9FC0E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0765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7BB271-FCFA-4174-AB05-3A94FE92A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42887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08.24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9F048D-A0F1-40C7-B0B8-09046A9B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638550"/>
            <a:ext cx="1428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원고·분석 확대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소스 재구성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AC91A3-1572-4716-97F8-52DF9769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765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D6854E-CFB4-4CD8-B3A8-E26EAF248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2887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08.30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A341A1-1C8E-4380-871B-E2BAFE2B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638550"/>
            <a:ext cx="1428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SwitchGLOBE 재초점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외부 비교 복구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13D486-2A64-4430-A806-CBA315192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30765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A97D8B-0543-484F-9FD9-83C11AB1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42887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08.31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8E2129-21CB-41BB-94BC-AD850AC0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638550"/>
            <a:ext cx="1428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Fast · latency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EVO · ablation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7328E3-0906-4DAE-A9E9-C02396F1D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0765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7B5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22A3FC-D209-4170-A4A2-89D22FCC6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42887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09.03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FCB64A-1E6F-48FF-AECE-C59DF778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638550"/>
            <a:ext cx="1428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Exact 최종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Fast trade-off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9186CC-9123-4FD5-8975-BB0015ADE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E4B65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EFCCF1-AD9E-49AE-B918-B84F5A249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00650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A66000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A66000"/>
                </a:solidFill>
                <a:latin typeface="AppleGothic"/>
                <a:ea typeface="AppleGothic"/>
                <a:cs typeface="AppleGothic"/>
              </a:rPr>
              <a:t>주의: 서로 다른 브랜치에 cherry-pick된 동일 변경은 연구 사건을 중복 계산하지 않았다.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9ED0FA-436F-4E33-8DD3-8A07F4AAD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GLOBE ROUTING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E7C28E-65ED-4A15-8923-D42AC716C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79771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41FE0A-AD6B-4881-80EB-52050793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00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74A879-6FCC-42B6-B45D-374857E1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초기 시각자료에도 핵심 골격은 이미 나타나 있었다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B3F182-4CBA-481B-A84A-4D489131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9345fb60c84e68"/>
          <a:stretch xmlns:a="http://schemas.openxmlformats.org/drawingml/2006/main"/>
        </p:blipFill>
        <p:spPr>
          <a:xfrm xmlns:a="http://schemas.openxmlformats.org/drawingml/2006/main">
            <a:off x="571500" y="1917091"/>
            <a:ext cx="6858000" cy="3500067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CD7E96-FE62-42A3-A6E1-0CFFAED0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619250"/>
            <a:ext cx="376237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9E2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96C0C7-20DE-4906-BEB7-1E25A8A6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5737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11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유지된 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0EBE8A-91E7-4174-904E-19E136C3B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86000"/>
            <a:ext cx="314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350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오프라인 전역 교사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350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로컬 학생 정책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350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위험 기반 분기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350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엄격한 분산 실행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FF6E0A-8E52-420F-983A-00831FA19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100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11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93A32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A93A32"/>
                </a:solidFill>
                <a:latin typeface="AppleGothic"/>
                <a:ea typeface="AppleGothic"/>
                <a:cs typeface="AppleGothic"/>
              </a:rPr>
              <a:t>후속 교정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FA764C-4A58-4081-912B-9E1973186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72000"/>
            <a:ext cx="314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27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P+를 Exact와 분리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27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입력 byte 해석 수정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A52FE8-BB7B-472E-8AC6-95215A2CD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GLOBE ROUTING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FCF6C1-AAF8-4BA8-BDB4-BEBC812E5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4802946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23B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4E4C67-D038-407B-9900-D808F147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52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800" b="1">
                <a:solidFill>
                  <a:srgbClr val="73B7E6"/>
                </a:solidFill>
                <a:latin typeface="AppleGothic"/>
                <a:ea typeface="AppleGothic"/>
                <a:cs typeface="AppleGothic"/>
              </a:defRPr>
            </a:pPr>
            <a:r>
              <a:rPr sz="4800" b="1">
                <a:solidFill>
                  <a:srgbClr val="73B7E6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D2CF5E-6187-4DF0-A05B-F54D3F284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II. 최종 제안기법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963A75-6506-49B3-87EC-8B03F1F07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0"/>
            <a:ext cx="952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C9DCEB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C9DCEB"/>
                </a:solidFill>
                <a:latin typeface="AppleGothic"/>
                <a:ea typeface="AppleGothic"/>
                <a:cs typeface="AppleGothic"/>
              </a:rPr>
              <a:t>SwitchGLOBE Exact의 학습 계보와 실행 규칙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7E65F7-5CC7-4A14-A95D-5EC04FFF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8EB6D1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8EB6D1"/>
                </a:solidFill>
                <a:latin typeface="AppleGothic"/>
                <a:ea typeface="AppleGothic"/>
                <a:cs typeface="AppleGothic"/>
              </a:rPr>
              <a:t>SWITCHGLOBE · 2026-09-03</a:t>
            </a:r>
          </a:p>
        </p:txBody>
      </p:sp>
    </p:spTree>
    <p:extLst>
      <p:ext uri="{BB962C8B-B14F-4D97-AF65-F5344CB8AC3E}">
        <p14:creationId xmlns:p14="http://schemas.microsoft.com/office/powerpoint/2010/main" val="201860404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69E148-C143-4292-90C0-37E219EA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00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A2B7BB-7066-4B12-8C7A-302FC7BD3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최종 계보: 교사에서 두 학생을 거쳐 위험 스위치로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75BDC6-3D9E-4430-9631-117E0E29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356014-B529-407E-BE23-D7D71BB3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52625"/>
            <a:ext cx="2381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8D6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E46BB8-B6BE-4232-A6BE-4E2C43B7B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431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Phase 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B44B8D-7F5B-44C0-8865-6061CF0E8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1952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GNN-PPO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Global Teacher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2B79A5-7DA6-459B-9C6A-6BCC9B6A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381125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9DDC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1C4D5-1E66-45BF-BA30-619BF4EE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811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Phase 8 · 정상 분기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8E4C63-D4DD-49A7-8451-B9DC34B1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288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791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Geo-Residual Student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66A44F-76D8-4FA4-880B-AA8EB8824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4290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7CE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B766C1-F658-45D3-8952-666FE003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2902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F4B8B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F4B8B"/>
                </a:solidFill>
                <a:latin typeface="AppleGothic"/>
                <a:ea typeface="AppleGothic"/>
                <a:cs typeface="AppleGothic"/>
              </a:rPr>
              <a:t>Phase 11 · 예측 분기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90C95F-F71D-49A1-8577-E59E6EBA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767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Predictive Student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ABA81E-8225-4582-B899-45FE9289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33337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5D"/>
          </a:solidFill>
          <a:ln xmlns:a="http://schemas.openxmlformats.org/drawingml/2006/main" w="13335">
            <a:solidFill>
              <a:srgbClr val="D9E2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2D0DB8-4BF4-4766-A386-1F6C8019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4312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86C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86CFFF"/>
                </a:solidFill>
                <a:latin typeface="AppleGothic"/>
                <a:ea typeface="AppleGothic"/>
                <a:cs typeface="AppleGothic"/>
              </a:rPr>
              <a:t>Phase 12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A505D3-A0F0-41CC-8DCA-302A7016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717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Risk-based Switch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91AD6D-E94D-4200-ABF5-5CBBC690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908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DDEAF3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DDEAF3"/>
                </a:solidFill>
                <a:latin typeface="AppleGothic"/>
                <a:ea typeface="AppleGothic"/>
                <a:cs typeface="AppleGothic"/>
              </a:rPr>
              <a:t>최종 행동 = normal 또는 predictive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F8BBE2-EDA6-4EA8-A9D9-DF2BB71E0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095500"/>
            <a:ext cx="10477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35A6E3-600E-41CB-8FCA-FFBAF86D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048125"/>
            <a:ext cx="10477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F4B8B"/>
          </a:solidFill>
          <a:ln xmlns:a="http://schemas.openxmlformats.org/drawingml/2006/main" w="0">
            <a:solidFill>
              <a:srgbClr val="5F4B8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6708A5-F8F2-4D63-AD40-F56C08E3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095500"/>
            <a:ext cx="11906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7B57"/>
          </a:solidFill>
          <a:ln xmlns:a="http://schemas.openxmlformats.org/drawingml/2006/main" w="0">
            <a:solidFill>
              <a:srgbClr val="177B5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67852D-7306-4714-950D-166D76B6B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048125"/>
            <a:ext cx="11906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F4B8B"/>
          </a:solidFill>
          <a:ln xmlns:a="http://schemas.openxmlformats.org/drawingml/2006/main" w="0">
            <a:solidFill>
              <a:srgbClr val="5F4B8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801E7A-2157-4DCF-9AEE-7CFC98D8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625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A93A32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A93A32"/>
                </a:solidFill>
                <a:latin typeface="AppleGothic"/>
                <a:ea typeface="AppleGothic"/>
                <a:cs typeface="AppleGothic"/>
              </a:rPr>
              <a:t>실행 시 교사는 제거된다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2ADE37-90CF-4502-9382-FC3A40369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7621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masked forward-KL 증류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438732-83E4-419D-B874-1D18226A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GLOBE ROUTING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A9E7C0-59BC-42F1-97EA-190D9FA78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7315218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7DCABA-3E26-4C7E-92E1-35B2C8E09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00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322E2B-EE3B-431E-90D9-26583B36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실행은 1-hop 로컬 관측과 DROP만 사용한다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3CC248-0860-471C-9608-03AD38C04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76A3BE-F203-4CB2-8DB3-F13A577F5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7048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62E1C5-EEE3-438C-BD06-1C2E952C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7642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11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로컬 관측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B2D6D3-C90D-42A3-BFC5-EB5AE03D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9E2EA"/>
            </a:solidFill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자기 상태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16ABF9-6481-4380-B900-4A8539826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3622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위치·목적지 상대 정보·진행 상태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735E6F-F4C9-42E0-96CD-1F8CD79CB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670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9E2EA"/>
            </a:solidFill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이웃 집합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606B44-8C6B-4A58-B400-B684EC0F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480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가변 길이 1-hop 특징; 순서 불변 pooling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22E427-0A2F-4E03-B279-EC8B6736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52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9E2EA"/>
            </a:solidFill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링크 위험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D2313A-98AA-40CB-8B91-C50D346F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7338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margin · expected lifetime · onward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3C5281-8A91-455C-90DB-4C8917215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386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9E2EA"/>
            </a:solidFill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방문 정보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4AD82D-7474-4798-99A7-01A9D7AB7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4196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visited mask로 루프·회귀 억제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4DD54A-7441-4751-902F-B86421DA4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619250"/>
            <a:ext cx="3571875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5D"/>
          </a:solidFill>
          <a:ln xmlns:a="http://schemas.openxmlformats.org/drawingml/2006/main" w="13335">
            <a:solidFill>
              <a:srgbClr val="D9E2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7A095D-AAC5-4A12-9492-B034CBE21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85950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11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86CFFF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86CFFF"/>
                </a:solidFill>
                <a:latin typeface="AppleGothic"/>
                <a:ea typeface="AppleGothic"/>
                <a:cs typeface="AppleGothic"/>
              </a:rPr>
              <a:t>행동공간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A68A7C-BBD6-42E6-ACB6-0BC90580C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571750"/>
            <a:ext cx="30003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1-hop neighbor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+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DROP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BB85C0-6746-40D1-AA32-E67101D8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514850"/>
            <a:ext cx="3000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C9DCEB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C9DCEB"/>
                </a:solidFill>
                <a:latin typeface="AppleGothic"/>
                <a:ea typeface="AppleGothic"/>
                <a:cs typeface="AppleGothic"/>
              </a:rPr>
              <a:t>전역 graph · node ID · 중앙 서버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C9DCEB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C9DCEB"/>
                </a:solidFill>
                <a:latin typeface="AppleGothic"/>
                <a:ea typeface="AppleGothic"/>
                <a:cs typeface="AppleGothic"/>
              </a:rPr>
              <a:t>실행 시 불필요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349B9C-8E33-4A45-A245-95F1853D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GLOBE ROUTING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00B842-3B59-46E5-9FBA-172ABFC11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54001072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92CF7E-AA37-4551-AFFD-CB42AB94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00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D4479A-5FFA-4DA0-9B1F-EE79D302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증류는 행동 하나가 아니라 교사의 분포를 보존한다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0CB6E5-15E5-452E-8C9B-2F19FF74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3C4CAC-BA4D-45E3-B4B0-C1859ED48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5429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8D6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B38CC0-5B4B-49AE-90BB-1AF3D265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Masked forward-KL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37C6AD-5812-49C2-92E6-028881981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>
                <a:solidFill>
                  <a:srgbClr val="5F4B8B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5F4B8B"/>
                </a:solidFill>
                <a:latin typeface="AppleGothic"/>
                <a:ea typeface="AppleGothic"/>
                <a:cs typeface="AppleGothic"/>
              </a:rPr>
              <a:t>L = KL(q_teacher || p_student)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CB50DB-5B79-4F0A-8398-6ABFE2F8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76625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350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유효 action mask 적용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350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교사의 불확실성과 대안 순위 보존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350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hard action imitation보다 풍부한 감독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84DED8-7D14-46E2-AF1A-AE1DB9DA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619250"/>
            <a:ext cx="5191125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9DDC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B6DAE8-3AD0-4F85-87F3-4C19C2C14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누수 방지 분할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954B44-DECB-41D2-B241-85B175A87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619375"/>
            <a:ext cx="4619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scenario + episode seed 그룹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BD8355-0F5C-478D-8697-E03C3D66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476625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350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상관된 transition을 서로 다른 split에 섞지 않음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350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teacher/oracle/risk-oracle 감독은 설정으로 보강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350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Phase 12가 직접 PPO 재학습된 것처럼 쓰지 않음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E41B76-302B-4588-A89D-4443720F2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GLOBE ROUTING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F870C1-F117-49C5-8D0B-8E751897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72757960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A701E2-6B2C-4C7F-9D96-BDD4944ED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00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0EDA93-5FC3-467D-BE49-E3E349D0B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두 학생은 의도적으로 다른 귀납편향을 가진다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3FFC39-FCBD-460D-8AD4-1DF18A583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46D2DE-0583-4906-8BD9-4274EEF6D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52387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9DD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CC9AD7-562F-4CDE-841A-3D96F4F8B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785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B57"/>
          </a:solidFill>
          <a:ln xmlns:a="http://schemas.openxmlformats.org/drawingml/2006/main" w="13335">
            <a:solidFill>
              <a:srgbClr val="D9E2EA"/>
            </a:solidFill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NORMAL BRANCH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2B8C65-DA80-44AD-9CD6-D9B60148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40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Geo-Residual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B0A956-95D1-4572-A3BF-06ED8378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4381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학습 점수 + 목적지 방향의 기하 prior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visited mask로 회귀 억제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대부분의 정상 상태에서 안정적 기본값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Phase 8 checkpoint 계보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B34C9F-1A99-4A42-84AC-AE561125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52387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7CE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7596ED-05C5-4971-B51A-6F888D3A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8478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4B8B"/>
          </a:solidFill>
          <a:ln xmlns:a="http://schemas.openxmlformats.org/drawingml/2006/main" w="13335">
            <a:solidFill>
              <a:srgbClr val="D9E2EA"/>
            </a:solidFill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PREDICTIVE BRANCH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036420-003F-4864-9F5A-9985F6FD6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3812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40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Predictive Student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BD21EF-F12E-40CB-98A1-E8D03446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43250"/>
            <a:ext cx="4381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현재가 아닌 미래 링크 생존 가능성 강조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predictive-break 시나리오를 겨냥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geo residual weight = 0으로 역할 분리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Phase 11 checkpoint 계보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365C97-5DAF-4AB9-8FD2-C0B4B6D7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GLOBE ROUTING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09F004-1A74-4EA9-B900-A4B52F064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4245821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D188CE-7FA4-44A0-80BC-9A264A9B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00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897C67-51EB-4604-BD41-9190FB70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위험 점수는 세 가지 ‘부족분’의 합이다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974B80-BAF3-47FC-B1A5-3C954204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3E907B-5D97-4B7C-9B28-90A80241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1049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5D"/>
          </a:solidFill>
          <a:ln xmlns:a="http://schemas.openxmlformats.org/drawingml/2006/main" w="1333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EBD730-50EF-441C-B25C-B67BAA41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116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Dᵢ = ReLU(margin_gate − marginᵢ) + ReLU(lifetime_gate − lifetimeᵢ) + ReLU(onward_gate − onwardᵢ)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973DE1-CCD2-4694-9CD7-F643A1FC9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95625"/>
            <a:ext cx="2476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9E2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EA6C61-28A0-4A02-8C5E-292C0282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MARGIN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579F8A-62C2-49F7-96B7-9FF0C74E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957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2850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0.04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0AF7D6-3B06-4961-9591-539C37FD1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행동 우세 여유가 작은가?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7F4FB4-38FF-4A74-8C49-62EE72EE4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95625"/>
            <a:ext cx="2476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3BB687-E535-4688-AF43-DE68F55B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147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LIFETIME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25AE6-9E3D-43C8-A8F4-B0FFEC1A3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957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2850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0.20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66A024-4640-41C1-A054-7F66BD9CE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2912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링크가 충분히 오래 사는가?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5AAFE1-E103-46B7-8E40-FEB326978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95625"/>
            <a:ext cx="2476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9E2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6A52D5-0B30-40AB-AE7E-D642CA59F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147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ONWARD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4EFB86-210B-4701-AD13-959A7962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957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2850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0.20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A90F2B-363E-4151-9ACE-85B8D0D03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2912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그 다음 전달 가능성이 있는가?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A2313E-5775-4E17-9491-C98668DF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95625"/>
            <a:ext cx="2476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9E2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15CB62-E66B-4DC4-8D10-BB97B9E3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147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SWITCH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627992-4B1D-4EE0-B303-4A8425733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957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2850" b="1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0.05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37CD45-E627-43EF-9459-9B7D3147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42912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정상 행동 위험 임계값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66B1A9-6088-4D0A-B266-FD924AC66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3911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500" b="1">
                <a:solidFill>
                  <a:srgbClr val="5F4B8B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F4B8B"/>
                </a:solidFill>
                <a:latin typeface="AppleGothic"/>
                <a:ea typeface="AppleGothic"/>
                <a:cs typeface="AppleGothic"/>
              </a:rPr>
              <a:t>추가 safety gain 문턱 = 0.10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FE741F-3336-4CA1-86AD-E8C7D8191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GLOBE ROUTING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6124E6-2C80-4301-BD47-FD71ED19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7909053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92B73D-572B-468D-893C-CFF25433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00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243CFD-3032-4719-8B9E-DF68792A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스위치는 보수적으로 Predictive를 호출한다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3F1187-259D-4901-A2CA-E670BA9A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40F8E8-9CC5-40D7-AA47-AA396018E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0478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EE6BE7-7178-4BF0-B84A-255930848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24075"/>
            <a:ext cx="342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5D"/>
          </a:solidFill>
          <a:ln xmlns:a="http://schemas.openxmlformats.org/drawingml/2006/main" w="13335">
            <a:solidFill>
              <a:srgbClr val="D9E2EA"/>
            </a:solidFill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EDDB31-8550-4CA1-8F4F-3F814E043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62175"/>
            <a:ext cx="1209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Action mask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C30A2C-8521-4805-91FE-3197D47A7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33675"/>
            <a:ext cx="1628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1-hop + DROP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AC0663-F226-4D64-8DDC-653DF389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52625"/>
            <a:ext cx="20478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9E2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24770C-4A80-4762-BC23-49AB451AB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24075"/>
            <a:ext cx="342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5D"/>
          </a:solidFill>
          <a:ln xmlns:a="http://schemas.openxmlformats.org/drawingml/2006/main" w="13335">
            <a:solidFill>
              <a:srgbClr val="D9E2EA"/>
            </a:solidFill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221B42-70DF-4230-8A12-7037213A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62175"/>
            <a:ext cx="1209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Normal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D20EFF-6439-438B-B663-052E25D0C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33675"/>
            <a:ext cx="1628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aᴺ 계산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196A6C-B2C8-420E-81ED-89F571163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505075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BCE5A2-AC9D-43A8-AF3B-5E0F5C8E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52625"/>
            <a:ext cx="20478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9E2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FF650D-D14B-45C3-B9E3-784B3704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124075"/>
            <a:ext cx="342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5D"/>
          </a:solidFill>
          <a:ln xmlns:a="http://schemas.openxmlformats.org/drawingml/2006/main" w="13335">
            <a:solidFill>
              <a:srgbClr val="D9E2EA"/>
            </a:solidFill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143AEA-A30D-4F6C-B13B-98D6C724A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62175"/>
            <a:ext cx="1209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Predictive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4B5C35-8957-4E9D-AF60-5E813A0B3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733675"/>
            <a:ext cx="1628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aᴾ 계산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731315-CB5E-4432-A60B-B0DC8B34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505075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6D57FE-E1F8-4226-9726-000EA84C3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3429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8D6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7081A2-67C5-4F29-9A96-19DF319D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24075"/>
            <a:ext cx="342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13335">
            <a:solidFill>
              <a:srgbClr val="D9E2EA"/>
            </a:solidFill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C102D4-FDA4-4B5B-8AED-5A5963BE2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62175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Risk compare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76F276-C15C-4D41-BB72-8F77321E0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33675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Dᴺ · Dᴾ · safety gain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B569B2-83DB-40AE-94E7-A40F99FF3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505075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D3050E-4CD9-4AA9-9AD0-9CA13BE0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95750"/>
            <a:ext cx="8001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9DDC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858206-36EC-47FF-BD71-AA9E88C09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3053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Predictive로 전환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DCFBCB-0DE5-45FE-98BC-17EE3D355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10125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normal=DROP  또는  Dᴺ&gt;0.05  또는  (행동 불일치 ∧ safety gain&gt;0.10 ∧ Dᴾ&lt;Dᴺ)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461B2A-092A-43C9-BCB9-5AB96BFE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GLOBE ROUTING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34183A-5FBF-4A2E-AD88-6415885A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523239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23B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100810-DE31-473A-A548-F0AC2F75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52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800" b="1">
                <a:solidFill>
                  <a:srgbClr val="73B7E6"/>
                </a:solidFill>
                <a:latin typeface="AppleGothic"/>
                <a:ea typeface="AppleGothic"/>
                <a:cs typeface="AppleGothic"/>
              </a:defRPr>
            </a:pPr>
            <a:r>
              <a:rPr sz="4800" b="1">
                <a:solidFill>
                  <a:srgbClr val="73B7E6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8060DA-4C45-4157-94FF-F8606BC1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III. 검증과 결과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7D639D-4D95-492B-B252-53560473D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0"/>
            <a:ext cx="952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C9DCEB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C9DCEB"/>
                </a:solidFill>
                <a:latin typeface="AppleGothic"/>
                <a:ea typeface="AppleGothic"/>
                <a:cs typeface="AppleGothic"/>
              </a:rPr>
              <a:t>5 seeds · 14 scenarios · 외부 기준선 · 동일 세션 latency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67EED0-8804-4B6F-815D-4EA6948F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8EB6D1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8EB6D1"/>
                </a:solidFill>
                <a:latin typeface="AppleGothic"/>
                <a:ea typeface="AppleGothic"/>
                <a:cs typeface="AppleGothic"/>
              </a:rPr>
              <a:t>SWITCHGLOBE · 2026-09-03</a:t>
            </a:r>
          </a:p>
        </p:txBody>
      </p:sp>
    </p:spTree>
    <p:extLst>
      <p:ext uri="{BB962C8B-B14F-4D97-AF65-F5344CB8AC3E}">
        <p14:creationId xmlns:p14="http://schemas.microsoft.com/office/powerpoint/2010/main" val="31544116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A98D6A-C2DD-40A8-A4A8-D237E6ED5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00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9F5FDF-22D0-4EAD-A5B4-3B3E912D2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최종 검증은 seed·시나리오·방법을 모두 교차했다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B0CDA4-C13A-4787-B8E5-3438A6C5C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7BED03-54C0-4D82-A373-C2651230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66875"/>
            <a:ext cx="0" cy="10668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2E74B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C358A8-A0BE-4020-AEE1-C5C57CE88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47825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SEEDS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6E4034-D601-4784-BCD6-A4944C230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2152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E03AB0-EED3-41CA-8B39-9EF38A4B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42 · 77 · 123 · 314 · 2718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597D7A-D6FF-41C4-BFB6-9C03DC307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66875"/>
            <a:ext cx="0" cy="10668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2E74B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E4AB5A-016D-4A44-9C42-993B5C131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647825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SCENARIOS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D4DC37-F4B1-47DE-BE96-982F9C852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943100"/>
            <a:ext cx="2152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14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A6F3FC-4D7A-4FAB-B306-34BB98357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524125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이동성 · 손실 · 규모 · 구조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FFD791-50BE-444F-B7D8-1AB4F607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666875"/>
            <a:ext cx="0" cy="10668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2E74B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C224E6-7549-43C9-8791-30B218DF2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647825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EPISODES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D45177-7270-4240-BC45-9BB990CD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943100"/>
            <a:ext cx="2152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200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1D8916-DF17-4EB2-9BF1-F0FF3DF5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524125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method × seed × scenario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58A18C-5ED3-400D-8B46-A3743713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66875"/>
            <a:ext cx="0" cy="10668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A3F027-3830-453D-9C11-07CEA780D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647825"/>
            <a:ext cx="3105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FINAL EXTERNAL ROWS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052DBB-0287-4039-9AD2-A7808695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43100"/>
            <a:ext cx="3105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98,000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DD05BF-F27D-4389-B6D1-35FFE38A6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24125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7 methods · duplicate 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1CB9F5-EE57-4665-8277-E16F0A4E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81375"/>
            <a:ext cx="5334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9E2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E84FBB-CC4D-4982-A492-5419C76D6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004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시나리오 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079275-B6F9-4166-B136-5DB595503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476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27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held-out · sparse · node 10/16/24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27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link loss · loss 30%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27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fast/extreme mobility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27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structural hole · predictive break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253408-B24A-4336-B162-76DFE5A6D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81375"/>
            <a:ext cx="5334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9DDC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784C81-7BD1-4084-ABBD-279BCED16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004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무결성 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123A50-EC00-4943-93E6-5D11D943A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00500"/>
            <a:ext cx="476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27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490 summaries · duplicate 0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27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CPU spot check 210 episode · mismatch 0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27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Phase C 84,000 rows · 420 summaries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27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95% CI across seeds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CA8A1C-3FC1-4BEC-9B3F-FABE421F3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GLOBE ROUTING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9CA2AF-A5E7-4930-8AB2-CDC1C281B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59895106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5B8EBB-F33D-4AB9-A555-BDD966F4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00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8E783A-947F-460B-8997-7D8A21355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Exact는 신뢰성 3개 지표와 에너지에서 1위였다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412059-5D6C-4144-A305-9B9D8583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BAB819-D32E-4F50-A930-D4076AF5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0" cy="10668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FF99CE-6476-4C8A-B80A-155E0D790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CONNECTED PDR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B64E70-187F-46E8-9641-52DBD76C0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90725"/>
            <a:ext cx="2343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0.9053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91595C-9A65-49A5-845A-0F7ADBCFD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2343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best · ±0.0014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931FE4-0F51-44FD-8C8A-1412EC836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14500"/>
            <a:ext cx="0" cy="10668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75FC22-BF99-4834-9304-4B75D283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695450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OVERALL PDR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17B4C3-56F5-4178-BA8F-561BBFB6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990725"/>
            <a:ext cx="2343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0.8542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BB110B-D544-43A3-8D3D-80F6EEE04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571750"/>
            <a:ext cx="2343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best · ±0.0015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751498-5DC6-4CE4-B454-04D574D4D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0" cy="10668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555180-EDC6-437F-B498-CE1819953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95450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DEADLINE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42F01B-3BEF-4D9D-9E9F-5D662FA61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90725"/>
            <a:ext cx="2343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0.8376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6A828D-F176-4C73-A839-E573209B9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71750"/>
            <a:ext cx="2343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best · ±0.0014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F98D6D-2E34-435F-9043-60F7DB12B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14500"/>
            <a:ext cx="0" cy="10668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7637CC-7C61-4847-B6B3-EFB175664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695450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ENERGY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A1BDA0-148B-49B0-81AF-859DBB711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990725"/>
            <a:ext cx="2533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2.2279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507223-C34C-458B-B0F3-2108C468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71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best · ±0.0029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6F60F7-6EA2-4E93-AFAB-EBFD95843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0"/>
            <a:ext cx="52863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F0C5C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397F8D-2929-42B7-8C18-EBFE7433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74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A93A32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A93A32"/>
                </a:solidFill>
                <a:latin typeface="AppleGothic"/>
                <a:ea typeface="AppleGothic"/>
                <a:cs typeface="AppleGothic"/>
              </a:rPr>
              <a:t>P95 지연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CCA289-330C-4E26-AECB-D3DC42A13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481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77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4.2643 steps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D081B2-BF00-424F-B248-93170715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98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OLSR 3.1393보다 느림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F20FFC-BBF3-4936-931F-52A983005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29000"/>
            <a:ext cx="52863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F2D49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E487D7-D039-4C7D-85F7-A4F56602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638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74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A66000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A66000"/>
                </a:solidFill>
                <a:latin typeface="AppleGothic"/>
                <a:ea typeface="AppleGothic"/>
                <a:cs typeface="AppleGothic"/>
              </a:rPr>
              <a:t>Policy input bytes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A5FCC2-68D9-4B81-BEF9-D30DA203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0481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77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4,821.41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D09136-2332-499A-868C-C1E13076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68630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98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control-plane overhead가 아님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7290A3-FA26-46C3-90A4-88BC8649F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GLOBE ROUTING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E10D2E-D18F-480D-BFDD-96F3B3EE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47391339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56A24C-14D7-41E0-B40D-B8F726913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00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5B5573-D639-4F52-82AD-0B52B4F67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8개 방법 전체 비교: 무엇을 이겼고 무엇을 못 이겼는가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1D25D4-9980-406A-8D1E-3904651EA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71500" y="1504950"/>
          <a:ext xmlns:a="http://schemas.openxmlformats.org/drawingml/2006/main" cx="11049000" cy="4095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381250"/>
                <a:gridCol w="1381125"/>
                <a:gridCol w="1381125"/>
                <a:gridCol w="1428750"/>
                <a:gridCol w="1333500"/>
                <a:gridCol w="1428750"/>
                <a:gridCol w="1714500"/>
              </a:tblGrid>
              <a:tr h="455083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Conn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Overall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Deadline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P95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Energy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Input B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AODV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.7982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.7357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.7357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3.857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15.420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143</a:t>
                      </a:r>
                    </a:p>
                  </a:txBody>
                  <a:tcPr marL="91440" marR="91440" marT="45720" marB="45720"/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OLSR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.7657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.7039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.7039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3.139</a:t>
                      </a:r>
                    </a:p>
                  </a:txBody>
                  <a:tcPr marL="91440" marR="91440" marT="45720" marB="45720">
                    <a:solidFill>
                      <a:srgbClr val="FFF3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27.164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138</a:t>
                      </a:r>
                    </a:p>
                  </a:txBody>
                  <a:tcPr marL="91440" marR="91440" marT="45720" marB="45720">
                    <a:solidFill>
                      <a:srgbClr val="FFF3D9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Greedy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.6832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.6418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.6371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3.568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25.761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2,284</a:t>
                      </a:r>
                    </a:p>
                  </a:txBody>
                  <a:tcPr marL="91440" marR="91440" marT="45720" marB="45720"/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Evo-QGeo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.8869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.8424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.8154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4.557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2.248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6,452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RDQN-HERP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.7251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.6821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.5996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6.163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3.348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4,977</a:t>
                      </a:r>
                    </a:p>
                  </a:txBody>
                  <a:tcPr marL="91440" marR="91440" marT="45720" marB="45720"/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GAT-GRU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.6758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.6337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.5817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5.494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13.191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4,451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212B"/>
                          </a:solidFill>
                        </a:rPr>
                        <a:t>Exact</a:t>
                      </a:r>
                    </a:p>
                  </a:txBody>
                  <a:tcPr marL="91440" marR="91440" marT="45720" marB="45720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212B"/>
                          </a:solidFill>
                        </a:rPr>
                        <a:t>.9053</a:t>
                      </a:r>
                    </a:p>
                  </a:txBody>
                  <a:tcPr marL="91440" marR="91440" marT="45720" marB="45720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212B"/>
                          </a:solidFill>
                        </a:rPr>
                        <a:t>.8542</a:t>
                      </a:r>
                    </a:p>
                  </a:txBody>
                  <a:tcPr marL="91440" marR="91440" marT="45720" marB="45720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212B"/>
                          </a:solidFill>
                        </a:rPr>
                        <a:t>.8376</a:t>
                      </a:r>
                    </a:p>
                  </a:txBody>
                  <a:tcPr marL="91440" marR="91440" marT="45720" marB="45720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212B"/>
                          </a:solidFill>
                        </a:rPr>
                        <a:t>4.264</a:t>
                      </a:r>
                    </a:p>
                  </a:txBody>
                  <a:tcPr marL="91440" marR="91440" marT="45720" marB="45720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212B"/>
                          </a:solidFill>
                        </a:rPr>
                        <a:t>2.228</a:t>
                      </a:r>
                    </a:p>
                  </a:txBody>
                  <a:tcPr marL="91440" marR="91440" marT="45720" marB="45720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212B"/>
                          </a:solidFill>
                        </a:rPr>
                        <a:t>4,821</a:t>
                      </a:r>
                    </a:p>
                  </a:txBody>
                  <a:tcPr marL="91440" marR="91440" marT="45720" marB="45720">
                    <a:solidFill>
                      <a:srgbClr val="E8F5EF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Fast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.8872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.8375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.8150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4.486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2.369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</a:rPr>
                        <a:t>6,437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F9128C-683F-4615-B793-5E3359D0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A93A32"/>
                </a:solidFill>
                <a:latin typeface="AppleGothic"/>
                <a:ea typeface="AppleGothic"/>
                <a:cs typeface="AppleGothic"/>
              </a:defRPr>
            </a:pPr>
            <a:r>
              <a:rPr sz="1275" b="1">
                <a:solidFill>
                  <a:srgbClr val="A93A32"/>
                </a:solidFill>
                <a:latin typeface="AppleGothic"/>
                <a:ea typeface="AppleGothic"/>
                <a:cs typeface="AppleGothic"/>
              </a:rPr>
              <a:t>↑ PDR/Deadline · ↓ P95/Energy/Input. Exact는 P95와 Input에서 전통 라우팅을 이기지 못한다.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EAD107-A369-43B9-821A-FF18A62ED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GLOBE ROUTING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3A7613-0F7F-4189-9A5C-F7D38859F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48504272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2EB69F-0409-478F-859F-4DE4D742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00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3F0D22-0473-4852-A3B4-8D3B05ED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결합 비교 그림은 Exact의 신뢰성–에너지 균형을 보여 준다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91F53F-FA18-4C44-8FC3-5D73D846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ed408a62194a98"/>
          <a:stretch xmlns:a="http://schemas.openxmlformats.org/drawingml/2006/main"/>
        </p:blipFill>
        <p:spPr>
          <a:xfrm xmlns:a="http://schemas.openxmlformats.org/drawingml/2006/main">
            <a:off x="571500" y="2203979"/>
            <a:ext cx="11049000" cy="3069167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E7C7C7-EFEC-4A32-96ED-CD3BC9E1B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GLOBE ROUTING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656D6E-3862-4232-8C41-8FF47206D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55210824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5BEAC4-371F-4E5F-9E8C-3B274F44A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00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2F99CA-E545-40C6-939A-37C7E3850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가장 강한 외부 기준선 Evo-QGeo보다 6개 지표가 모두 개선됐다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DC58E9-A5E8-438B-99D6-1FF28623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5C4ED9-5057-48B9-9671-35F00D36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3429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9DD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0519DE-B661-4F99-B71E-87B67F26E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Conn PDR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339001-ECBF-442B-9202-4D13FE8B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300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2400" b="1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+1.84%p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BFE3E9-3D60-45EA-8FD6-C19D4CCE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9875"/>
            <a:ext cx="3009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[+1.52, +2.16]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8DAF06-6FE9-4D7F-BC6E-028529378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19250"/>
            <a:ext cx="3429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9DDC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BA91DF-9316-4BB4-B9E2-3B241809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80975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Overall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FE4F8D-7BA5-473C-B83F-6181C3A2A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90750"/>
            <a:ext cx="300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2400" b="1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+1.19%p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E4EA11-E4E2-440C-8D1F-7A812F19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09875"/>
            <a:ext cx="3009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[+0.90, +1.48]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E7CE39-5ACA-468A-A6C5-10A93EC68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0"/>
            <a:ext cx="3429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9DDC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47BCFA-FDFB-4585-AD7D-CE5BF0272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0975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Deadline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8C15EB-7B69-4599-B737-2AFD0CBDF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90750"/>
            <a:ext cx="300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2400" b="1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+2.23%p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C5D6CA-32FA-449E-B28F-AA52A1896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09875"/>
            <a:ext cx="3009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[+1.89, +2.57]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1A0320-A4AE-4E4E-9703-EFA2EB5E4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0"/>
            <a:ext cx="3429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8D6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A40D2A-83A6-4CFA-84BA-8BA6DCA09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P95 delay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037ABE-7362-4B9B-A923-3463E5B8D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300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2400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−0.293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CDA80C-F058-4F22-9605-02DE200A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0125"/>
            <a:ext cx="3009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lower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23CB34-86AE-4914-8A69-433DAEC0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19500"/>
            <a:ext cx="3429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8D6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C1F3F4-47EC-4163-9959-74167260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81000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Energy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DD426D-20FF-4C43-9E0D-C84195E31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191000"/>
            <a:ext cx="300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2400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−0.0203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567EB8-F7FE-4893-B69A-FA3EBF36B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810125"/>
            <a:ext cx="3009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lower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F0D401-337A-4152-8C9C-6D8C5A9B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19500"/>
            <a:ext cx="3429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8D6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AE21E0-6651-40A1-967D-80F66AD5E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1000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Input bytes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D7A98E-1DFC-4753-8372-92B18C687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91000"/>
            <a:ext cx="300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2400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−1,630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5FB218-333A-4937-942C-89E10631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810125"/>
            <a:ext cx="3009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lower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0AA89A-79C3-465C-B3A3-717D46E0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GLOBE ROUTING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5537DF-281A-4444-8D5A-118C9BAE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204241882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EB39B0-C041-4CD5-BBB1-ADE446B82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00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933597-F74B-4785-97B9-D61AC5A0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Exact는 대부분 강하지만 한 난조건에서 명확히 약했다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DF8FE1-48BA-4F0E-B24C-0F451C604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a48b4320464af1"/>
          <a:stretch xmlns:a="http://schemas.openxmlformats.org/drawingml/2006/main"/>
        </p:blipFill>
        <p:spPr>
          <a:xfrm xmlns:a="http://schemas.openxmlformats.org/drawingml/2006/main">
            <a:off x="571500" y="2428875"/>
            <a:ext cx="7143750" cy="2381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586A19-90C9-4061-A62D-1F953613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71625"/>
            <a:ext cx="3524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9DDC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B53841-0997-439A-A8CC-7811FE82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41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강한 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640792-C4DD-4A9F-812A-43269C97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2193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27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heldout .985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27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structural_hole_45 1.000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27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predictive_break_45 1.000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27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nodes_24 .938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FCF4D9-72B7-4B23-8BFA-6C2839B3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62375"/>
            <a:ext cx="3524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F0C5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D9188A-3E1B-449E-96E8-10B5DB0F7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41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93A32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A93A32"/>
                </a:solidFill>
                <a:latin typeface="AppleGothic"/>
                <a:ea typeface="AppleGothic"/>
                <a:cs typeface="AppleGothic"/>
              </a:rPr>
              <a:t>실패 사례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3C289F-14A7-4FFC-970D-A5DEDC6F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476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predictive_break_225 + loss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2ABA7E-04A9-4300-9C9B-D3A62F897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9530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Exact .5116  &lt;  Evo .5581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약 −4.65%p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6D391E-CA7B-4E5D-82F0-EE8BD569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GLOBE ROUTING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23B936-897B-4CEB-98A6-7A15857D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11709931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EC190F-F70A-4A7B-9033-CAC555A4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00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17DE4D-14AF-4DEC-AF32-3004C90B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검증은 강하지만 provenance의 역사적 공백도 남아 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D27B4B-F0FE-45A4-ADFF-0EA7521A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465B28-A841-4263-A668-3A9965869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66875"/>
            <a:ext cx="0" cy="10668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AF805E-E47E-47A0-B124-F98837525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47825"/>
            <a:ext cx="2200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EXTERNAL EPISODE ROWS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64E0B3-572B-45C7-8ED8-00AFD87E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22002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98,000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C54372-966B-49EB-82AC-84CA50A70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2200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verified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738712-27AB-4D82-8518-DC2C353D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666875"/>
            <a:ext cx="0" cy="10668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D48D52-2C29-4762-958A-AEE2AB09C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647825"/>
            <a:ext cx="2200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DUPLICATE ROWS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F157D9-1A6B-4A6A-9925-A1378469B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943100"/>
            <a:ext cx="22002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43B5FD-CF7E-44A9-9902-CF835797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24125"/>
            <a:ext cx="2200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verified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3F98A0-D95C-459F-AEF0-9DAC024A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86125"/>
            <a:ext cx="0" cy="10668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D44A2C-4E18-42FA-94DD-3E6E059C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67075"/>
            <a:ext cx="2200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CPU SPOT-CHECK EPISODES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5799B1-69BC-4D08-9A4B-0309EFE4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62350"/>
            <a:ext cx="22002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210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79530D-022E-4840-BE47-FB69CD8B5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43375"/>
            <a:ext cx="2200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verified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9CE172-880C-4DD9-8FED-576CEB494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86125"/>
            <a:ext cx="0" cy="10668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ABD0CE-74D3-4B26-BF9B-823CED101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267075"/>
            <a:ext cx="2200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SPOT-CHECK MISMATCHES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AD762-F030-40DA-960E-7B6695EB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562350"/>
            <a:ext cx="22002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1B458C-C6B5-4434-BFB9-BB7A6FD5F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143375"/>
            <a:ext cx="2200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verified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F48C75-13F8-458D-AAD3-EFBADEE0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571625"/>
            <a:ext cx="5381625" cy="2990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F2D49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EFCA40-7924-4FC2-82B9-C25A3CC19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8288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A66000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A66000"/>
                </a:solidFill>
                <a:latin typeface="AppleGothic"/>
                <a:ea typeface="AppleGothic"/>
                <a:cs typeface="AppleGothic"/>
              </a:rPr>
              <a:t>남은 공백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CB990F-2896-4FAE-9F8A-2237818A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381250"/>
            <a:ext cx="4667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오래된 source ZIP manifest에는 원래 commit/config hash가 없음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현재 hash + CPU 재실행으로 보강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‘최초 실행의 완전한 계보’와 ‘현재 검증된 재현성’을 구분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1514CD-56CD-4A1C-9896-C3B2E84A2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810125"/>
            <a:ext cx="5381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9E2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F67F00-D5DC-4941-85C3-630DD445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019675"/>
            <a:ext cx="4810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새 full run에는 Git hash · dirty flag · config digest · dependency lock을 자동 기록해야 한다.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160259-430F-45CC-A72A-16C63EE7F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GLOBE ROUTING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637C98-747F-479A-97ED-7E4DEA016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00043545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3F9540-28B1-4359-A369-ECD1FE8AA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00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ACE394-2D9A-4855-B831-F7144F432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Latency는 다른 Colab 세션이 아니라 동일 장치·동일 세션에서 측정했다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C949F9-987D-4DD4-A40F-C4B67130F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88D063-90B4-4F73-9861-A87F64CE9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2476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EAA042-49CF-4515-8F67-A8584DE66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BATCH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4ECA62-3EE0-4ACF-ABF9-48D8385F1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A60513-EC89-46EF-A733-7AA4304FD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19250"/>
            <a:ext cx="2476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9E2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FC9C9A-38C9-4094-87C9-81C8D8ADA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90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CPU THREAD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57F01E-8116-4494-81D7-50975739A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907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D23B16-0204-417C-A38A-9A16D456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2476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4359F0-671D-4718-B27F-FD8B67DA4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90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WARMUP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A3F807-38BE-4DBC-A505-F74944F50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50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E4AD15-EE68-4848-A9B5-280D0087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19250"/>
            <a:ext cx="2476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9E2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E3109B-48A6-4352-A396-DDD4DCA7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90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REPEATS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0B4782-CB16-4286-8600-DE893713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907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2,000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D9A9D2-CE67-4646-A019-7DA531EC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0"/>
            <a:ext cx="2476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9E2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E706C3-5D80-40CD-8547-27571B45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052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RAW ROWS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8861F1-B669-4AB4-AFF2-DE1565BE4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280,000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B960F9-8DE3-48EA-9988-E05356C24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33750"/>
            <a:ext cx="2476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9E2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45B209-4648-4A6A-9468-A6E1E67A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052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COLD ROWS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F73F73-D762-4D03-A2D3-B1D42150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052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200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66B1B3-3AE2-4D27-B555-1764EAE7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33750"/>
            <a:ext cx="2476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9E2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C118DC-D2A0-4E99-8977-9EC25D931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052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ORDER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7E25C7-C3E7-4EC1-8FA0-458A22777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52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randomized block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ED6D1C-1D32-4A53-B7AE-3879C7D4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33750"/>
            <a:ext cx="2476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9E2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B232DE-902B-4AA7-9667-A42AA3739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5052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DEVICES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36E6FF-7477-438C-A80F-CAB27520F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9052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CPU + GPU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102BBD-73BB-49FD-B912-BC23CF99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E9A39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B15BE0-52CE-4EBF-9B21-29E79FE9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673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A93A32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A93A32"/>
                </a:solidFill>
                <a:latin typeface="AppleGothic"/>
                <a:ea typeface="AppleGothic"/>
                <a:cs typeface="AppleGothic"/>
              </a:rPr>
              <a:t>Phase B/C episode wall-clock latency는 장치가 달라 결합 성능표에서 제외했다.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6640C9-5394-4D8F-AF2F-7F716E682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GLOBE ROUTING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C7D03B-D9F9-41C4-9E28-2DF621BDC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74908957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F19C32-808E-43EC-820B-0B67B9F0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00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F67372-72F6-47CA-8D2C-BD7791EC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Fast는 동일 세션 CPU P95를 63.22% 낮췄다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1DF121-E80C-40BF-A1BE-52BED2F42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4740cfcf964377"/>
          <a:stretch xmlns:a="http://schemas.openxmlformats.org/drawingml/2006/main"/>
        </p:blipFill>
        <p:spPr>
          <a:xfrm xmlns:a="http://schemas.openxmlformats.org/drawingml/2006/main">
            <a:off x="571500" y="1809750"/>
            <a:ext cx="7239000" cy="3619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FBF1B8-B66F-469B-BE23-9D47D3D9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62125"/>
            <a:ext cx="0" cy="10668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2E74B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FE7283-FAB5-48A8-8EA2-6F39FD99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743075"/>
            <a:ext cx="320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EXACT CPU P95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1B1FBE-C9F1-44B4-8F85-393451306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38350"/>
            <a:ext cx="320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2.376 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436779-BD5A-4644-9EBE-26397D8C7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19375"/>
            <a:ext cx="320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same-session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D55F5F-27C3-428C-9453-1E5E8A355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81375"/>
            <a:ext cx="0" cy="10668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D9317E-58D6-4FF6-A95A-D7DD9C3A3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62325"/>
            <a:ext cx="320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FAST CPU P95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0A3F71-C861-4573-9923-8DDC0CF35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57600"/>
            <a:ext cx="320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0.874 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EE4022-9009-4662-B74B-662AF4946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38625"/>
            <a:ext cx="320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−63.22% vs Exact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F4CF23-09DC-4574-839B-10F12B18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05375"/>
            <a:ext cx="342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9E2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03E6C4-916D-4CFE-865E-BBB4DDCF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057775"/>
            <a:ext cx="300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Parameter −81.44%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Checkpoint −78.63%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DB24D3-C038-4E7B-805E-913360243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GLOBE ROUTING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110D5E-5D60-4CAF-B499-F9A2410CB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52677749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7C56CA-90E3-4A04-BBDD-3D32FE40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00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C5934A-BD32-47C8-9707-3A414652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그러나 Fast는 Exact의 신뢰성 허용기준을 통과하지 못했다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232609-6A11-45A0-AB38-CA6994367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2E5C61-46C2-41E4-8CD8-C4EF7B82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52387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F0C5C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53D732-7B72-4F38-945A-846077421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36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A93A32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A93A32"/>
                </a:solidFill>
                <a:latin typeface="AppleGothic"/>
                <a:ea typeface="AppleGothic"/>
                <a:cs typeface="AppleGothic"/>
              </a:rPr>
              <a:t>Acceptance 실패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F63F42-2051-46DC-B2DC-84742C8D3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19375"/>
            <a:ext cx="0" cy="10668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A93A3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5DCDF3-F489-4DEB-B179-E9C6B4A38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00325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CONN 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7F2CA7-4BAD-46CF-80D7-629D7DB43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95600"/>
            <a:ext cx="1866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A93A32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A93A32"/>
                </a:solidFill>
                <a:latin typeface="AppleGothic"/>
                <a:ea typeface="AppleGothic"/>
                <a:cs typeface="AppleGothic"/>
              </a:rPr>
              <a:t>−1.81%p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1A2976-CCEB-47A3-9987-FF56C6521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76625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threshold −0.5%p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1AC959-A0F1-4C14-868A-700F73DE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19375"/>
            <a:ext cx="0" cy="10668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A93A3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884D24-0800-4C73-AE80-9DD3E7E30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600325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DEADLINE 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98345F-4BD7-4E01-9F06-92E20C2D9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895600"/>
            <a:ext cx="1866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A93A32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A93A32"/>
                </a:solidFill>
                <a:latin typeface="AppleGothic"/>
                <a:ea typeface="AppleGothic"/>
                <a:cs typeface="AppleGothic"/>
              </a:rPr>
              <a:t>−2.26%p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CC31F7-3E84-4017-AAED-141B21FD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476625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threshold −0.5%p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4F704B-7548-4B24-9491-F9500069D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291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Conn 95% CI ≈ [−3.61, −0.01]%p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FE0545-5B43-420E-A8F0-639105C5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52387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9DDC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71DD43-E05E-4C2C-A0E5-899F4ABE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8859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36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그래도 유효한 가치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539E8F-4973-43F4-96A7-4D46BA77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67000"/>
            <a:ext cx="4381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500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CPU/GPU latency 크게 감소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500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parameter 81.44% 감소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500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checkpoint 78.63% 감소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500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Evo-QGeo와 6개 지표 통계적 동률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342B69-F995-4EDD-9B00-0127413B5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72125"/>
            <a:ext cx="742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5D"/>
          </a:solidFill>
          <a:ln xmlns:a="http://schemas.openxmlformats.org/drawingml/2006/main" w="13335">
            <a:solidFill>
              <a:srgbClr val="D9E2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1AD0B2-B0E8-4B04-9586-00255AAA2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65785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정확한 이름: latency–performance trade-off 변형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C4EA03-C8E2-4982-BE90-6BD48C29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GLOBE ROUTING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4356EB-6E84-496B-AB4C-A568832F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35357152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123B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B1E985-A9FD-4041-88F4-691277F68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52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800" b="1">
                <a:solidFill>
                  <a:srgbClr val="73B7E6"/>
                </a:solidFill>
                <a:latin typeface="AppleGothic"/>
                <a:ea typeface="AppleGothic"/>
                <a:cs typeface="AppleGothic"/>
              </a:defRPr>
            </a:pPr>
            <a:r>
              <a:rPr sz="4800" b="1">
                <a:solidFill>
                  <a:srgbClr val="73B7E6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F96875-39F1-49EB-A43C-05B78506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IV. 탈락한 후보와 음성 결과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9A6065-57AC-4CE9-9572-F84D77E8D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0"/>
            <a:ext cx="952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C9DCEB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C9DCEB"/>
                </a:solidFill>
                <a:latin typeface="AppleGothic"/>
                <a:ea typeface="AppleGothic"/>
                <a:cs typeface="AppleGothic"/>
              </a:rPr>
              <a:t>P+ · Fast · EVO를 왜 최종기법에서 분리했는가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1F9521-3690-4113-9E6B-7B9DD7F26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8EB6D1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8EB6D1"/>
                </a:solidFill>
                <a:latin typeface="AppleGothic"/>
                <a:ea typeface="AppleGothic"/>
                <a:cs typeface="AppleGothic"/>
              </a:rPr>
              <a:t>SWITCHGLOBE · 2026-09-03</a:t>
            </a:r>
          </a:p>
        </p:txBody>
      </p:sp>
    </p:spTree>
    <p:extLst>
      <p:ext uri="{BB962C8B-B14F-4D97-AF65-F5344CB8AC3E}">
        <p14:creationId xmlns:p14="http://schemas.microsoft.com/office/powerpoint/2010/main" val="54247381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3FCF25-36D7-4625-B181-37F08C4F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00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A72CA0-55E1-4621-B159-1559DDB8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참신성 ablation은 방향을 보였지만 아직 smoke다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DB067B-FC52-482C-9E01-EBB87923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0f090f56eb4673"/>
          <a:stretch xmlns:a="http://schemas.openxmlformats.org/drawingml/2006/main"/>
        </p:blipFill>
        <p:spPr>
          <a:xfrm xmlns:a="http://schemas.openxmlformats.org/drawingml/2006/main">
            <a:off x="928688" y="1571625"/>
            <a:ext cx="6143625" cy="4095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523201-6163-46EE-9404-01A13D2A9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71625"/>
            <a:ext cx="3810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F2D49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56F04F-573D-408B-A55D-0EE54CCD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09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41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66000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A66000"/>
                </a:solidFill>
                <a:latin typeface="AppleGothic"/>
                <a:ea typeface="AppleGothic"/>
                <a:cs typeface="AppleGothic"/>
              </a:rPr>
              <a:t>표본 한계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2236BC-60A4-4457-B6E4-65CDCC6D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38375"/>
            <a:ext cx="323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seed 42 하나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3 episodes / scenario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총 168 rows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4E089A-A0D1-4B68-B09C-9E4855842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71875"/>
            <a:ext cx="3810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9E2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FAFA4F-0008-48CB-A34F-CF173745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7909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41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Pilot 방향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97E108-8DA3-4CAF-9000-9316D81F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219575"/>
            <a:ext cx="3238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27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w/o switch: Conn −7.90%p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27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w/o distill: Conn −2.63%p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27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w/o geo: reliability 동일, energy 악화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B8FEB5-4BF2-4C99-A25A-FAAB4ADD6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GLOBE ROUTING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8E8101-5E7B-46AF-8495-DBD8201D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13734730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CC1123-C927-4F7E-9B83-02A82711E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00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5E51BC-6EFF-4BF5-A84A-1DD7DE7F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Phase 13 P+는 복잡성 증가를 정당화하지 못했다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FEDAD1-CE26-4778-9E12-06EE147F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6350a4e20c4650"/>
          <a:stretch xmlns:a="http://schemas.openxmlformats.org/drawingml/2006/main"/>
        </p:blipFill>
        <p:spPr>
          <a:xfrm xmlns:a="http://schemas.openxmlformats.org/drawingml/2006/main">
            <a:off x="571500" y="2088696"/>
            <a:ext cx="7143750" cy="3061607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5D67EE-0A92-43C2-BF5E-323D4C2A6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71625"/>
            <a:ext cx="35242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F0C5C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04F66D-4A99-4BC3-97BF-DF9306CD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288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A93A32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A93A32"/>
                </a:solidFill>
                <a:latin typeface="AppleGothic"/>
                <a:ea typeface="AppleGothic"/>
                <a:cs typeface="AppleGothic"/>
              </a:rPr>
              <a:t>왜 제외했나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0510B7-F343-4302-833C-A2225237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28875"/>
            <a:ext cx="2857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seed 42 하나만 병합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Phase 12와 사실상 1 episode 차이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P95 동일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추가 input feature 비용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여러 gate가 동일 행동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9030CA-DDEB-40D5-9882-9808AA23D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810125"/>
            <a:ext cx="2990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E2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0FA71F-AB6B-4A20-AEBC-EF1C5971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95300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553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결론: Exact로 단순화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D37134-4108-497C-B9EF-68C54C119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GLOBE ROUTING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ABFFB5-D664-4D7A-A533-1BAD9117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19473876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C2B93D-AA62-45CD-BA71-F2088F98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00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2F2DA7-EA57-4DD4-997A-03617508B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EVO+GLOBE의 세 후보는 Exact를 개선하지 못했다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5B4ABB-9FCC-4974-9E15-96BAD092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71500" y="1666875"/>
          <a:ext xmlns:a="http://schemas.openxmlformats.org/drawingml/2006/main" cx="11049000" cy="2667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857500"/>
                <a:gridCol w="2381250"/>
                <a:gridCol w="3905250"/>
                <a:gridCol w="1905000"/>
              </a:tblGrid>
              <a:tr h="6667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후보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신뢰성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에너지 / 지연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판단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Risk-conditioned fusion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Exact와 동일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energy +0.00174 · CPU P95 +48.1%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중단</a:t>
                      </a:r>
                    </a:p>
                  </a:txBody>
                  <a:tcPr marL="91440" marR="91440" marT="45720" marB="45720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Cost-to-go distill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Exact와 동일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energy +0.000126 · latency noise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중단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Compositional curriculum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Exact와 동일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energy +0.001056 · latency 동일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중단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109261-95A8-4C00-8356-35C42E5F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9DDC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922BE0-E9F3-4BE2-883B-16450ABB8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577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음성 결과의 가치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CE2DAD-7256-40A5-97C8-94D5E712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000625"/>
            <a:ext cx="8239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추가 참신성보다 Exact의 단순성·안정성을 지지했고, ‘개선되지 않은 후보’를 기록으로 남겼다.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89C1A0-B8F8-430B-A8C0-5BC9D4C1F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GLOBE ROUTING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318104-14F7-41F6-B328-EBBE732B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62442989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1934D9-A309-40F6-938C-1C12394EC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00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213F0E-3205-4434-8A59-6EA2B70C8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원고는 ‘많은 확장’에서 ‘검증된 Exact’ 중심으로 정리됐다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5F6904-C3C9-48EB-91DD-0F6D0534F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71500" y="1571625"/>
          <a:ext xmlns:a="http://schemas.openxmlformats.org/drawingml/2006/main" cx="11049000" cy="38576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095500"/>
                <a:gridCol w="4762500"/>
                <a:gridCol w="4191000"/>
              </a:tblGrid>
              <a:tr h="55108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시점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당시 메시지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최종 교정</a:t>
                      </a:r>
                    </a:p>
                  </a:txBody>
                  <a:tcPr marL="91440" marR="91440" marT="45720" marB="45720">
                    <a:solidFill>
                      <a:srgbClr val="123B5D"/>
                    </a:solidFill>
                  </a:tcPr>
                </a:tc>
              </a:tr>
              <a:tr h="55108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초기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Global teacher에서 local student로 증류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핵심 유지</a:t>
                      </a:r>
                    </a:p>
                  </a:txBody>
                  <a:tcPr marL="91440" marR="91440" marT="45720" marB="45720"/>
                </a:tc>
              </a:tr>
              <a:tr h="55108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Phase 12 초안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Risk-switch + P+를 함께 설명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Exact/P+ 분리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55108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옛 결과표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PDR 86.4% · overhead 128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audited 값과 정의로 교체</a:t>
                      </a:r>
                    </a:p>
                  </a:txBody>
                  <a:tcPr marL="91440" marR="91440" marT="45720" marB="45720"/>
                </a:tc>
              </a:tr>
              <a:tr h="55108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Fast 초안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추론 효율 중심 후보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trade-off 변형으로 격하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55108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EVO branch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추가 참신성 후보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개선 없음 · 음성 결과</a:t>
                      </a:r>
                    </a:p>
                  </a:txBody>
                  <a:tcPr marL="91440" marR="91440" marT="45720" marB="45720"/>
                </a:tc>
              </a:tr>
              <a:tr h="55108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최종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SwitchGLOBE Exact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약점까지 포함한 방어 가능한 주장</a:t>
                      </a: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470D25-D2BC-486B-A05E-AAC49C160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6737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E9A39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7383BC-44A7-4846-8A4A-16E2E383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2452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A93A32"/>
                </a:solidFill>
                <a:latin typeface="AppleGothic"/>
                <a:ea typeface="AppleGothic"/>
                <a:cs typeface="AppleGothic"/>
              </a:defRPr>
            </a:pPr>
            <a:r>
              <a:rPr sz="1275" b="1">
                <a:solidFill>
                  <a:srgbClr val="A93A32"/>
                </a:solidFill>
                <a:latin typeface="AppleGothic"/>
                <a:ea typeface="AppleGothic"/>
                <a:cs typeface="AppleGothic"/>
              </a:rPr>
              <a:t>policy input bytes ≠ control overhead · cross-session latency 비교 금지 · ‘모든 지표 우위’ 금지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001FE5-99CB-42BF-A65B-3F14BAFF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GLOBE ROUTING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36A561-F60E-48B1-A6DA-F116457D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313014497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533113-2E3A-4611-B168-B4EB4DB43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00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DCD60E-ED85-495D-90A2-22E60F2D7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현재 코드 품질 상태: 122개 중 119개 통과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8DF0B2-CB14-4485-9077-A3C79EFD5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6FBB4B-82E2-4567-BFAE-A8AE40A1C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0" cy="10668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7B5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DFD455-AD09-43CD-BF03-A9DF2DC8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PYTEST PASSED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13F4BC-95B5-4C36-8FD7-207DE594A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90725"/>
            <a:ext cx="2724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119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570D94-BC13-413B-88B6-9E39D891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current refactor/GLOBE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A77B3F-5103-41F0-A0AA-04D92C12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14500"/>
            <a:ext cx="0" cy="10668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A93A3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A22246-E489-48CD-A609-C3E112F28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695450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PYTEST FAILED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583688-CA59-4CC8-BC1B-72DB8D46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990725"/>
            <a:ext cx="2724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A93A32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A93A32"/>
                </a:solidFill>
                <a:latin typeface="AppleGothic"/>
                <a:ea typeface="AppleGothic"/>
                <a:cs typeface="AppleGothic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F3B23D-3505-4A3C-A969-2DCDBF2D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5717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calibration fixture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749A67-6014-48C7-9E44-1E22D83F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14500"/>
            <a:ext cx="0" cy="10668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A66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E6B32A-4E86-4B4D-9EF0-6EE72979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695450"/>
            <a:ext cx="453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FAILURE CAUSE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FDEA74-D1FE-446D-BA3D-EDB2387BC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90725"/>
            <a:ext cx="4533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A66000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A66000"/>
                </a:solidFill>
                <a:latin typeface="AppleGothic"/>
                <a:ea typeface="AppleGothic"/>
                <a:cs typeface="AppleGothic"/>
              </a:rPr>
              <a:t>16 ↔ 32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4A5E37-3FBC-4494-9A64-684FC456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571750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max_nodes model vs padded observation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4A5BF2-4C06-4763-B4B4-6A3169E34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0"/>
            <a:ext cx="11049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9E2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BED128-CBE9-4DD0-9984-5984B916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6712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11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해석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09D615-6BA8-491F-969E-2CC37408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tests/lite_globe/test_gated_switchglobe_calibration.py의 fixture 정렬 문제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현재 회귀 테스트 완결성에는 결함이 있으므로 릴리스 전 수정 필요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이미 생성된 final artifact의 duplicate/spot-check/row 무결성 검증과는 별개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96E07E-FE95-408A-892F-875963236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GLOBE ROUTING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3D37C3-DDE1-47AA-9865-D0D5A9AC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199818176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51103C-3A83-40A6-8B1E-93F535A9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00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92D029-2D23-4EEA-933A-532A6855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논문에서 안전하게 말할 수 있는 주장과 금지할 주장을 분리한다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7B70C1-4F70-4265-8917-200F251E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69A959-275B-4136-912D-990C1D917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5238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9DD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808F54-72B4-4656-8A29-6336810F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57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77B57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77B57"/>
                </a:solidFill>
                <a:latin typeface="AppleGothic"/>
                <a:ea typeface="AppleGothic"/>
                <a:cs typeface="AppleGothic"/>
              </a:rPr>
              <a:t>말할 수 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4FD187-9CF3-4B84-9CB1-37574912D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4381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500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5-seed macro에서 3개 신뢰성 지표와 energy 1위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500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Evo-QGeo 대비 paired 개선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500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분산 실행 시 전역 교사 불필요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500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Fast는 동일 세션 latency를 크게 감소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38BE74-9527-4785-A7A7-39691F5A3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71625"/>
            <a:ext cx="5238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F0C5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0BFB7E-9D56-408B-878C-AB9C3BB3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57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A93A32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A93A32"/>
                </a:solidFill>
                <a:latin typeface="AppleGothic"/>
                <a:ea typeface="AppleGothic"/>
                <a:cs typeface="AppleGothic"/>
              </a:rPr>
              <a:t>말하면 안 된다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E03B97-1C48-4716-8948-F1DA511B4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76500"/>
            <a:ext cx="4381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500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모든 기준선을 모든 지표에서 이김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500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policy input bytes가 routing control overhead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500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Fast가 Exact와 동등 성능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spcAft>
                <a:spcPts val="8"/>
              </a:spcAft>
              <a:buNone/>
              <a:defRPr sz="1500" b="0">
                <a:solidFill>
                  <a:srgbClr val="17212B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7212B"/>
                </a:solidFill>
                <a:latin typeface="AppleGothic"/>
                <a:ea typeface="AppleGothic"/>
                <a:cs typeface="AppleGothic"/>
              </a:rPr>
              <a:t>P+·novelty smoke가 5-seed 확증 결과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BC55CA-019B-4A59-8B34-CE2A634DC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GLOBE ROUTING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67BF75-E1F9-408F-AD86-34E9C1F7C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114965484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123B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044BC2-E227-4CB2-B3FE-501713C0E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52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800" b="1">
                <a:solidFill>
                  <a:srgbClr val="73B7E6"/>
                </a:solidFill>
                <a:latin typeface="AppleGothic"/>
                <a:ea typeface="AppleGothic"/>
                <a:cs typeface="AppleGothic"/>
              </a:defRPr>
            </a:pPr>
            <a:r>
              <a:rPr sz="4800" b="1">
                <a:solidFill>
                  <a:srgbClr val="73B7E6"/>
                </a:solidFill>
                <a:latin typeface="AppleGothic"/>
                <a:ea typeface="AppleGothic"/>
                <a:cs typeface="AppleGothic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2FD15C-B52F-4D6C-952F-A153AF1FA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36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V. 결론과 다음 단계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060F0B-C5C6-438B-84F4-E3AEE064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0"/>
            <a:ext cx="952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C9DCEB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C9DCEB"/>
                </a:solidFill>
                <a:latin typeface="AppleGothic"/>
                <a:ea typeface="AppleGothic"/>
                <a:cs typeface="AppleGothic"/>
              </a:rPr>
              <a:t>검증된 기여를 고정하고 남은 약점을 후속 연구로 전환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EAED93-E6D1-4298-9461-A05A0B7F9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8EB6D1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8EB6D1"/>
                </a:solidFill>
                <a:latin typeface="AppleGothic"/>
                <a:ea typeface="AppleGothic"/>
                <a:cs typeface="AppleGothic"/>
              </a:rPr>
              <a:t>SWITCHGLOBE · 2026-09-03</a:t>
            </a:r>
          </a:p>
        </p:txBody>
      </p:sp>
    </p:spTree>
    <p:extLst>
      <p:ext uri="{BB962C8B-B14F-4D97-AF65-F5344CB8AC3E}">
        <p14:creationId xmlns:p14="http://schemas.microsoft.com/office/powerpoint/2010/main" val="213644994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22EC61-EC96-4CB4-870D-253252A8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00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DB0894-82DE-419B-BF05-653BBBCE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최종 기여는 모델 하나보다 ‘지식 전이 + 위험 선택 + 검증 규율’이다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6248BD-7C61-4B61-815A-079BA5DF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56C83B-EF6B-4941-AF0F-B8754CDEA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383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13335">
            <a:solidFill>
              <a:srgbClr val="D9E2EA"/>
            </a:solidFill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13B30F-5845-4B07-A836-EBEE3157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43050"/>
            <a:ext cx="2428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분산 실행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E2ADFF-B46A-44F0-9F20-E6E3F2FC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562100"/>
            <a:ext cx="742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전역 GNN-PPO 교사를 배치에서 제거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B50888-4B02-47E3-B88E-1ED7883A7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146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13335">
            <a:solidFill>
              <a:srgbClr val="D9E2EA"/>
            </a:solidFill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7EC2DA-076B-4DF9-8D35-DF17BD86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19350"/>
            <a:ext cx="2428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역할 분리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5CFE85-D1E5-48E2-BA51-210C3824D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38400"/>
            <a:ext cx="742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Geo-Residual 정상 / Predictive 위험 분기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AA9393-3657-4CB4-959C-89BC8BC5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90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13335">
            <a:solidFill>
              <a:srgbClr val="D9E2EA"/>
            </a:solidFill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EEC9CD-1AED-4631-BEE3-18532623E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95650"/>
            <a:ext cx="2428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위험 선택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AA9E19-43C1-427B-B6D7-CB590616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314700"/>
            <a:ext cx="742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margin · lifetime · onward · safety gain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3542CB-B7E3-45D1-A172-EEF352264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672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13335">
            <a:solidFill>
              <a:srgbClr val="D9E2EA"/>
            </a:solidFill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8E1714-C526-48EB-A3A0-F7C37964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71950"/>
            <a:ext cx="2428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검증 규율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70C458-F83D-4EA6-9D16-04402E35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91000"/>
            <a:ext cx="742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5 seeds · 14 scenarios · paired CI · same-session latency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E6FF23-C019-4186-B867-B7A000755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435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4B8B"/>
          </a:solidFill>
          <a:ln xmlns:a="http://schemas.openxmlformats.org/drawingml/2006/main" w="13335">
            <a:solidFill>
              <a:srgbClr val="D9E2EA"/>
            </a:solidFill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3989CB-74E1-4DC1-9183-4F4A41F2A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48250"/>
            <a:ext cx="2428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음성 결과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553AF5-FE9F-4F76-BC5B-7398F0F06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067300"/>
            <a:ext cx="742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P+ · Fast · EVO의 미채택 근거 보존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76E0F2-A9D4-425F-A805-C7FE4188C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GLOBE ROUTING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C2373A-7384-416C-9175-C90F8BC4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104703745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5CCFB3-E093-49FF-BF0D-EFBC21389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0050"/>
            <a:ext cx="0" cy="6477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B2AE17-D694-4463-A082-55ED3A12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다음 연구는 가장 약한 시나리오와 재현성 공백부터 시작한다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82C4FC-BA65-47DF-838A-03009BF80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BF1A6F-56FB-4B94-931B-B5752745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3DA41D-1ADE-4734-843E-1A8C42DE2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447800"/>
            <a:ext cx="10239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F0C5C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ED9B77-1F31-496E-812B-89A0C6674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55257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A93A32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A93A32"/>
                </a:solidFill>
                <a:latin typeface="AppleGothic"/>
                <a:ea typeface="AppleGothic"/>
                <a:cs typeface="AppleGothic"/>
              </a:rPr>
              <a:t>225° predictive break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6FFEBE-EB37-4299-82CB-6AB97159E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562100"/>
            <a:ext cx="652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방향-conditioned gate와 uncertainty calibration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C814EA-F277-4D14-A02B-65AFD30B8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2887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3BA5F9-3AED-4D31-9420-390C335AC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352675"/>
            <a:ext cx="10239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9E2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5EB78D-2D20-44CC-AB2F-AB87E95E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574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Fast Pareto frontier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C24FC8-B02A-43FD-AF81-18B4C3F4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66975"/>
            <a:ext cx="652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Exact 허용기준 내 shared encoder 재학습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122379-B7D5-4BEC-B531-94FCB9525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2AA694-9AB5-4B3D-B25F-794C1AC1E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257550"/>
            <a:ext cx="10239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9E2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CC5166-677A-4BF8-85C4-BF3D0C75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6232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Overhead 재정의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51B4C6-D5F9-4BC7-BB52-8F9CA8ED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371850"/>
            <a:ext cx="652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policy input과 실제 control traffic 분리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06D560-EBD9-420A-A6A8-64B2A28E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3862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293643-6330-46D9-B5DB-3AD29D15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162425"/>
            <a:ext cx="10239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9E2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0DEFDE-9013-45A3-95CB-261C725F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672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Full novelty ablation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A8EFEB-E1FC-4D8B-8C44-7195D79B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276725"/>
            <a:ext cx="652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5 seeds · 14 scenarios로 승격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4003AA-2998-4F06-A3B3-F7F4E364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435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E74B5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2E74B5"/>
                </a:solidFill>
                <a:latin typeface="AppleGothic"/>
                <a:ea typeface="AppleGothic"/>
                <a:cs typeface="AppleGothic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BB1E59-3CEE-49B4-A526-54629554A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67300"/>
            <a:ext cx="10239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9E2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34D0F2-04CE-46B3-B5C7-DECE5D97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7207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23B5D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23B5D"/>
                </a:solidFill>
                <a:latin typeface="AppleGothic"/>
                <a:ea typeface="AppleGothic"/>
                <a:cs typeface="AppleGothic"/>
              </a:rPr>
              <a:t>Reproducibility release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AF34CD-2A3A-48B9-9583-8B812D4E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181600"/>
            <a:ext cx="652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B6773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B6773"/>
                </a:solidFill>
                <a:latin typeface="AppleGothic"/>
                <a:ea typeface="AppleGothic"/>
                <a:cs typeface="AppleGothic"/>
              </a:rPr>
              <a:t>3 failing tests 수정 + manifest 자동화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385A81-41AB-4DA6-9CAD-9E6E750AC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GLOBE ROUTING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27F6C0-0E3A-41F6-B349-99DDFA8B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8793A0"/>
                </a:solidFill>
                <a:latin typeface="AppleGothic"/>
                <a:ea typeface="AppleGothic"/>
                <a:cs typeface="AppleGothic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778232542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123B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FB90C-814B-4B39-8725-3972C82D7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86C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86CFFF"/>
                </a:solidFill>
                <a:latin typeface="AppleGothic"/>
                <a:ea typeface="AppleGothic"/>
                <a:cs typeface="AppleGothic"/>
              </a:rPr>
              <a:t>FINAL TAKEAWAY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FE6793-0B99-4515-A800-7FFC8EC6E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477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2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32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SwitchGLOBE Exact는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32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32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‘위험한 순간에만 예측 정책으로 전환’하는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32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32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검증된 분산 라우팅 기법이다.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FA844C-2DAF-4E47-B429-8B4245634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33875"/>
            <a:ext cx="8763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5279"/>
          </a:solidFill>
          <a:ln xmlns:a="http://schemas.openxmlformats.org/drawingml/2006/main" w="13335">
            <a:solidFill>
              <a:srgbClr val="D9E2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F7FE9B-0DF4-4CB4-8270-B6182810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572000"/>
            <a:ext cx="828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DDEAF3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DDEAF3"/>
                </a:solidFill>
                <a:latin typeface="AppleGothic"/>
                <a:ea typeface="AppleGothic"/>
                <a:cs typeface="AppleGothic"/>
              </a:rPr>
              <a:t>Exact는 최종기법, Fast는 지연·성능 절충, P+와 EVO는 미채택 후보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6EE45F-64E4-4B26-A854-4A325C3C3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9DBCD1"/>
                </a:solidFill>
                <a:latin typeface="AppleGothic"/>
                <a:ea typeface="AppleGothic"/>
                <a:cs typeface="AppleGothic"/>
              </a:defRPr>
            </a:pPr>
            <a:r>
              <a:rPr sz="1050" b="0">
                <a:solidFill>
                  <a:srgbClr val="9DBCD1"/>
                </a:solidFill>
                <a:latin typeface="AppleGothic"/>
                <a:ea typeface="AppleGothic"/>
                <a:cs typeface="AppleGothic"/>
              </a:rPr>
              <a:t>전체 상세 근거는 동봉 DOCX 보고서의 14개 장과 5개 부록 참조</a:t>
            </a:r>
          </a:p>
        </p:txBody>
      </p:sp>
    </p:spTree>
    <p:extLst>
      <p:ext uri="{BB962C8B-B14F-4D97-AF65-F5344CB8AC3E}">
        <p14:creationId xmlns:p14="http://schemas.microsoft.com/office/powerpoint/2010/main" val="1096560290"/>
      </p:ext>
    </p:extLst>
  </p:cSld>
</p:sld>
</file>

<file path=ppt/theme/theme1.xml><?xml version="1.0" encoding="utf-8"?>
<a:theme xmlns:a="http://schemas.openxmlformats.org/drawingml/2006/main" name="ChatGPT">
  <a:themeElements>
    <a:clrScheme name="SwitchGLOBE Academic">
      <a:dk1>
        <a:srgbClr val="000000"/>
      </a:dk1>
      <a:lt1>
        <a:srgbClr val="FFFFFF"/>
      </a:lt1>
      <a:dk2>
        <a:srgbClr val="123B5D"/>
      </a:dk2>
      <a:lt2>
        <a:srgbClr val="D9E2EA"/>
      </a:lt2>
      <a:accent1>
        <a:srgbClr val="2E74B5"/>
      </a:accent1>
      <a:accent2>
        <a:srgbClr val="2AA7B8"/>
      </a:accent2>
      <a:accent3>
        <a:srgbClr val="F0A202"/>
      </a:accent3>
      <a:accent4>
        <a:srgbClr val="A93A32"/>
      </a:accent4>
      <a:accent5>
        <a:srgbClr val="5F4B8B"/>
      </a:accent5>
      <a:accent6>
        <a:srgbClr val="177B57"/>
      </a:accent6>
      <a:hlink>
        <a:srgbClr val="2E74B5"/>
      </a:hlink>
      <a:folHlink>
        <a:srgbClr val="5F4B8B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witchGLOBE Academic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2026-09-04T05:24:03.2740000Z</dcterms:created>
  <dcterms:modified xsi:type="dcterms:W3CDTF">2026-09-04T05:24:03.2740000Z</dcterms:modified>
</coreProperties>
</file>